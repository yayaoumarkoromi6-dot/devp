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84726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46479942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087650201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653630786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87593609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83497276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97977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075340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965194887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366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557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470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329510-0D8A-4791-B125-C7FD74639E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411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38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06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D1C3E5-ACF6-E9C0-C1EA-B78FC1BC13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291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967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827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AD469E-870C-BF2A-2E0E-6A8B52FD49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524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2396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516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2CA833-F834-8FF2-5D7C-71DD73AA1A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317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907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9533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29A15B-99F0-67C4-F307-7F61EE53F6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31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4072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338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62DB30-E8A4-D1F0-2127-39F53588FE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166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0683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390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9CF76C-BD51-34B0-AA4A-30EF37C785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639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937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416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ED082-FF4C-366C-15DB-5B0694D9B1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769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452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599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3D9625-F069-4644-BD9F-5C0556F269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612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61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854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EDC01E-58A4-25FD-D50B-73126C5E48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69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6003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095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F466BF-F91E-6461-ECFE-1DB50D0179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530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7737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207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58E671-46FE-4FE5-955B-8596A7928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637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753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906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8599EB-746F-C627-A507-EF6B553594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03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0817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201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ACE545-5A91-08A3-7D0C-33E3B9C2EE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406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8414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5269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91F84D-3B88-E940-2B92-36FFB01798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275117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59340396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075554282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70472259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5210537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69632170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2166447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87035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67502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614140978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1001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076021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149428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234259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5134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050159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29129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274864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946959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7963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9197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76871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389030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905901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867796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926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5025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76441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493132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3320471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343227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5786575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3640440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9742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129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6110819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02831381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16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4143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3721778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037976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25620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8462072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800919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160903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094002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866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246871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011782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5424183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814502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906754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033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8692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01784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669300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070674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795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46360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113554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053071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927795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7129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451811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3002006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19149978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590296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26565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4709071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8978378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336048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www.google.com/url?sa=t&amp;source=web&amp;rct=j&amp;url=https%3A%2F%2Fdjokstore.ci%2Fproducts%2Ftp-link-point-dacces-wifi-n-tl-wa801nd%3Fsrsltid%3DAfmBOoqDkluUKi6nmZvIucWm4kBfWKmDWx8Upsz5bz6f67ZnFcdOujW5&amp;ved=0CBkQjhxqFwoTCKj1q9aS1ZMDFQAAAAAdAAAAABA6&amp;opi=89978449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hyperlink" Target="https://www.google.com/url?sa=t&amp;source=web&amp;rct=j&amp;url=https%3A%2F%2Fwww.jumia.ma%2Ftp-link-meilleur-point-dacces-wifi-bi-bande-ac-1350-mbps-access-point-dual-band-53961775.html%3Fsrsltid%3DAfmBOoqgJ4tV2LaqfkBm_Ws0Yuy1V3emUmVPFGu0TkvuxMFnxbgwAKZ5&amp;ved=0CBkQjhxqFwoTCPClyKSP1ZMDFQAAAAAdAAAAABAj&amp;opi=89978449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623620" name=""/>
          <p:cNvSpPr txBox="1"/>
          <p:nvPr/>
        </p:nvSpPr>
        <p:spPr bwMode="auto">
          <a:xfrm rot="0" flipH="0" flipV="0">
            <a:off x="27631" y="50131"/>
            <a:ext cx="1213328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82002632" name=""/>
          <p:cNvSpPr txBox="1"/>
          <p:nvPr/>
        </p:nvSpPr>
        <p:spPr bwMode="auto">
          <a:xfrm rot="0" flipH="0" flipV="0">
            <a:off x="27630" y="1268487"/>
            <a:ext cx="11982167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u="sng"/>
              <a:t>Thème :</a:t>
            </a:r>
            <a:r>
              <a:rPr sz="2000"/>
              <a:t> </a:t>
            </a:r>
            <a:r>
              <a:rPr sz="3600" b="1" i="1" u="none">
                <a:solidFill>
                  <a:srgbClr val="000000"/>
                </a:solidFill>
                <a:latin typeface="Ubuntu"/>
                <a:ea typeface="Ubuntu"/>
                <a:cs typeface="Ubuntu"/>
              </a:rPr>
              <a:t>Configuration de MikroTik avec PC et câbles</a:t>
            </a:r>
            <a:r>
              <a:rPr sz="3600" b="1" i="1">
                <a:latin typeface="Ubuntu"/>
                <a:ea typeface="Ubuntu"/>
                <a:cs typeface="Ubuntu"/>
              </a:rPr>
              <a:t>.</a:t>
            </a:r>
            <a:endParaRPr sz="2800" b="1" i="1"/>
          </a:p>
        </p:txBody>
      </p:sp>
      <p:sp>
        <p:nvSpPr>
          <p:cNvPr id="830439410" name=""/>
          <p:cNvSpPr/>
          <p:nvPr/>
        </p:nvSpPr>
        <p:spPr bwMode="auto">
          <a:xfrm rot="0" flipH="0" flipV="0">
            <a:off x="2925" y="50131"/>
            <a:ext cx="12181973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481372" name=""/>
          <p:cNvSpPr/>
          <p:nvPr/>
        </p:nvSpPr>
        <p:spPr bwMode="auto">
          <a:xfrm rot="0" flipH="0" flipV="0">
            <a:off x="27631" y="6769767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287911" name=""/>
          <p:cNvSpPr txBox="1"/>
          <p:nvPr/>
        </p:nvSpPr>
        <p:spPr bwMode="auto">
          <a:xfrm rot="0" flipH="0" flipV="0">
            <a:off x="1832728" y="2506578"/>
            <a:ext cx="7872817" cy="3749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Matériel nécessaire</a:t>
            </a:r>
            <a:endParaRPr sz="80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Branchement des câbles</a:t>
            </a:r>
            <a:endParaRPr sz="80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Accéder au MikroTik</a:t>
            </a:r>
            <a:endParaRPr sz="80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Configuration simple</a:t>
            </a:r>
            <a:endParaRPr sz="80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Vérification</a:t>
            </a:r>
            <a:endParaRPr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wheel spokes="1"/>
      </p:transition>
    </mc:Choice>
    <mc:Fallback>
      <p:transition spd="fast" advClick="1">
        <p:wheel spokes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00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002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002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28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760287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6028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76028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719537" name=""/>
          <p:cNvSpPr txBox="1"/>
          <p:nvPr/>
        </p:nvSpPr>
        <p:spPr bwMode="auto">
          <a:xfrm rot="0" flipH="0" flipV="0">
            <a:off x="1556644" y="1263896"/>
            <a:ext cx="11933115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à MikroTik</a:t>
            </a:r>
            <a:endParaRPr sz="4800"/>
          </a:p>
        </p:txBody>
      </p:sp>
      <p:sp>
        <p:nvSpPr>
          <p:cNvPr id="1117787281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9761514" name=""/>
          <p:cNvSpPr txBox="1"/>
          <p:nvPr/>
        </p:nvSpPr>
        <p:spPr bwMode="auto">
          <a:xfrm rot="0" flipH="0" flipV="0">
            <a:off x="278289" y="2456447"/>
            <a:ext cx="11846892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MikroTik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est une entreprise  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Lettonie capitale </a:t>
            </a: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Riga 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fondée en 1996. Elle est spécialisée dans les équipements réseau et les logiciels de routage.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7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719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6719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976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04976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868421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0675335" name=""/>
          <p:cNvSpPr txBox="1"/>
          <p:nvPr/>
        </p:nvSpPr>
        <p:spPr bwMode="auto">
          <a:xfrm rot="0" flipH="0" flipV="0">
            <a:off x="428683" y="1353551"/>
            <a:ext cx="10479298" cy="5303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Matériel nécessaire</a:t>
            </a:r>
            <a:endParaRPr sz="9000"/>
          </a:p>
          <a:p>
            <a:pPr>
              <a:defRPr/>
            </a:pPr>
            <a:endParaRPr sz="90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routeur MikroTik (ex 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fr-FR" sz="3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RB2011UiAS-IN</a:t>
            </a:r>
            <a:r>
              <a:rPr lang="fr-FR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, </a:t>
            </a:r>
            <a:r>
              <a:rPr lang="fr-FR" sz="36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RB951Ui-2HnD</a:t>
            </a:r>
            <a:endParaRPr sz="90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 PC</a:t>
            </a:r>
            <a:endParaRPr sz="90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 câbles RJ45 (câbles Ethernet)</a:t>
            </a:r>
            <a:endParaRPr sz="9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7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4306753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0675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30675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836864" name=""/>
          <p:cNvSpPr/>
          <p:nvPr/>
        </p:nvSpPr>
        <p:spPr bwMode="auto">
          <a:xfrm rot="0" flipH="0" flipV="0">
            <a:off x="2925" y="50130"/>
            <a:ext cx="12181971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669207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9736" y="526381"/>
            <a:ext cx="10678026" cy="6141118"/>
          </a:xfrm>
          <a:prstGeom prst="rect">
            <a:avLst/>
          </a:prstGeom>
        </p:spPr>
      </p:pic>
      <p:sp>
        <p:nvSpPr>
          <p:cNvPr id="1819718968" name=""/>
          <p:cNvSpPr txBox="1"/>
          <p:nvPr/>
        </p:nvSpPr>
        <p:spPr bwMode="auto">
          <a:xfrm rot="0" flipH="0" flipV="0">
            <a:off x="4765065" y="1704473"/>
            <a:ext cx="345979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u="sng">
                <a:solidFill>
                  <a:schemeClr val="hlink"/>
                </a:solidFill>
                <a:hlinkClick r:id="rId4" tooltip=""/>
              </a:rPr>
              <a:t>TP-Link Point D'Accès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920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6920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6920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71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9718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819718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913541" name=""/>
          <p:cNvSpPr/>
          <p:nvPr/>
        </p:nvSpPr>
        <p:spPr bwMode="auto">
          <a:xfrm rot="0" flipH="0" flipV="0">
            <a:off x="2925" y="50130"/>
            <a:ext cx="12181971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598603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8947" y="417719"/>
            <a:ext cx="11279604" cy="6224713"/>
          </a:xfrm>
          <a:prstGeom prst="rect">
            <a:avLst/>
          </a:prstGeom>
        </p:spPr>
      </p:pic>
      <p:sp>
        <p:nvSpPr>
          <p:cNvPr id="1146118088" name=""/>
          <p:cNvSpPr txBox="1"/>
          <p:nvPr/>
        </p:nvSpPr>
        <p:spPr bwMode="auto">
          <a:xfrm rot="0" flipH="0" flipV="0">
            <a:off x="2684604" y="5038222"/>
            <a:ext cx="48878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26614126" name=""/>
          <p:cNvSpPr txBox="1"/>
          <p:nvPr/>
        </p:nvSpPr>
        <p:spPr bwMode="auto">
          <a:xfrm rot="0" flipH="0" flipV="0">
            <a:off x="4877861" y="5614736"/>
            <a:ext cx="1809416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/>
              <a:t>Cisco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6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9860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9860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1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614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26614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4386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4144" y="621631"/>
            <a:ext cx="10703091" cy="5193631"/>
          </a:xfrm>
          <a:prstGeom prst="rect">
            <a:avLst/>
          </a:prstGeom>
        </p:spPr>
      </p:pic>
      <p:sp>
        <p:nvSpPr>
          <p:cNvPr id="1914942316" name=""/>
          <p:cNvSpPr txBox="1"/>
          <p:nvPr/>
        </p:nvSpPr>
        <p:spPr bwMode="auto">
          <a:xfrm rot="0" flipH="0" flipV="0">
            <a:off x="1630581" y="5632202"/>
            <a:ext cx="865021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u="sng">
                <a:hlinkClick r:id="rId4" tooltip=""/>
              </a:rPr>
              <a:t>TP-Link Meilleur Point d'accès WiFi bi-bande AC 1350 Mbps - Access Point</a:t>
            </a:r>
            <a:endParaRPr/>
          </a:p>
        </p:txBody>
      </p:sp>
      <p:sp>
        <p:nvSpPr>
          <p:cNvPr id="1754926855" name=""/>
          <p:cNvSpPr/>
          <p:nvPr/>
        </p:nvSpPr>
        <p:spPr bwMode="auto">
          <a:xfrm rot="0" flipH="0" flipV="0">
            <a:off x="2925" y="50130"/>
            <a:ext cx="12181971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438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7438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4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4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91494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25801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157" y="526381"/>
            <a:ext cx="11999052" cy="6316578"/>
          </a:xfrm>
          <a:prstGeom prst="rect">
            <a:avLst/>
          </a:prstGeom>
        </p:spPr>
      </p:pic>
      <p:sp>
        <p:nvSpPr>
          <p:cNvPr id="99194402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57961029" name=""/>
          <p:cNvSpPr txBox="1"/>
          <p:nvPr/>
        </p:nvSpPr>
        <p:spPr bwMode="auto">
          <a:xfrm rot="0" flipH="0" flipV="0">
            <a:off x="1005197" y="1654341"/>
            <a:ext cx="5090514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RB2011UiAS-IN (le plus populaire)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96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5796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5796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5796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58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312580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12580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312580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03308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31578" y="685799"/>
            <a:ext cx="9224210" cy="5029199"/>
          </a:xfrm>
          <a:prstGeom prst="rect">
            <a:avLst/>
          </a:prstGeom>
        </p:spPr>
      </p:pic>
      <p:sp>
        <p:nvSpPr>
          <p:cNvPr id="708724918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65438368" name=""/>
          <p:cNvSpPr txBox="1"/>
          <p:nvPr/>
        </p:nvSpPr>
        <p:spPr bwMode="auto">
          <a:xfrm rot="0" flipH="0" flipV="0">
            <a:off x="3336315" y="4988091"/>
            <a:ext cx="599216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RB951Ui-2HnD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33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303308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30330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30330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43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9654383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65438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65438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4836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8157" y="571500"/>
            <a:ext cx="11730789" cy="4642184"/>
          </a:xfrm>
          <a:prstGeom prst="rect">
            <a:avLst/>
          </a:prstGeom>
        </p:spPr>
      </p:pic>
      <p:sp>
        <p:nvSpPr>
          <p:cNvPr id="1464905705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2644432" name=""/>
          <p:cNvSpPr txBox="1"/>
          <p:nvPr/>
        </p:nvSpPr>
        <p:spPr bwMode="auto">
          <a:xfrm rot="0" flipH="0" flipV="0">
            <a:off x="2459013" y="5765131"/>
            <a:ext cx="5298601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CRS326-24G-2S+IN       </a:t>
            </a:r>
            <a:r>
              <a:rPr sz="2200" b="1"/>
              <a:t>24 port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8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8483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483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4836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48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64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2644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2042644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269308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3282465" name=""/>
          <p:cNvSpPr txBox="1"/>
          <p:nvPr/>
        </p:nvSpPr>
        <p:spPr bwMode="auto">
          <a:xfrm rot="0" flipH="0" flipV="0">
            <a:off x="4213617" y="6113826"/>
            <a:ext cx="343473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1"/>
              <a:t>Câble Rj45</a:t>
            </a:r>
            <a:endParaRPr sz="2000" b="1"/>
          </a:p>
        </p:txBody>
      </p:sp>
      <p:pic>
        <p:nvPicPr>
          <p:cNvPr id="130005133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8157" y="701841"/>
            <a:ext cx="11680657" cy="5088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8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3282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3282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3282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05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051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300051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177065" name=""/>
          <p:cNvSpPr txBox="1"/>
          <p:nvPr/>
        </p:nvSpPr>
        <p:spPr bwMode="auto">
          <a:xfrm rot="0" flipH="0" flipV="0">
            <a:off x="1581710" y="802105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40942503" name=""/>
          <p:cNvSpPr txBox="1"/>
          <p:nvPr/>
        </p:nvSpPr>
        <p:spPr bwMode="auto">
          <a:xfrm rot="0" flipH="0" flipV="0">
            <a:off x="3085656" y="1529012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012822414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1087033" name=""/>
          <p:cNvSpPr txBox="1"/>
          <p:nvPr/>
        </p:nvSpPr>
        <p:spPr bwMode="auto">
          <a:xfrm rot="0" flipH="0" flipV="0">
            <a:off x="353486" y="1168225"/>
            <a:ext cx="10453874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Branchement des câbles</a:t>
            </a:r>
            <a:endParaRPr sz="4800"/>
          </a:p>
          <a:p>
            <a:pPr>
              <a:defRPr/>
            </a:pPr>
            <a:endParaRPr sz="48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Câble 1 :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Relie le port </a:t>
            </a: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WAN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 MikroTik à ta </a:t>
            </a: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box internet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(ou modem).</a:t>
            </a:r>
            <a:endParaRPr sz="48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Câble 2 :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Relie un port </a:t>
            </a: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LAN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 MikroTik à ton </a:t>
            </a: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PC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08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011087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11087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011087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371555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821932" name=""/>
          <p:cNvSpPr txBox="1"/>
          <p:nvPr/>
        </p:nvSpPr>
        <p:spPr bwMode="auto">
          <a:xfrm rot="0" flipH="0" flipV="0">
            <a:off x="453749" y="1278354"/>
            <a:ext cx="10153804" cy="52687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Accéder au MikroTik</a:t>
            </a:r>
            <a:endParaRPr sz="4800"/>
          </a:p>
          <a:p>
            <a:pPr>
              <a:defRPr/>
            </a:pPr>
            <a:endParaRPr sz="48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 le PC, ouvre un navigateur.</a:t>
            </a:r>
            <a:endParaRPr sz="48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Tape l’adresse : </a:t>
            </a:r>
            <a:r>
              <a:rPr sz="48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192.168.88.1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(ou celle par défaut du MikroTik).</a:t>
            </a:r>
            <a:endParaRPr sz="48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Utilise WinBox si disponible (logiciel MikroTik).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82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0028219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02821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002821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271137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931730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626644"/>
            <a:ext cx="12191999" cy="6231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79317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9317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79317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555704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792205" name=""/>
          <p:cNvSpPr txBox="1"/>
          <p:nvPr/>
        </p:nvSpPr>
        <p:spPr bwMode="auto">
          <a:xfrm rot="0" flipH="0" flipV="0">
            <a:off x="328420" y="1268348"/>
            <a:ext cx="11801926" cy="5212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Configuration simple</a:t>
            </a:r>
            <a:endParaRPr sz="48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Connexion internet :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Configure le WAN en DHCP ou IP fixe selon ton fournisseur.</a:t>
            </a:r>
            <a:endParaRPr sz="48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Wi-Fi (si dispo) :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Active et mets un nom (SSID) et mot de passe.</a:t>
            </a:r>
            <a:endParaRPr sz="4800"/>
          </a:p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Sécurité :</a:t>
            </a: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Change le mot de passe administrateur.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7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698792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8792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698792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193262" name=""/>
          <p:cNvSpPr txBox="1"/>
          <p:nvPr/>
        </p:nvSpPr>
        <p:spPr bwMode="auto">
          <a:xfrm rot="0" flipH="0" flipV="0">
            <a:off x="453749" y="1604210"/>
            <a:ext cx="9726965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Vérification</a:t>
            </a:r>
            <a:endParaRPr sz="4800"/>
          </a:p>
          <a:p>
            <a:pPr>
              <a:defRPr/>
            </a:pPr>
            <a:endParaRPr sz="48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 le PC, ouvre un site web pour tester la connexion.</a:t>
            </a:r>
            <a:endParaRPr sz="4800"/>
          </a:p>
        </p:txBody>
      </p:sp>
      <p:sp>
        <p:nvSpPr>
          <p:cNvPr id="1667481817" name=""/>
          <p:cNvSpPr/>
          <p:nvPr/>
        </p:nvSpPr>
        <p:spPr bwMode="auto">
          <a:xfrm rot="0" flipH="0" flipV="0">
            <a:off x="2925" y="50130"/>
            <a:ext cx="12181972" cy="3007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19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189193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89193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89193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71689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631" y="25065"/>
            <a:ext cx="12156907" cy="67928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split orient="vert" dir="in"/>
      </p:transition>
    </mc:Choice>
    <mc:Fallback>
      <p:transition spd="fast" advClick="1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16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0"/>
                                        <p:tgtEl>
                                          <p:spTgt spid="20171689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017168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2017168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2012-12-03T06:56:55Z</dcterms:created>
  <dcterms:modified xsi:type="dcterms:W3CDTF">2026-04-12T18:02:39Z</dcterms:modified>
</cp:coreProperties>
</file>