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3" r:id="rId21"/>
    <p:sldId id="284" r:id="rId22"/>
    <p:sldId id="275" r:id="rId23"/>
    <p:sldId id="294" r:id="rId24"/>
    <p:sldId id="295" r:id="rId25"/>
    <p:sldId id="296" r:id="rId26"/>
    <p:sldId id="297" r:id="rId27"/>
    <p:sldId id="298" r:id="rId28"/>
    <p:sldId id="299" r:id="rId29"/>
    <p:sldId id="276" r:id="rId30"/>
    <p:sldId id="277" r:id="rId31"/>
    <p:sldId id="278" r:id="rId32"/>
    <p:sldId id="279" r:id="rId33"/>
    <p:sldId id="280" r:id="rId34"/>
    <p:sldId id="281" r:id="rId35"/>
    <p:sldId id="282" r:id="rId36"/>
    <p:sldId id="301" r:id="rId37"/>
    <p:sldId id="302" r:id="rId38"/>
    <p:sldId id="303" r:id="rId39"/>
    <p:sldId id="304" r:id="rId40"/>
    <p:sldId id="305" r:id="rId41"/>
    <p:sldId id="306" r:id="rId42"/>
    <p:sldId id="307" r:id="rId43"/>
    <p:sldId id="308" r:id="rId44"/>
    <p:sldId id="309" r:id="rId45"/>
    <p:sldId id="310" r:id="rId46"/>
    <p:sldId id="311" r:id="rId47"/>
    <p:sldId id="312" r:id="rId48"/>
    <p:sldId id="313" r:id="rId49"/>
    <p:sldId id="314" r:id="rId50"/>
    <p:sldId id="315" r:id="rId5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p:scale>
          <a:sx n="160" d="100"/>
          <a:sy n="160" d="100"/>
        </p:scale>
        <p:origin x="264"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0589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ACCUEIL
Présentez le sujet avec cette question simple :
'Pourquoi un appel WhatsApp coupe parfois alors qu on a de la connexion ?'
La réponse tient en 3 lettres : QoS.
Ce cours couvre l ensemble des mécanismes de qualité de service :
des fondamentaux (délai, gigue, perte) jusqu aux déploiements modernes
(5G, SDN, cloud). 35 diapositives, exemples concrets à chaque étape.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PLAN
Parcourez rapidement ce plan en 2 minutes.
Insistez sur la progression logique :
- D abord POURQUOI la QoS existe (chapitres 1-2)
- Puis COMMENT elle fonctionne (chapitres 3-6)
- Enfin OU et COMMENT la deployer (chapitres 7-9)</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1
Question d ouverture : 'Avez-vous deja eu un appel qui coupe pendant un telechargement ?
C est exactement le probleme qu on va resoudre avec la QoS.'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IP SANS QoS
Analogie cle : 'Imaginez un seul guichet a la poste pour les recommandes urgents ET les colis ordinaires. L urgence attend derriere le colis.'
Sur IP, le 'guichet' c est la file FIFO du routeur.
Si quelqu un envoie un gros fichier, votre appel attend.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MEDIAS CONTINUS VS DISCRETS
Metaphore puissante :
'Un email est comme une lettre : peu importe si elle met 1 heure ou 2 heures a arriver.
Un appel telephonique est comme une conversation : si vous entendez votre interlocuteur avec 2 secondes de retard, c est impossible de dialoguer.'
Flot synchrone : intervalle FIXE entre les donnees (VoIP = 125 µs).
Flot isochrone : intervalle moyen avec une tolerance (video = 25 img/s +/- quelques ms).
Flot asynchrone : pas de contrainte temporelle (email, FTP).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POURQUOI QoS ?
Chiffres a citer :
- Un appel VoIP G.711 = 64 kb/s. Sur un lien ADSL 20 Mbps, ca represente 0.3% du debit.
- Pourtant, si 300 utilisateurs telechargent en meme temps, le lien peut etre sature.
- Et si quelqu un envoie une video 4K (20 Mbps), votre appel VoIP (64 kb/s) souffre.
La QoS resout le probleme de COEXISTENCE, pas de manque de bande passante.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2
Demandez a l auditoire : 'Quand vous dites qu un jeu est laggy, ca veut dire quoi exactement ?'
La plupart repondront 'c est lent' — mais c est surtout de la gigue et de la latence elevee.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DELAI
Le delai de propagation est physique et incompressible.
Paris-Sydney par fibre = environ 130 ms aller simple.
C est pourquoi les CDN (Content Delivery Networks) existent :
mettre les contenus AU PLUS PRES des utilisateurs.
Le delai de file d attente est le plus important en pratique.
Un routeur congestionne peut avoir des buffers de plusieurs secondes !
(phenomene 'buffer bloat' : les buffers trop grands augmentent la latence)
Exercice en classe : ping google.com vs ping serveur local. Comparer les RTT.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GIGUE
Analogie musicale : imaginez un musicien qui joue les notes correctement mais pas au bon rythme. Les notes arrivent trop tot, puis trop tard. C est insupportable meme si chaque note individuelle est juste.
Le jitter buffer = mettre du coton dans vos oreilles : ca retarde legerement le son, mais ca le lisse.
Trop de buffer = latence increased. Trop peu = gigue audible. L algorithme adaptatif trouve le bon equilibre.
Seuil : gigue &lt; 30 ms pour la VoIP (recommandation ITU-T).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PERTE ET DEBIT
Sur la perte de paquets :
Pour UDP (VoIP) : un paquet perdu = 20 ms de silence (imperceptible au-dessous de 1%).
Pour TCP (donnees) : un paquet perdu declenche un mecanisme de retransmission.
Le debit peut etre reduit de 50% ! C est le triple duplicate ACK de TCP.
Sur le debit :
CIR = engagement contractuel de l operateur. Ex : 'Je vous garantis 10 Mbps en tout moment.'
En dessous du CIR, l operateur est en faute et doit dedommager le client (SLA).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3
Question : 'Si vous etiez ingenieur reseau, comment organiseriez-vous les priorites pour 1000 utilisateurs ?'
Trois reponses historiques : reserver pour chacun (IntServ), classer par groupe (DiffServ), creer des chemins dedies (MPLS).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INTSERV/RSVP
Pourquoi RSVP utilise un 'soft state' plutot qu un 'hard state' ?
Avantage cle : robustesse. Si une application crashe, les reservations expirent naturellement sans qu on ait a envoyer un message de 'fin'.
C est la philosophie IP : pas d etat permanent dans le reseau.
RSVP est encore utilise en 2025 sous la forme RSVP-TE (Traffic Engineering) dans MPLS !
Donc pas completement mort, mais transforme.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DIFFSERV
DiffServ est L approche dominante sur Internet aujourd hui.
PHB (Per-Hop Behavior) : chaque routeur sur le chemin applique le MEME traitement pour le MEME DSCP.
Pas besoin de signalisation (contrairement a RSVP) = tres scalable.
AF4x &gt; AF3x &gt; AF2x &gt; AF1x en priorite.
Ex : AF41 (DSCP 34) = video haute priorite, Low Drop
     AF43 (DSCP 38) = video basse priorite, High Drop
DSCP remarque : le DSCP peut etre modifie (re-marque) a la frontiere d un reseau d operateur si le client met une valeur non contractuelle.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MPLS
MPLS est utilise par TOUS les grands operateurs (Orange, SFR, AT&amp;T, Deutsche Telekom...).
Avantage cle : au lieu de lire l adresse IP destination (32 bits, decision complexe), le LSR lit juste un numero (label, 20 bits) et fait une simple lookup dans une table.
C est 10x plus rapide.
MPLS-TE + RSVP-TE : on peut creer des LSP avec des garanties QoS et des chemin de secours pre-calcules.
Fast Reroute : si un lien tombe, basculement en &lt; 50ms (imperceptible pour la VoIP).
MPLS transporte aussi DiffServ : le champ EXP (3 bits) dans l etiquette correspond au DSCP.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COMPARAISON
Question type d examen :
'Quelle approche QoS recommanderiez-vous pour un operateur telecoms proposant VoIP, IPTV et acces internet a ses abonnes ? Justifiez.'
Reponse attendue :
1. DiffServ au niveau acces et agregation (DSCP EF pour VoIP, AF pour IPTV, BE pour internet)
2. MPLS en coeur de reseau avec LSP dedies
3. MPLS-TE pour gerer la congestion et garantir la QoS
4. Supervision avec TWAMP pour mesurer le respect du SLA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4
Point cle : la QoS n est pas geree a une seule couche. C est un effort collaboratif de toutes les couches OSI.
Chaque couche contribue avec ses propres mecanismes.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COUCHES OSI
Mnemotech couches OSI (bas vers haut) :
'Physiquement Les Gens Temoignent Souvent Pour Rien'
(Physique, Liaison, reseau/Gateway, Transport, Session, Presentation, Application)
Point important : RTP fonctionne sur UDP (couche 4) et ajoute :
- Numero de sequence (detecter les pertes)
- Timestamp (reconstruire le timing)
- SSRC (identifier la source)
RTCP (son jumeau) envoie des rapports de qualite toutes les 5 secondes.
SR = Sender Report, RR = Receiver Report.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SLA
Les seuils sont exprimes en PERCENTILES, pas en moyennes :
'99% des paquets &lt; 150ms' est tres different de 'delai moyen &lt; 150ms'.
La moyenne peut cacher des pics catastrophiques.
Disponibilite 99.9% = 8h76/an d interruption
99.99% = 52 minutes
99.999% (5 nines) = 5 minutes — niveau operateur premium
CAC (Call Admission Control) :
Avant d accepter un nouvel appel VoIP, le systeme verifie :
- Est-ce que le lien a encore assez de capacite ?
- Si oui : appel accepte, ressources reservees
- Si non : appel refuse avec message d erreur 'reseau occupe'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5
Ces mecanismes controlent le trafic ENTRANT dans le reseau.
Ils protegent le reseau contre les utilisateurs qui envoient plus que prevu dans leur contrat.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LEAKY BUCKET
Leaky Bucket = mecanisme de SHAPING (mise en forme).
Il re-espace les paquets pour que le trafic sortant soit parfaitement uniforme.
Difference shaping vs policing :
- Shaping : retarde les paquets en exces (les met dans le seau et les libere lentement)
- Policing : rejette les paquets en exces immediatement
Le Leaky Bucket fait du POLICING si on rejette les debordements.
Il fait du SHAPING si on retarde les paquets dans la file.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0503511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TOKEN BUCKET
Exemple numerique a faire en classe :
Contrat FAI : r = 10 Mbps, b = 1 Megaoctet (= 8 Mb)
Si l utilisateur n envoie rien pendant 1 seconde :
→ 10 Mb de jetons accumules (plafonne a b = 8 Mb)
→ Il peut ensuite envoyer 8 Mb en rafale instantanee
Si l utilisateur a un idle de 10 secondes :
→ Toujours plafonné a b = 8 Mb (pas 100 Mb)
C est pourquoi les FAI fixent b tres petit : pour eviter des rafales qui perturbent le reseau.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9509345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 THEORIE FILES
Exercice numerique :
Un routeur reçoit λ=80 paquets/s et peut en traiter µ=100/s.
ρ = 0.8, N = 4 paquets, W = 50ms → acceptable pour la VoIP.
Si la charge monte a λ=99/s :
ρ = 0.99, N = 99 paquets, W = 1 SECONDE → catastrophe pour la VoIP !
Leçon : ne jamais charger un lien a plus de 70-80% de sa capacite.
Marge de securite = reserve pour les pics de trafic.</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6
Les files d attente sont le coeur operationnel de la QoS dans un routeur.
C est ici que se decide concretement quel paquet sera envoye en premier.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0780111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FIFO/RED/WRED
La synchronisation TCP (global synchronization) :
Sans RED, quand la file est pleine, TOUS les paquets sont rejetes.
Tous les flux TCP detectent une perte en meme temps et ralentissent simultanement.
Resultat : debit = 0 pendant un moment, puis tout redémarre, la file se remplit a nouveau... en boucle.
RED brise ce cycle en rejetant de facon ALEATOIRE et PROGRESSIVE.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3427339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SCHEDULING
Analogie pour WFQ :
'Imaginez un gâteau (la bande passante). WFQ le coupe en parts proportionnelles aux poids.
VoIP a droit a 50% de la part, Video 30%, donnees 20%.
Meme si VoIP ne parle pas, les autres peuvent utiliser sa part temporairement.'
LLQ (Low Latency Queuing) = WFQ + une file strictement prioritaire pour VoIP/EF.
C est le standard Cisco pour les routeurs d entreprise.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6307057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LLQ
Configuration Cisco IOS de base :
policy-map QOS-VOIP
  class VOIP  → priority 256 (kb/s)
  class VIDEO → bandwidth 512
  class CRITICAL → bandwidth 256
  class class-default → fair-queue
service-policy output QOS-VOIP
(applique sur interface WAN)
La commande 'priority' = file EF strictement prioritaire.
La commande 'bandwidth' = WFQ avec quota garanti.</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5869867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7
Comment mesurer et quantifier la qualite ? Ce chapitre donne les outils mathematiques et pratiques.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4693107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DEGRADATION
Le MOS (Mean Opinion Score) :
Système de notation de 1 a 5 pour evaluer la qualite vocale percue.
5 = Excellent, 4 = Bon, 3 = Acceptable, 2 = Mauvais, 1 = Inacceptable
L algorithme E-Model (ITU-T G.107) calcule le MOS a partir du delai, de la gigue et du taux de perte.
Ex : delai=200ms, gigue=20ms, perte=1% → MOS ≈ 3.8 (limite acceptable)
Formule approximative : MOS = 4.5 - 0.01*delai - 0.2*perte(%)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8185327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8
Les reseaux modernes integrent la QoS nativement, de maniere beaucoup plus sophistiquee qu il y a 20 ans.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 WIFI ET 5G
EDCA (Enhanced Distributed Channel Access) :
Chaque AC a une 'fenetres de contention' differente.
AC_VO attend peu (acces rapide). AC_BK attend beaucoup (acces lent).
C est probabiliste : AC_VO a plus de CHANCES d acceder au canal, pas une garantie absolue.
5G URLLC :
Comment garantir &lt; 1ms de latence ?
- Reduction de la duree des trames (slot time)
- Edge Computing : les serveurs sont au plus pres des utilisateurs
- Ressources radio dediees pour les flux URLLC</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 SDN/NFV
Avant SDN : chaque routeur a son 'cerveau' local. Configuration fastidieuse, manuelle, sujette aux erreurs.
Avec SDN : le controleur = le cerveau central. Les routeurs = les mains qui executent.
Ex : 'Je veux que tout le trafic VoIP passe par ce chemin' → le controleur programme tous les routeurs automatiquement.
NFV exemple concret : au lieu d un pare-feu hardware a 50 000 euros, on deploie une VM pare-feu sur un serveur a 5000 euros. Si le trafic augmente, on lance 2 VMs. Si ca baisse, on en eteint une. C est l elasticite.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9
La QoS sans supervision = conduire les yeux fermes. Ce chapitre couvre les outils pour verifier que la QoS fonctionne.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 SECURITE
DDoS + QoS : meme avec une QoS parfaite, si le LIEN physique est sature a 100%, il n y a PLUS RIEN a prioriser.
La protection DDoS doit operer EN AMONT de la QoS.
SRTP est la norme pour chiffrer la VoIP sans impact QoS.
Tous les grands operateurs VoIP (Skype, WhatsApp, Signal) l utilisent.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 — OUTILS DE SUPERVISION
TWAMP est l outil le plus precis et le plus professionnel.
Il mesure le delai dans UN SEUL SENS (OWD = One-Way Delay) grace a la synchronisation NTP/PTP.
C est beaucoup plus precis que le RTT du ping (qui inclut aller + retour).
iPerf3 exemple :
iperf3 -c serveur -u -b 10M --dscp 46
= envoie 10Mbps UDP marque EF
= permet de verifier que le trafic VoIP est bien prioritaire
Si la gigue est &lt;30ms et la perte &lt;1% : QoS correctement configuree.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 — CONCLUSION
Questions de revision :
1. Quelle est la difference entre delai et gigue ?
2. Pourquoi IntServ ne s est pas deploye sur Internet ?
3. Quelle valeur DSCP pour la voix (EF) ? Et pour best effort ?
4. Que signifie 'soft state' dans RSVP ?
5. Quelle formule pour le delai moyen M/M/1 ?
6. Qu est-ce que le Network Slicing en 5G ?
7. Quelle est la difference entre Leaky Bucket et Token Bucket ?
Bonne chance a tous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 — INTRODUCTION SUITE
Cette suite de 15 diapositives approfondit les notions vues dans les 35 premieres.
Elle est centree sur :
- Les cas d usage concrets (VoIP, video, IoT)
- Les outils de configuration reels
- Les calculs et exercices
- Les tendances actuelles (IA, 5G avancee, quantum)
Public cible : etudiants ayant suivi les 35 premieres slides ou ayant deja des bases en reseaux.</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 — IPv6 ET QOS
Le champ Traffic Class en IPv6 est directement compatible avec DiffServ IPv4.
Les valeurs DSCP sont identiques. Un routeur double-pile peut transporter les deux sans re-marquage.
Le Flow Label est LA vraie innovation IPv6 pour la QoS :
- Genere aleatoirement par la source pour chaque flux (connexion TCP, flux UDP...)
- Le routeur peut faire du per-flow-forwarding sans examiner IP/TCP/UDP
- Particulierement utile quand le contenu est chiffre (TLS, QUIC)
- RFC 6437 definit l utilisation du Flow Label pour le load balancing et la QoS
QUIC (protocole de Google/IETF) utilise le Flow Label IPv6 pour ses flux.</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38 — VOIP DE A A Z
Codecs VoIP a connaitre :
- G.711 (PCM) : 64 kb/s, qualite MOS 4.4, tres utilise sur les reseaux internes
- G.729 : 8 kb/s, qualite MOS 3.9, utilise sur les liens WAN
- Opus : 6-510 kb/s, adaptatif, WebRTC, meilleure qualite a bas debit
Un appel VoIP G.711 utilise en realite PLUS que 64 kb/s :
- Payload audio : 64 kb/s
+ En-tete RTP/UDP/IP : ~40 octets par paquet
+ Avec paquets de 20ms : 50 paquets/s × 40 octets = 16 kb/s d overhead
= Total : ~80 kb/s par appel unidirectionnel, 160 kb/s pour un appel complet
SIP (signalisation) : ne pas oublier de marquer DSCP=26 (AF31) !
Si SIP est bloque, l appel ne peut pas s etablir du tout.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39 — QOS VIDEO
FEC (Forward Error Correction) pour IPTV :
L emetteur envoie des paquets de parité en plus des paquets de données.
Ex : pour 10 paquets de donnees, on envoie 2 paquets FEC.
Si 1 paquet est perdu, on peut le reconstruire grace au FEC.
Cout : +20% de bande passante, mais zero perte visible.
Codecs video a connaitre :
- H.264/AVC : standard universel, bon ratio qualite/debit
- H.265/HEVC : -50% vs H.264, utilise pour la 4K
- VP9 : equivalent H.265, open source, utilise par YouTube
- AV1 : le plus recent, -30% vs VP9, futur standard du streaming
Multicast IPTV :
Sans multicast : si 1000 abonnes regardent la meme chaine = 1000 flux separes.
Avec multicast : 1 seul flux pour tous → enorme gain de bande passante.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40 — MOS ET E-MODEL
Le MOS est une note SUBJECTIVE standardisee.
Des juges humains ecoutent des echantillons audio et notent de 1 a 5.
L E-Model (G.107) calcule automatiquement un score equivalent (R-score) puis le convertit en MOS.
R-score → MOS :
- R = 93-100 → MOS 4.5
- R = 80-92  → MOS 4.0-4.5
- R = 60-79  → MOS 3.0-4.0
- R = 40-59  → MOS 2.0-3.0
- R &lt; 40     → MOS &lt; 2 (inacceptable)
Les operateurs VoIP utilisent IP SLA Cisco pour calculer le MOS automatiquement :
'ip sla 1 → udp-jitter → codec g711alaw'
Le routeur mesure delai, gigue, perte et calcule le MOS en temps reel.</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41 — BUFFER BLOAT
Le buffer bloat a ete mis en evidence par Jim Gettys en 2011.
Son constat : son connexion 20 Mbps devenait inutilisable pour la VoIP pendant un telechargement.
Pourtant il avait de la bande passante disponible !
Experience en classe :
1. Lancez un ping vers google.com (RTT normal : 10-30ms)
2. Lancez un telechargement (Speedtest par exemple)
3. Regardez le RTT pendant le telechargement
Si le RTT monte a 200ms+ : buffer bloat confirme !
Test en ligne : www.bufferbloat.net/projects/bloat/wiki/Tests
FQ-CoDel est maintenant le defaut sur la plupart des distributions Linux.
Bandwidth Management avec QoS active dans OpenWRT/pfSense = remede le plus efficace.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42 — VPN MPLS
VPN MPLS L3 (Layer 3) est la solution dominante pour les WAN d entreprise.
L operateur est responsable du routage ET de la QoS.
Le client n a pas acces au coeur MPLS : il voit juste ses sites interconnectes.
CE = Customer Edge (routeur du client)
PE = Provider Edge (routeur de l operateur, interface avec le client)
P = Provider (routeur interne de l operateur, coeur MPLS)
SLA typique VPN MPLS classe Voix :
- Delai &lt; 30 ms (intra-national)
- Gigue &lt; 10 ms
- Perte &lt; 0.01%
- Disponibilite &gt; 99.95%
Cout : plus cher que Internet classique, mais QoS garantie bout en bout.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43 — IOT ET QOS
La grande diversite IoT pose un defi QoS unique :
Comment gerer sur le meme reseau un capteur qui envoie 10 octets par heure ET une camera 4K qui genere 20 Mbps en continu ?
Protocoles IoT a connaitre :
- MQTT : leger, publish/subscribe. Ideal capteurs. Utilise TCP.
- CoAP : version UDP de HTTP. Pour reseaux contraints (RFC 7252).
- LoRaWAN : tres longue portee, tres faible debit, basse consommation.
- NB-IoT : norme 3GPP pour IoT sur reseaux cellulaires. Dans les murs.
TSN (Time-Sensitive Networking) : extension Ethernet pour l industrie.
Garantit des delais &lt; 1 microseconde sur des reseaux Ethernet.
Usine 4.0, robotique : remplace les bus industriels proprietaires.
Standardise par IEEE 802.1Qbv.</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44 — IA ET QOS
L IA dans les reseaux est une realite depuis 2020 environ.
Cisco, Juniper, Nokia, Huawei integrent tous des modules IA dans leurs equipements.
Intent-Based Networking (IBN) :
L administrateur exprime une INTENTION : 'Garantir MOS &gt; 4.0 pour la VoIP'
Le systeme IA traduit cette intention en configuration reseau automatique.
Si les conditions changent, il reconfigure automatiquement sans intervention humaine.
AI-Driven WAN (SD-WAN avec IA) :
- Selection automatique du meilleur lien (MPLS, Internet, 5G) selon QoS mesurée
- Basculement en &lt; 100ms si la qualite se degrade
- Apprentissage des patterns de trafic pour anticiper les besoins
Limites actuelles : explicabilite ('boite noire'), confiance, securite des modeles ML.</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45 — EXERCICES
Ces 4 exercices couvrent les calculs les plus frequents en examen.
Pour l exercice 1 : insistez sur le fait que la charge a 0.75 semble raisonnable, mais qu a 0.95 le delai explose (W = 200ms). C est l effet catastrophique de la saturation.
Pour l exercice 3 : beaucoup d etudiants oublient les en-tetes RTP/UDP/IP et sous-estiment le debit necessaire. Rappeler que RTP/UDP/IP = 40 octets = 20% d overhead pour G.711 avec paquets de 20ms.
Variante exercice 3 avec G.729 :
Payload G.729 = 8 kb/s, paquets 20ms = 20 octets payload
Debit par appel = (20+40) x 50 = 24 kb/s
20 appels x 24 kb/s x 2 = 960 kb/s (14x moins que G.711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46 — CONFIGURATION CISCO
Points importants sur la configuration Cisco :
'priority' vs 'bandwidth' :
- priority : file LLQ strictement prioritaire. Risque : si trop de trafic, les autres classes ont faim.
  Solution : limiter la classe VOIX a max 33% du lien.
- bandwidth : garantit un minimum, le reste est partage equitablement.
Verification essentielle apres configuration :
show policy-map interface Gi0/1
→ Montre les statistiques par classe : paquets transmis, rejetes, file d attente actuelle.
WRED config (si souhaite sur les classes AF) :
class VIDEO
  bandwidth 5000
  random-detect dscp-based    ! Active WRED avec profils DSCP
IP SLA pour tester la QoS appliquee :
ip sla 1
  udp-jitter 10.0.0.2 5000 codec g711alaw
  frequency 60
ip sla schedule 1 life forever start-time now</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47 — COMPARATIF FINAL
Ce tableau est une reference pour les examens et les choix d architecture.
TSN (Time-Sensitive Networking) :
Normes IEEE 802.1Qbv (time-aware shaper), 802.1Qbu (preemption), 802.1CB (frame replication).
Garantit des delais &lt; 1 microseconde sur Ethernet. Remplace PROFIBUS/PROFINET dans les usines.
FQ-CoDel :
Le meilleur AQM disponible aujourd hui pour les reseaux generalistes.
Integre dans le noyau Linux depuis 3.5 (2012). Defaut dans OpenWRT, pfSense, routeurs Turris...
Reduction drastique du buffer bloat sans configuration manuelle.
SDN vs tradionnel :
Avantage SDN : une seule API pour configurer tout le reseau.
Inconvenient : point de defaillance unique (le controleur), complexite de deploiement.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48 — CAS PRATIQUE
Points critiques du deploiement :
1. Commencer par l audit : beaucoup d entreprises deploient QoS sans avoir mesure leur trafic.
Resultat : mauvaise classification, priorites incorrectes.
2. La QoS LAN est souvent negligee :
Si les switches LAN ne font pas de QoS, les paquets VoIP attendent dans une file FIFO avec les sauvegardes FTP sur le switch acces. Activer 802.1p sur tous les switches.
3. Les IP phones doivent etre configures pour marquer DSCP=46 (EF).
Si les phones marquent DSCP=0 (BE), toute la config QoS WAN est inutile.
4. Verifier que l operateur respecte le SLA avec TWAMP.
Ne pas faire confiance aux graphiques de l operateur : mesurer vous-meme.
ROI de la QoS pour cette PME :
Sans QoS : 1 plainte par semaine sur la qualite VoIP. Avec QoS : 0 plainte.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49 — TENDANCES
QUIC (Quick UDP Internet Connections) :
Developpe par Google, standardise par l IETF (RFC 9000 en 2021).
HTTP/3 = HTTP sur QUIC. Deja utilise par 25% du web mondial.
Impact QoS : tout est chiffre, les routeurs ne peuvent plus distinguer VoIP de Netflix.
Solution : Flow Label IPv6 + classification ML.
Wi-Fi 7 (802.11be) :
Disponible en 2025 sur les points d acces haut de gamme.
MLO (Multi-Link Operation) : le client utilise 2.4, 5 et 6 GHz simultanement.
Latence garantie &lt; 5ms : premier Wi-Fi utilisable pour la chirurgie a distance.
6G :
Recherche en cours (Nokia Bell Labs, Samsung, Ericsson).
Frequences : THz (terahertz) pour le debit, sub-GHz pour la couverture.
Deploiement commercial attendu vers 2030.</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50 — CONCLUSION FINALE
Autres questions d examen possibles :
'Comparez DiffServ et IntServ sur 5 criteres.'
Reponse : granularite (flux vs classe), reservation (oui/non), scalabilite (faible/elevee), etat (oui/non), utilisation.
'Quel est le role du champ EXP dans une etiquette MPLS ?'
Reponse : 3 bits qui transportent la priorite DiffServ (equivalent du DSCP) a travers le reseau MPLS.
'Pourquoi utilise-t-on UDP et non TCP pour la VoIP ?'
Reponse : TCP retransmet les paquets perdus, ajoutant un delai inacceptable. UDP perd le paquet sans retransmission, ce qui donne un bref silence (preferable a un echo retarde).
'Qu est-ce que le Network Slicing 5G ?'
Reponse : creation de plusieurs reseaux virtuels (slices) sur la meme infrastructure physique, chacun avec ses propres garanties QoS (eMBB, URLLC, mMTC).
Bonne preparation et bonne chance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0796B"/>
          </a:solidFill>
          <a:ln/>
        </p:spPr>
      </p:sp>
      <p:sp>
        <p:nvSpPr>
          <p:cNvPr id="3" name="Shape 1"/>
          <p:cNvSpPr/>
          <p:nvPr/>
        </p:nvSpPr>
        <p:spPr>
          <a:xfrm>
            <a:off x="6217920" y="0"/>
            <a:ext cx="2926080" cy="5143500"/>
          </a:xfrm>
          <a:prstGeom prst="rect">
            <a:avLst/>
          </a:prstGeom>
          <a:solidFill>
            <a:srgbClr val="1565C0">
              <a:alpha val="12000"/>
            </a:srgbClr>
          </a:solidFill>
          <a:ln/>
        </p:spPr>
      </p:sp>
      <p:sp>
        <p:nvSpPr>
          <p:cNvPr id="4" name="Text 2"/>
          <p:cNvSpPr/>
          <p:nvPr/>
        </p:nvSpPr>
        <p:spPr>
          <a:xfrm>
            <a:off x="457200" y="457200"/>
            <a:ext cx="7315200" cy="822960"/>
          </a:xfrm>
          <a:prstGeom prst="rect">
            <a:avLst/>
          </a:prstGeom>
          <a:noFill/>
          <a:ln/>
        </p:spPr>
        <p:txBody>
          <a:bodyPr wrap="square"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Réseaux et</a:t>
            </a:r>
            <a:endParaRPr lang="en-US" sz="5000" dirty="0"/>
          </a:p>
        </p:txBody>
      </p:sp>
      <p:sp>
        <p:nvSpPr>
          <p:cNvPr id="5" name="Text 3"/>
          <p:cNvSpPr/>
          <p:nvPr/>
        </p:nvSpPr>
        <p:spPr>
          <a:xfrm>
            <a:off x="457200" y="1234440"/>
            <a:ext cx="8229600" cy="914400"/>
          </a:xfrm>
          <a:prstGeom prst="rect">
            <a:avLst/>
          </a:prstGeom>
          <a:noFill/>
          <a:ln/>
        </p:spPr>
        <p:txBody>
          <a:bodyPr wrap="square" rtlCol="0" anchor="ctr"/>
          <a:lstStyle/>
          <a:p>
            <a:pPr marL="0" indent="0">
              <a:buNone/>
            </a:pPr>
            <a:r>
              <a:rPr lang="en-US" sz="5000" b="1" dirty="0">
                <a:solidFill>
                  <a:srgbClr val="00BCD4"/>
                </a:solidFill>
                <a:latin typeface="Calibri" pitchFamily="34" charset="0"/>
                <a:ea typeface="Calibri" pitchFamily="34" charset="-122"/>
                <a:cs typeface="Calibri" pitchFamily="34" charset="-120"/>
              </a:rPr>
              <a:t>Qualité de Service</a:t>
            </a:r>
            <a:endParaRPr lang="en-US" sz="5000" dirty="0"/>
          </a:p>
        </p:txBody>
      </p:sp>
      <p:sp>
        <p:nvSpPr>
          <p:cNvPr id="6" name="Text 4"/>
          <p:cNvSpPr/>
          <p:nvPr/>
        </p:nvSpPr>
        <p:spPr>
          <a:xfrm>
            <a:off x="457200" y="2331720"/>
            <a:ext cx="6858000" cy="685800"/>
          </a:xfrm>
          <a:prstGeom prst="rect">
            <a:avLst/>
          </a:prstGeom>
          <a:noFill/>
          <a:ln/>
        </p:spPr>
        <p:txBody>
          <a:bodyPr wrap="square" rtlCol="0" anchor="ctr"/>
          <a:lstStyle/>
          <a:p>
            <a:pPr marL="0" indent="0">
              <a:buNone/>
            </a:pPr>
            <a:r>
              <a:rPr lang="en-US" sz="1300" i="1" dirty="0">
                <a:solidFill>
                  <a:srgbClr val="90CAF9"/>
                </a:solidFill>
                <a:latin typeface="Calibri" pitchFamily="34" charset="0"/>
                <a:ea typeface="Calibri" pitchFamily="34" charset="-122"/>
                <a:cs typeface="Calibri" pitchFamily="34" charset="-120"/>
              </a:rPr>
              <a:t>Cours complet — Niveau Licence</a:t>
            </a:r>
            <a:endParaRPr lang="en-US" sz="1300" dirty="0"/>
          </a:p>
          <a:p>
            <a:pPr marL="0" indent="0">
              <a:buNone/>
            </a:pPr>
            <a:r>
              <a:rPr lang="en-US" sz="1300" i="1" dirty="0">
                <a:solidFill>
                  <a:srgbClr val="90CAF9"/>
                </a:solidFill>
                <a:latin typeface="Calibri" pitchFamily="34" charset="0"/>
                <a:ea typeface="Calibri" pitchFamily="34" charset="-122"/>
                <a:cs typeface="Calibri" pitchFamily="34" charset="-120"/>
              </a:rPr>
              <a:t>Toutes les notions expliquées simplement avec des exemples concrets</a:t>
            </a:r>
            <a:endParaRPr lang="en-US" sz="1300" dirty="0"/>
          </a:p>
        </p:txBody>
      </p:sp>
      <p:sp>
        <p:nvSpPr>
          <p:cNvPr id="7" name="Shape 5"/>
          <p:cNvSpPr/>
          <p:nvPr/>
        </p:nvSpPr>
        <p:spPr>
          <a:xfrm>
            <a:off x="457200" y="3246120"/>
            <a:ext cx="1600200" cy="384048"/>
          </a:xfrm>
          <a:prstGeom prst="rect">
            <a:avLst/>
          </a:prstGeom>
          <a:solidFill>
            <a:srgbClr val="1565C0">
              <a:alpha val="55000"/>
            </a:srgbClr>
          </a:solidFill>
          <a:ln/>
        </p:spPr>
      </p:sp>
      <p:sp>
        <p:nvSpPr>
          <p:cNvPr id="8" name="Text 6"/>
          <p:cNvSpPr/>
          <p:nvPr/>
        </p:nvSpPr>
        <p:spPr>
          <a:xfrm>
            <a:off x="457200" y="3246120"/>
            <a:ext cx="16002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QoS &amp; IP</a:t>
            </a:r>
            <a:endParaRPr lang="en-US" sz="1100" dirty="0"/>
          </a:p>
        </p:txBody>
      </p:sp>
      <p:sp>
        <p:nvSpPr>
          <p:cNvPr id="9" name="Shape 7"/>
          <p:cNvSpPr/>
          <p:nvPr/>
        </p:nvSpPr>
        <p:spPr>
          <a:xfrm>
            <a:off x="2176272" y="3246120"/>
            <a:ext cx="1600200" cy="384048"/>
          </a:xfrm>
          <a:prstGeom prst="rect">
            <a:avLst/>
          </a:prstGeom>
          <a:solidFill>
            <a:srgbClr val="1565C0">
              <a:alpha val="55000"/>
            </a:srgbClr>
          </a:solidFill>
          <a:ln/>
        </p:spPr>
      </p:sp>
      <p:sp>
        <p:nvSpPr>
          <p:cNvPr id="10" name="Text 8"/>
          <p:cNvSpPr/>
          <p:nvPr/>
        </p:nvSpPr>
        <p:spPr>
          <a:xfrm>
            <a:off x="2176272" y="3246120"/>
            <a:ext cx="16002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IntServ</a:t>
            </a:r>
            <a:endParaRPr lang="en-US" sz="1100" dirty="0"/>
          </a:p>
        </p:txBody>
      </p:sp>
      <p:sp>
        <p:nvSpPr>
          <p:cNvPr id="11" name="Shape 9"/>
          <p:cNvSpPr/>
          <p:nvPr/>
        </p:nvSpPr>
        <p:spPr>
          <a:xfrm>
            <a:off x="3895344" y="3246120"/>
            <a:ext cx="1600200" cy="384048"/>
          </a:xfrm>
          <a:prstGeom prst="rect">
            <a:avLst/>
          </a:prstGeom>
          <a:solidFill>
            <a:srgbClr val="1565C0">
              <a:alpha val="55000"/>
            </a:srgbClr>
          </a:solidFill>
          <a:ln/>
        </p:spPr>
      </p:sp>
      <p:sp>
        <p:nvSpPr>
          <p:cNvPr id="12" name="Text 10"/>
          <p:cNvSpPr/>
          <p:nvPr/>
        </p:nvSpPr>
        <p:spPr>
          <a:xfrm>
            <a:off x="3895344" y="3246120"/>
            <a:ext cx="16002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DiffServ</a:t>
            </a:r>
            <a:endParaRPr lang="en-US" sz="1100" dirty="0"/>
          </a:p>
        </p:txBody>
      </p:sp>
      <p:sp>
        <p:nvSpPr>
          <p:cNvPr id="13" name="Shape 11"/>
          <p:cNvSpPr/>
          <p:nvPr/>
        </p:nvSpPr>
        <p:spPr>
          <a:xfrm>
            <a:off x="5614416" y="3246120"/>
            <a:ext cx="1600200" cy="384048"/>
          </a:xfrm>
          <a:prstGeom prst="rect">
            <a:avLst/>
          </a:prstGeom>
          <a:solidFill>
            <a:srgbClr val="1565C0">
              <a:alpha val="55000"/>
            </a:srgbClr>
          </a:solidFill>
          <a:ln/>
        </p:spPr>
      </p:sp>
      <p:sp>
        <p:nvSpPr>
          <p:cNvPr id="14" name="Text 12"/>
          <p:cNvSpPr/>
          <p:nvPr/>
        </p:nvSpPr>
        <p:spPr>
          <a:xfrm>
            <a:off x="5614416" y="3246120"/>
            <a:ext cx="16002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MPLS</a:t>
            </a:r>
            <a:endParaRPr lang="en-US" sz="1100" dirty="0"/>
          </a:p>
        </p:txBody>
      </p:sp>
      <p:sp>
        <p:nvSpPr>
          <p:cNvPr id="15" name="Shape 13"/>
          <p:cNvSpPr/>
          <p:nvPr/>
        </p:nvSpPr>
        <p:spPr>
          <a:xfrm>
            <a:off x="7333488" y="3246120"/>
            <a:ext cx="1600200" cy="384048"/>
          </a:xfrm>
          <a:prstGeom prst="rect">
            <a:avLst/>
          </a:prstGeom>
          <a:solidFill>
            <a:srgbClr val="1565C0">
              <a:alpha val="55000"/>
            </a:srgbClr>
          </a:solidFill>
          <a:ln/>
        </p:spPr>
      </p:sp>
      <p:sp>
        <p:nvSpPr>
          <p:cNvPr id="16" name="Text 14"/>
          <p:cNvSpPr/>
          <p:nvPr/>
        </p:nvSpPr>
        <p:spPr>
          <a:xfrm>
            <a:off x="7333488" y="3246120"/>
            <a:ext cx="16002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Files d'attente</a:t>
            </a:r>
            <a:endParaRPr lang="en-US" sz="1100" dirty="0"/>
          </a:p>
        </p:txBody>
      </p:sp>
      <p:sp>
        <p:nvSpPr>
          <p:cNvPr id="17" name="Shape 15"/>
          <p:cNvSpPr/>
          <p:nvPr/>
        </p:nvSpPr>
        <p:spPr>
          <a:xfrm>
            <a:off x="457200" y="3749040"/>
            <a:ext cx="1600200" cy="384048"/>
          </a:xfrm>
          <a:prstGeom prst="rect">
            <a:avLst/>
          </a:prstGeom>
          <a:solidFill>
            <a:srgbClr val="1565C0">
              <a:alpha val="55000"/>
            </a:srgbClr>
          </a:solidFill>
          <a:ln/>
        </p:spPr>
      </p:sp>
      <p:sp>
        <p:nvSpPr>
          <p:cNvPr id="18" name="Text 16"/>
          <p:cNvSpPr/>
          <p:nvPr/>
        </p:nvSpPr>
        <p:spPr>
          <a:xfrm>
            <a:off x="457200" y="3749040"/>
            <a:ext cx="16002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5G</a:t>
            </a:r>
            <a:endParaRPr lang="en-US" sz="1100" dirty="0"/>
          </a:p>
        </p:txBody>
      </p:sp>
      <p:sp>
        <p:nvSpPr>
          <p:cNvPr id="19" name="Shape 17"/>
          <p:cNvSpPr/>
          <p:nvPr/>
        </p:nvSpPr>
        <p:spPr>
          <a:xfrm>
            <a:off x="2176272" y="3749040"/>
            <a:ext cx="1600200" cy="384048"/>
          </a:xfrm>
          <a:prstGeom prst="rect">
            <a:avLst/>
          </a:prstGeom>
          <a:solidFill>
            <a:srgbClr val="1565C0">
              <a:alpha val="55000"/>
            </a:srgbClr>
          </a:solidFill>
          <a:ln/>
        </p:spPr>
      </p:sp>
      <p:sp>
        <p:nvSpPr>
          <p:cNvPr id="20" name="Text 18"/>
          <p:cNvSpPr/>
          <p:nvPr/>
        </p:nvSpPr>
        <p:spPr>
          <a:xfrm>
            <a:off x="2176272" y="3749040"/>
            <a:ext cx="16002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Cloud</a:t>
            </a:r>
            <a:endParaRPr lang="en-US" sz="1100" dirty="0"/>
          </a:p>
        </p:txBody>
      </p:sp>
      <p:sp>
        <p:nvSpPr>
          <p:cNvPr id="21" name="Shape 19"/>
          <p:cNvSpPr/>
          <p:nvPr/>
        </p:nvSpPr>
        <p:spPr>
          <a:xfrm>
            <a:off x="3895344" y="3749040"/>
            <a:ext cx="1600200" cy="384048"/>
          </a:xfrm>
          <a:prstGeom prst="rect">
            <a:avLst/>
          </a:prstGeom>
          <a:solidFill>
            <a:srgbClr val="1565C0">
              <a:alpha val="55000"/>
            </a:srgbClr>
          </a:solidFill>
          <a:ln/>
        </p:spPr>
      </p:sp>
      <p:sp>
        <p:nvSpPr>
          <p:cNvPr id="22" name="Text 20"/>
          <p:cNvSpPr/>
          <p:nvPr/>
        </p:nvSpPr>
        <p:spPr>
          <a:xfrm>
            <a:off x="3895344" y="3749040"/>
            <a:ext cx="16002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Sécurité</a:t>
            </a:r>
            <a:endParaRPr lang="en-US" sz="1100" dirty="0"/>
          </a:p>
        </p:txBody>
      </p:sp>
      <p:sp>
        <p:nvSpPr>
          <p:cNvPr id="23" name="Shape 21"/>
          <p:cNvSpPr/>
          <p:nvPr/>
        </p:nvSpPr>
        <p:spPr>
          <a:xfrm>
            <a:off x="5614416" y="3749040"/>
            <a:ext cx="1600200" cy="384048"/>
          </a:xfrm>
          <a:prstGeom prst="rect">
            <a:avLst/>
          </a:prstGeom>
          <a:solidFill>
            <a:srgbClr val="1565C0">
              <a:alpha val="55000"/>
            </a:srgbClr>
          </a:solidFill>
          <a:ln/>
        </p:spPr>
      </p:sp>
      <p:sp>
        <p:nvSpPr>
          <p:cNvPr id="24" name="Text 22"/>
          <p:cNvSpPr/>
          <p:nvPr/>
        </p:nvSpPr>
        <p:spPr>
          <a:xfrm>
            <a:off x="5614416" y="3749040"/>
            <a:ext cx="16002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Supervision</a:t>
            </a:r>
            <a:endParaRPr lang="en-US" sz="1100" dirty="0"/>
          </a:p>
        </p:txBody>
      </p:sp>
      <p:sp>
        <p:nvSpPr>
          <p:cNvPr id="25" name="Shape 23"/>
          <p:cNvSpPr/>
          <p:nvPr/>
        </p:nvSpPr>
        <p:spPr>
          <a:xfrm>
            <a:off x="0" y="4919472"/>
            <a:ext cx="9144000" cy="228600"/>
          </a:xfrm>
          <a:prstGeom prst="rect">
            <a:avLst/>
          </a:prstGeom>
          <a:solidFill>
            <a:srgbClr val="00796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Plan du cours — 9 chapitres</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320040" y="982980"/>
            <a:ext cx="2788920" cy="1170432"/>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txBody>
          <a:bodyPr/>
          <a:lstStyle/>
          <a:p>
            <a:endParaRPr lang="fr-FR" dirty="0"/>
          </a:p>
        </p:txBody>
      </p:sp>
      <p:sp>
        <p:nvSpPr>
          <p:cNvPr id="6" name="Shape 4"/>
          <p:cNvSpPr/>
          <p:nvPr/>
        </p:nvSpPr>
        <p:spPr>
          <a:xfrm>
            <a:off x="256032" y="868680"/>
            <a:ext cx="2788920" cy="438912"/>
          </a:xfrm>
          <a:prstGeom prst="rect">
            <a:avLst/>
          </a:prstGeom>
          <a:solidFill>
            <a:srgbClr val="1565C0"/>
          </a:solidFill>
          <a:ln/>
        </p:spPr>
      </p:sp>
      <p:sp>
        <p:nvSpPr>
          <p:cNvPr id="7" name="Text 5"/>
          <p:cNvSpPr/>
          <p:nvPr/>
        </p:nvSpPr>
        <p:spPr>
          <a:xfrm>
            <a:off x="256032" y="868680"/>
            <a:ext cx="45720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758952" y="886968"/>
            <a:ext cx="2212848" cy="40233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Etat de l'art des reseaux</a:t>
            </a:r>
            <a:endParaRPr lang="en-US" sz="1150" dirty="0"/>
          </a:p>
        </p:txBody>
      </p:sp>
      <p:sp>
        <p:nvSpPr>
          <p:cNvPr id="9" name="Text 7"/>
          <p:cNvSpPr/>
          <p:nvPr/>
        </p:nvSpPr>
        <p:spPr>
          <a:xfrm>
            <a:off x="347472" y="1371600"/>
            <a:ext cx="2633472" cy="594360"/>
          </a:xfrm>
          <a:prstGeom prst="rect">
            <a:avLst/>
          </a:prstGeom>
          <a:noFill/>
          <a:ln/>
        </p:spPr>
        <p:txBody>
          <a:bodyPr wrap="square" rtlCol="0" anchor="ctr"/>
          <a:lstStyle/>
          <a:p>
            <a:pPr marL="0" indent="0">
              <a:buNone/>
            </a:pPr>
            <a:r>
              <a:rPr lang="en-US" sz="1400" b="1" dirty="0">
                <a:latin typeface="Calibri" pitchFamily="34" charset="0"/>
                <a:ea typeface="Calibri" pitchFamily="34" charset="-122"/>
                <a:cs typeface="Calibri" pitchFamily="34" charset="-120"/>
              </a:rPr>
              <a:t>Medias, flux, besoins </a:t>
            </a:r>
            <a:r>
              <a:rPr lang="en-US" sz="1400" dirty="0">
                <a:latin typeface="Calibri" pitchFamily="34" charset="0"/>
                <a:ea typeface="Calibri" pitchFamily="34" charset="-122"/>
                <a:cs typeface="Calibri" pitchFamily="34" charset="-120"/>
              </a:rPr>
              <a:t>QoS</a:t>
            </a:r>
            <a:endParaRPr lang="en-US" sz="1400" dirty="0"/>
          </a:p>
        </p:txBody>
      </p:sp>
      <p:sp>
        <p:nvSpPr>
          <p:cNvPr id="10" name="Shape 8"/>
          <p:cNvSpPr/>
          <p:nvPr/>
        </p:nvSpPr>
        <p:spPr>
          <a:xfrm>
            <a:off x="3200400" y="868680"/>
            <a:ext cx="2788920" cy="1170432"/>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txBody>
          <a:bodyPr/>
          <a:lstStyle/>
          <a:p>
            <a:endParaRPr lang="fr-FR" dirty="0"/>
          </a:p>
        </p:txBody>
      </p:sp>
      <p:sp>
        <p:nvSpPr>
          <p:cNvPr id="11" name="Shape 9"/>
          <p:cNvSpPr/>
          <p:nvPr/>
        </p:nvSpPr>
        <p:spPr>
          <a:xfrm>
            <a:off x="3200400" y="868680"/>
            <a:ext cx="2788920" cy="438912"/>
          </a:xfrm>
          <a:prstGeom prst="rect">
            <a:avLst/>
          </a:prstGeom>
          <a:solidFill>
            <a:srgbClr val="00796B"/>
          </a:solidFill>
          <a:ln/>
        </p:spPr>
      </p:sp>
      <p:sp>
        <p:nvSpPr>
          <p:cNvPr id="12" name="Text 10"/>
          <p:cNvSpPr/>
          <p:nvPr/>
        </p:nvSpPr>
        <p:spPr>
          <a:xfrm>
            <a:off x="3200400" y="868680"/>
            <a:ext cx="45720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3" name="Text 11"/>
          <p:cNvSpPr/>
          <p:nvPr/>
        </p:nvSpPr>
        <p:spPr>
          <a:xfrm>
            <a:off x="3703320" y="886968"/>
            <a:ext cx="2212848" cy="40233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Notions de QoS</a:t>
            </a:r>
            <a:endParaRPr lang="en-US" sz="1150" dirty="0"/>
          </a:p>
        </p:txBody>
      </p:sp>
      <p:sp>
        <p:nvSpPr>
          <p:cNvPr id="14" name="Text 12"/>
          <p:cNvSpPr/>
          <p:nvPr/>
        </p:nvSpPr>
        <p:spPr>
          <a:xfrm>
            <a:off x="3291840" y="1371600"/>
            <a:ext cx="2633472" cy="594360"/>
          </a:xfrm>
          <a:prstGeom prst="rect">
            <a:avLst/>
          </a:prstGeom>
          <a:noFill/>
          <a:ln/>
        </p:spPr>
        <p:txBody>
          <a:bodyPr wrap="square" rtlCol="0" anchor="ctr"/>
          <a:lstStyle/>
          <a:p>
            <a:pPr marL="0" indent="0">
              <a:buNone/>
            </a:pPr>
            <a:r>
              <a:rPr lang="en-US" sz="1100" b="1" dirty="0">
                <a:latin typeface="Calibri" pitchFamily="34" charset="0"/>
                <a:ea typeface="Calibri" pitchFamily="34" charset="-122"/>
                <a:cs typeface="Calibri" pitchFamily="34" charset="-120"/>
              </a:rPr>
              <a:t>Indicateurs, parametres fondamentaux</a:t>
            </a:r>
            <a:endParaRPr lang="en-US" sz="1100" b="1" dirty="0"/>
          </a:p>
        </p:txBody>
      </p:sp>
      <p:sp>
        <p:nvSpPr>
          <p:cNvPr id="15" name="Shape 13"/>
          <p:cNvSpPr/>
          <p:nvPr/>
        </p:nvSpPr>
        <p:spPr>
          <a:xfrm>
            <a:off x="6144768" y="868680"/>
            <a:ext cx="2788920" cy="1170432"/>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16" name="Shape 14"/>
          <p:cNvSpPr/>
          <p:nvPr/>
        </p:nvSpPr>
        <p:spPr>
          <a:xfrm>
            <a:off x="6144768" y="868680"/>
            <a:ext cx="2788920" cy="438912"/>
          </a:xfrm>
          <a:prstGeom prst="rect">
            <a:avLst/>
          </a:prstGeom>
          <a:solidFill>
            <a:srgbClr val="E65100"/>
          </a:solidFill>
          <a:ln/>
        </p:spPr>
      </p:sp>
      <p:sp>
        <p:nvSpPr>
          <p:cNvPr id="17" name="Text 15"/>
          <p:cNvSpPr/>
          <p:nvPr/>
        </p:nvSpPr>
        <p:spPr>
          <a:xfrm>
            <a:off x="6144768" y="868680"/>
            <a:ext cx="45720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8" name="Text 16"/>
          <p:cNvSpPr/>
          <p:nvPr/>
        </p:nvSpPr>
        <p:spPr>
          <a:xfrm>
            <a:off x="6647688" y="886968"/>
            <a:ext cx="2212848" cy="40233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Approches de QoS</a:t>
            </a:r>
            <a:endParaRPr lang="en-US" sz="1150" dirty="0"/>
          </a:p>
        </p:txBody>
      </p:sp>
      <p:sp>
        <p:nvSpPr>
          <p:cNvPr id="19" name="Text 17"/>
          <p:cNvSpPr/>
          <p:nvPr/>
        </p:nvSpPr>
        <p:spPr>
          <a:xfrm>
            <a:off x="6236208" y="1371600"/>
            <a:ext cx="2633472" cy="59436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Best Effort, IntServ, DiffServ, MPLS</a:t>
            </a:r>
            <a:endParaRPr lang="en-US" sz="1200" b="1" dirty="0"/>
          </a:p>
        </p:txBody>
      </p:sp>
      <p:sp>
        <p:nvSpPr>
          <p:cNvPr id="20" name="Shape 18"/>
          <p:cNvSpPr/>
          <p:nvPr/>
        </p:nvSpPr>
        <p:spPr>
          <a:xfrm>
            <a:off x="256032" y="2167128"/>
            <a:ext cx="2788920" cy="1170432"/>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21" name="Shape 19"/>
          <p:cNvSpPr/>
          <p:nvPr/>
        </p:nvSpPr>
        <p:spPr>
          <a:xfrm>
            <a:off x="256032" y="2167128"/>
            <a:ext cx="2788920" cy="438912"/>
          </a:xfrm>
          <a:prstGeom prst="rect">
            <a:avLst/>
          </a:prstGeom>
          <a:solidFill>
            <a:srgbClr val="2E7D32"/>
          </a:solidFill>
          <a:ln/>
        </p:spPr>
      </p:sp>
      <p:sp>
        <p:nvSpPr>
          <p:cNvPr id="22" name="Text 20"/>
          <p:cNvSpPr/>
          <p:nvPr/>
        </p:nvSpPr>
        <p:spPr>
          <a:xfrm>
            <a:off x="256032" y="2167128"/>
            <a:ext cx="45720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3" name="Text 21"/>
          <p:cNvSpPr/>
          <p:nvPr/>
        </p:nvSpPr>
        <p:spPr>
          <a:xfrm>
            <a:off x="758952" y="2185416"/>
            <a:ext cx="2212848" cy="40233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QoS et couches OSI</a:t>
            </a:r>
            <a:endParaRPr lang="en-US" sz="1150" dirty="0"/>
          </a:p>
        </p:txBody>
      </p:sp>
      <p:sp>
        <p:nvSpPr>
          <p:cNvPr id="24" name="Text 22"/>
          <p:cNvSpPr/>
          <p:nvPr/>
        </p:nvSpPr>
        <p:spPr>
          <a:xfrm>
            <a:off x="347472" y="2670048"/>
            <a:ext cx="2633472" cy="59436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Mecanismes par couche, SLA</a:t>
            </a:r>
            <a:endParaRPr lang="en-US" sz="1200" b="1" dirty="0"/>
          </a:p>
        </p:txBody>
      </p:sp>
      <p:sp>
        <p:nvSpPr>
          <p:cNvPr id="25" name="Shape 23"/>
          <p:cNvSpPr/>
          <p:nvPr/>
        </p:nvSpPr>
        <p:spPr>
          <a:xfrm>
            <a:off x="3200400" y="2167128"/>
            <a:ext cx="2788920" cy="1170432"/>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26" name="Shape 24"/>
          <p:cNvSpPr/>
          <p:nvPr/>
        </p:nvSpPr>
        <p:spPr>
          <a:xfrm>
            <a:off x="3200400" y="2167128"/>
            <a:ext cx="2788920" cy="438912"/>
          </a:xfrm>
          <a:prstGeom prst="rect">
            <a:avLst/>
          </a:prstGeom>
          <a:solidFill>
            <a:srgbClr val="4527A0"/>
          </a:solidFill>
          <a:ln/>
        </p:spPr>
      </p:sp>
      <p:sp>
        <p:nvSpPr>
          <p:cNvPr id="27" name="Text 25"/>
          <p:cNvSpPr/>
          <p:nvPr/>
        </p:nvSpPr>
        <p:spPr>
          <a:xfrm>
            <a:off x="3200400" y="2167128"/>
            <a:ext cx="45720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8" name="Text 26"/>
          <p:cNvSpPr/>
          <p:nvPr/>
        </p:nvSpPr>
        <p:spPr>
          <a:xfrm>
            <a:off x="3703320" y="2185416"/>
            <a:ext cx="2212848" cy="40233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Token Bucket &amp; Leaky Bucket</a:t>
            </a:r>
            <a:endParaRPr lang="en-US" sz="1150" dirty="0"/>
          </a:p>
        </p:txBody>
      </p:sp>
      <p:sp>
        <p:nvSpPr>
          <p:cNvPr id="29" name="Text 27"/>
          <p:cNvSpPr/>
          <p:nvPr/>
        </p:nvSpPr>
        <p:spPr>
          <a:xfrm>
            <a:off x="3291840" y="2670048"/>
            <a:ext cx="2633472" cy="59436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Controle du trafic entrant</a:t>
            </a:r>
            <a:endParaRPr lang="en-US" sz="1200" b="1" dirty="0"/>
          </a:p>
        </p:txBody>
      </p:sp>
      <p:sp>
        <p:nvSpPr>
          <p:cNvPr id="30" name="Shape 28"/>
          <p:cNvSpPr/>
          <p:nvPr/>
        </p:nvSpPr>
        <p:spPr>
          <a:xfrm>
            <a:off x="6144768" y="2167128"/>
            <a:ext cx="2788920" cy="1170432"/>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31" name="Shape 29"/>
          <p:cNvSpPr/>
          <p:nvPr/>
        </p:nvSpPr>
        <p:spPr>
          <a:xfrm>
            <a:off x="6144768" y="2167128"/>
            <a:ext cx="2788920" cy="438912"/>
          </a:xfrm>
          <a:prstGeom prst="rect">
            <a:avLst/>
          </a:prstGeom>
          <a:solidFill>
            <a:srgbClr val="C62828"/>
          </a:solidFill>
          <a:ln/>
        </p:spPr>
      </p:sp>
      <p:sp>
        <p:nvSpPr>
          <p:cNvPr id="32" name="Text 30"/>
          <p:cNvSpPr/>
          <p:nvPr/>
        </p:nvSpPr>
        <p:spPr>
          <a:xfrm>
            <a:off x="6144768" y="2167128"/>
            <a:ext cx="45720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33" name="Text 31"/>
          <p:cNvSpPr/>
          <p:nvPr/>
        </p:nvSpPr>
        <p:spPr>
          <a:xfrm>
            <a:off x="6647688" y="2185416"/>
            <a:ext cx="2212848" cy="40233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Gestion des files d'attente</a:t>
            </a:r>
            <a:endParaRPr lang="en-US" sz="1150" dirty="0"/>
          </a:p>
        </p:txBody>
      </p:sp>
      <p:sp>
        <p:nvSpPr>
          <p:cNvPr id="34" name="Text 32"/>
          <p:cNvSpPr/>
          <p:nvPr/>
        </p:nvSpPr>
        <p:spPr>
          <a:xfrm>
            <a:off x="6236208" y="2670048"/>
            <a:ext cx="2633472" cy="59436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FIFO, RED, WRED, Scheduling</a:t>
            </a:r>
            <a:endParaRPr lang="en-US" sz="1200" b="1" dirty="0"/>
          </a:p>
        </p:txBody>
      </p:sp>
      <p:sp>
        <p:nvSpPr>
          <p:cNvPr id="35" name="Shape 33"/>
          <p:cNvSpPr/>
          <p:nvPr/>
        </p:nvSpPr>
        <p:spPr>
          <a:xfrm>
            <a:off x="256032" y="3465576"/>
            <a:ext cx="2788920" cy="1170432"/>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36" name="Shape 34"/>
          <p:cNvSpPr/>
          <p:nvPr/>
        </p:nvSpPr>
        <p:spPr>
          <a:xfrm>
            <a:off x="256032" y="3465576"/>
            <a:ext cx="2788920" cy="438912"/>
          </a:xfrm>
          <a:prstGeom prst="rect">
            <a:avLst/>
          </a:prstGeom>
          <a:solidFill>
            <a:srgbClr val="F57F17"/>
          </a:solidFill>
          <a:ln/>
        </p:spPr>
      </p:sp>
      <p:sp>
        <p:nvSpPr>
          <p:cNvPr id="37" name="Text 35"/>
          <p:cNvSpPr/>
          <p:nvPr/>
        </p:nvSpPr>
        <p:spPr>
          <a:xfrm>
            <a:off x="256032" y="3465576"/>
            <a:ext cx="45720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38" name="Text 36"/>
          <p:cNvSpPr/>
          <p:nvPr/>
        </p:nvSpPr>
        <p:spPr>
          <a:xfrm>
            <a:off x="758952" y="3483864"/>
            <a:ext cx="2212848" cy="40233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Parametres et mesures QoS</a:t>
            </a:r>
            <a:endParaRPr lang="en-US" sz="1150" dirty="0"/>
          </a:p>
        </p:txBody>
      </p:sp>
      <p:sp>
        <p:nvSpPr>
          <p:cNvPr id="39" name="Text 37"/>
          <p:cNvSpPr/>
          <p:nvPr/>
        </p:nvSpPr>
        <p:spPr>
          <a:xfrm>
            <a:off x="347472" y="3968496"/>
            <a:ext cx="2633472" cy="59436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Degradation, remedes, MOS</a:t>
            </a:r>
            <a:endParaRPr lang="en-US" sz="1200" b="1" dirty="0"/>
          </a:p>
        </p:txBody>
      </p:sp>
      <p:sp>
        <p:nvSpPr>
          <p:cNvPr id="40" name="Shape 38"/>
          <p:cNvSpPr/>
          <p:nvPr/>
        </p:nvSpPr>
        <p:spPr>
          <a:xfrm>
            <a:off x="3200400" y="3465576"/>
            <a:ext cx="2788920" cy="1170432"/>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41" name="Shape 39"/>
          <p:cNvSpPr/>
          <p:nvPr/>
        </p:nvSpPr>
        <p:spPr>
          <a:xfrm>
            <a:off x="3200400" y="3465576"/>
            <a:ext cx="2788920" cy="438912"/>
          </a:xfrm>
          <a:prstGeom prst="rect">
            <a:avLst/>
          </a:prstGeom>
          <a:solidFill>
            <a:srgbClr val="00796B"/>
          </a:solidFill>
          <a:ln/>
        </p:spPr>
      </p:sp>
      <p:sp>
        <p:nvSpPr>
          <p:cNvPr id="42" name="Text 40"/>
          <p:cNvSpPr/>
          <p:nvPr/>
        </p:nvSpPr>
        <p:spPr>
          <a:xfrm>
            <a:off x="3200400" y="3465576"/>
            <a:ext cx="45720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08</a:t>
            </a:r>
            <a:endParaRPr lang="en-US" sz="1400" dirty="0"/>
          </a:p>
        </p:txBody>
      </p:sp>
      <p:sp>
        <p:nvSpPr>
          <p:cNvPr id="43" name="Text 41"/>
          <p:cNvSpPr/>
          <p:nvPr/>
        </p:nvSpPr>
        <p:spPr>
          <a:xfrm>
            <a:off x="3703320" y="3483864"/>
            <a:ext cx="2212848" cy="40233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Reseaux modernes</a:t>
            </a:r>
            <a:endParaRPr lang="en-US" sz="1150" dirty="0"/>
          </a:p>
        </p:txBody>
      </p:sp>
      <p:sp>
        <p:nvSpPr>
          <p:cNvPr id="44" name="Text 42"/>
          <p:cNvSpPr/>
          <p:nvPr/>
        </p:nvSpPr>
        <p:spPr>
          <a:xfrm>
            <a:off x="3291840" y="3968496"/>
            <a:ext cx="2633472" cy="59436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Wi-Fi, 5G, Cloud, SDN/NFV</a:t>
            </a:r>
            <a:endParaRPr lang="en-US" sz="1200" b="1" dirty="0"/>
          </a:p>
        </p:txBody>
      </p:sp>
      <p:sp>
        <p:nvSpPr>
          <p:cNvPr id="45" name="Shape 43"/>
          <p:cNvSpPr/>
          <p:nvPr/>
        </p:nvSpPr>
        <p:spPr>
          <a:xfrm>
            <a:off x="6144768" y="3465576"/>
            <a:ext cx="2788920" cy="1170432"/>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46" name="Shape 44"/>
          <p:cNvSpPr/>
          <p:nvPr/>
        </p:nvSpPr>
        <p:spPr>
          <a:xfrm>
            <a:off x="6144768" y="3465576"/>
            <a:ext cx="2788920" cy="438912"/>
          </a:xfrm>
          <a:prstGeom prst="rect">
            <a:avLst/>
          </a:prstGeom>
          <a:solidFill>
            <a:srgbClr val="0D1B2A"/>
          </a:solidFill>
          <a:ln/>
        </p:spPr>
      </p:sp>
      <p:sp>
        <p:nvSpPr>
          <p:cNvPr id="47" name="Text 45"/>
          <p:cNvSpPr/>
          <p:nvPr/>
        </p:nvSpPr>
        <p:spPr>
          <a:xfrm>
            <a:off x="6144768" y="3465576"/>
            <a:ext cx="45720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09</a:t>
            </a:r>
            <a:endParaRPr lang="en-US" sz="1400" dirty="0"/>
          </a:p>
        </p:txBody>
      </p:sp>
      <p:sp>
        <p:nvSpPr>
          <p:cNvPr id="48" name="Text 46"/>
          <p:cNvSpPr/>
          <p:nvPr/>
        </p:nvSpPr>
        <p:spPr>
          <a:xfrm>
            <a:off x="6647688" y="3483864"/>
            <a:ext cx="2212848" cy="40233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Securite &amp; Supervision</a:t>
            </a:r>
            <a:endParaRPr lang="en-US" sz="1150" dirty="0"/>
          </a:p>
        </p:txBody>
      </p:sp>
      <p:sp>
        <p:nvSpPr>
          <p:cNvPr id="49" name="Text 47"/>
          <p:cNvSpPr/>
          <p:nvPr/>
        </p:nvSpPr>
        <p:spPr>
          <a:xfrm>
            <a:off x="6236208" y="3968496"/>
            <a:ext cx="2633472" cy="59436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DDoS, chiffrement, Ping, TWAMP</a:t>
            </a:r>
            <a:endParaRPr lang="en-US" sz="12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1565C0"/>
          </a:solidFill>
          <a:ln/>
        </p:spPr>
      </p:sp>
      <p:sp>
        <p:nvSpPr>
          <p:cNvPr id="3" name="Text 1"/>
          <p:cNvSpPr/>
          <p:nvPr/>
        </p:nvSpPr>
        <p:spPr>
          <a:xfrm>
            <a:off x="502920" y="548640"/>
            <a:ext cx="2286000" cy="1371600"/>
          </a:xfrm>
          <a:prstGeom prst="rect">
            <a:avLst/>
          </a:prstGeom>
          <a:noFill/>
          <a:ln/>
        </p:spPr>
        <p:txBody>
          <a:bodyPr wrap="square" rtlCol="0" anchor="ctr"/>
          <a:lstStyle/>
          <a:p>
            <a:pPr marL="0" indent="0">
              <a:buNone/>
            </a:pPr>
            <a:r>
              <a:rPr lang="en-US" sz="7200" b="1" dirty="0">
                <a:solidFill>
                  <a:srgbClr val="1565C0">
                    <a:alpha val="75000"/>
                  </a:srgbClr>
                </a:solidFill>
                <a:latin typeface="Calibri" pitchFamily="34" charset="0"/>
                <a:ea typeface="Calibri" pitchFamily="34" charset="-122"/>
                <a:cs typeface="Calibri" pitchFamily="34" charset="-120"/>
              </a:rPr>
              <a:t>01</a:t>
            </a:r>
            <a:endParaRPr lang="en-US" sz="7200" dirty="0"/>
          </a:p>
        </p:txBody>
      </p:sp>
      <p:sp>
        <p:nvSpPr>
          <p:cNvPr id="4" name="Text 2"/>
          <p:cNvSpPr/>
          <p:nvPr/>
        </p:nvSpPr>
        <p:spPr>
          <a:xfrm>
            <a:off x="502920" y="1828800"/>
            <a:ext cx="8321040" cy="8229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Etat de l'art des reseaux</a:t>
            </a:r>
            <a:endParaRPr lang="en-US" sz="3400" dirty="0"/>
          </a:p>
        </p:txBody>
      </p:sp>
      <p:sp>
        <p:nvSpPr>
          <p:cNvPr id="5" name="Text 3"/>
          <p:cNvSpPr/>
          <p:nvPr/>
        </p:nvSpPr>
        <p:spPr>
          <a:xfrm>
            <a:off x="502920" y="2697480"/>
            <a:ext cx="8229600" cy="457200"/>
          </a:xfrm>
          <a:prstGeom prst="rect">
            <a:avLst/>
          </a:prstGeom>
          <a:noFill/>
          <a:ln/>
        </p:spPr>
        <p:txBody>
          <a:bodyPr wrap="square" rtlCol="0" anchor="ctr"/>
          <a:lstStyle/>
          <a:p>
            <a:pPr marL="0" indent="0">
              <a:buNone/>
            </a:pPr>
            <a:r>
              <a:rPr lang="en-US" sz="1400" i="1" dirty="0">
                <a:solidFill>
                  <a:srgbClr val="BDBDBD"/>
                </a:solidFill>
                <a:latin typeface="Calibri" pitchFamily="34" charset="0"/>
                <a:ea typeface="Calibri" pitchFamily="34" charset="-122"/>
                <a:cs typeface="Calibri" pitchFamily="34" charset="-120"/>
              </a:rPr>
              <a:t>IP Best Effort · Medias · Besoins QoS</a:t>
            </a:r>
            <a:endParaRPr lang="en-US" sz="1400" dirty="0"/>
          </a:p>
        </p:txBody>
      </p:sp>
      <p:sp>
        <p:nvSpPr>
          <p:cNvPr id="6" name="Shape 4"/>
          <p:cNvSpPr/>
          <p:nvPr/>
        </p:nvSpPr>
        <p:spPr>
          <a:xfrm>
            <a:off x="0" y="4919472"/>
            <a:ext cx="9144000" cy="228600"/>
          </a:xfrm>
          <a:prstGeom prst="rect">
            <a:avLst/>
          </a:prstGeom>
          <a:solidFill>
            <a:srgbClr val="1565C0"/>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Internet classique — Le reseau IP ne fait aucune distinction</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320040"/>
          </a:xfrm>
          <a:prstGeom prst="rect">
            <a:avLst/>
          </a:prstGeom>
          <a:noFill/>
          <a:ln/>
        </p:spPr>
        <p:txBody>
          <a:bodyPr wrap="square" rtlCol="0" anchor="ctr"/>
          <a:lstStyle/>
          <a:p>
            <a:pPr marL="0" indent="0">
              <a:buNone/>
            </a:pPr>
            <a:r>
              <a:rPr lang="en-US" sz="1200" b="1" i="1" dirty="0">
                <a:latin typeface="Calibri" pitchFamily="34" charset="0"/>
                <a:ea typeface="Calibri" pitchFamily="34" charset="-122"/>
                <a:cs typeface="Calibri" pitchFamily="34" charset="-120"/>
              </a:rPr>
              <a:t>Sur Internet, tous les paquets sont traites de la meme facon — c'est le 'Best Effort' </a:t>
            </a:r>
            <a:r>
              <a:rPr lang="en-US" sz="1150" i="1" dirty="0">
                <a:solidFill>
                  <a:srgbClr val="757575"/>
                </a:solidFill>
                <a:latin typeface="Calibri" pitchFamily="34" charset="0"/>
                <a:ea typeface="Calibri" pitchFamily="34" charset="-122"/>
                <a:cs typeface="Calibri" pitchFamily="34" charset="-120"/>
              </a:rPr>
              <a:t>:</a:t>
            </a:r>
            <a:endParaRPr lang="en-US" sz="1150" dirty="0"/>
          </a:p>
        </p:txBody>
      </p:sp>
      <p:sp>
        <p:nvSpPr>
          <p:cNvPr id="6" name="Shape 4"/>
          <p:cNvSpPr/>
          <p:nvPr/>
        </p:nvSpPr>
        <p:spPr>
          <a:xfrm>
            <a:off x="256032" y="1234440"/>
            <a:ext cx="4206240" cy="1115568"/>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7" name="Shape 5"/>
          <p:cNvSpPr/>
          <p:nvPr/>
        </p:nvSpPr>
        <p:spPr>
          <a:xfrm>
            <a:off x="256032" y="1234440"/>
            <a:ext cx="4206240" cy="54864"/>
          </a:xfrm>
          <a:prstGeom prst="rect">
            <a:avLst/>
          </a:prstGeom>
          <a:solidFill>
            <a:srgbClr val="C62828"/>
          </a:solidFill>
          <a:ln/>
        </p:spPr>
      </p:sp>
      <p:sp>
        <p:nvSpPr>
          <p:cNvPr id="8" name="Text 6"/>
          <p:cNvSpPr/>
          <p:nvPr/>
        </p:nvSpPr>
        <p:spPr>
          <a:xfrm>
            <a:off x="374904" y="1325880"/>
            <a:ext cx="3977640" cy="320040"/>
          </a:xfrm>
          <a:prstGeom prst="rect">
            <a:avLst/>
          </a:prstGeom>
          <a:noFill/>
          <a:ln/>
        </p:spPr>
        <p:txBody>
          <a:bodyPr wrap="square" rtlCol="0" anchor="ctr"/>
          <a:lstStyle/>
          <a:p>
            <a:pPr marL="0" indent="0">
              <a:buNone/>
            </a:pPr>
            <a:r>
              <a:rPr lang="en-US" sz="1250" b="1" dirty="0">
                <a:solidFill>
                  <a:srgbClr val="C62828"/>
                </a:solidFill>
                <a:latin typeface="Calibri" pitchFamily="34" charset="0"/>
                <a:ea typeface="Calibri" pitchFamily="34" charset="-122"/>
                <a:cs typeface="Calibri" pitchFamily="34" charset="-120"/>
              </a:rPr>
              <a:t>Aucune reservation</a:t>
            </a:r>
            <a:endParaRPr lang="en-US" sz="1250" dirty="0"/>
          </a:p>
        </p:txBody>
      </p:sp>
      <p:sp>
        <p:nvSpPr>
          <p:cNvPr id="9" name="Text 7"/>
          <p:cNvSpPr/>
          <p:nvPr/>
        </p:nvSpPr>
        <p:spPr>
          <a:xfrm>
            <a:off x="374904" y="1673352"/>
            <a:ext cx="3977640" cy="585216"/>
          </a:xfrm>
          <a:prstGeom prst="rect">
            <a:avLst/>
          </a:prstGeom>
          <a:noFill/>
          <a:ln/>
        </p:spPr>
        <p:txBody>
          <a:bodyPr wrap="square" rtlCol="0" anchor="t"/>
          <a:lstStyle/>
          <a:p>
            <a:pPr marL="0" indent="0">
              <a:buNone/>
            </a:pPr>
            <a:r>
              <a:rPr lang="en-US" sz="1200" b="1" dirty="0">
                <a:latin typeface="Calibri" pitchFamily="34" charset="0"/>
                <a:ea typeface="Calibri" pitchFamily="34" charset="-122"/>
                <a:cs typeface="Calibri" pitchFamily="34" charset="-120"/>
              </a:rPr>
              <a:t>Aucune ressource n est reservee a l avance pour votre appel ou votre video.</a:t>
            </a:r>
            <a:endParaRPr lang="en-US" sz="1200" b="1" dirty="0"/>
          </a:p>
        </p:txBody>
      </p:sp>
      <p:sp>
        <p:nvSpPr>
          <p:cNvPr id="10" name="Shape 8"/>
          <p:cNvSpPr/>
          <p:nvPr/>
        </p:nvSpPr>
        <p:spPr>
          <a:xfrm>
            <a:off x="4718304" y="1234440"/>
            <a:ext cx="4206240" cy="1115568"/>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11" name="Shape 9"/>
          <p:cNvSpPr/>
          <p:nvPr/>
        </p:nvSpPr>
        <p:spPr>
          <a:xfrm>
            <a:off x="4718304" y="1234440"/>
            <a:ext cx="4206240" cy="54864"/>
          </a:xfrm>
          <a:prstGeom prst="rect">
            <a:avLst/>
          </a:prstGeom>
          <a:solidFill>
            <a:srgbClr val="E65100"/>
          </a:solidFill>
          <a:ln/>
        </p:spPr>
      </p:sp>
      <p:sp>
        <p:nvSpPr>
          <p:cNvPr id="12" name="Text 10"/>
          <p:cNvSpPr/>
          <p:nvPr/>
        </p:nvSpPr>
        <p:spPr>
          <a:xfrm>
            <a:off x="4837176" y="1325880"/>
            <a:ext cx="3977640" cy="320040"/>
          </a:xfrm>
          <a:prstGeom prst="rect">
            <a:avLst/>
          </a:prstGeom>
          <a:noFill/>
          <a:ln/>
        </p:spPr>
        <p:txBody>
          <a:bodyPr wrap="square" rtlCol="0" anchor="ctr"/>
          <a:lstStyle/>
          <a:p>
            <a:pPr marL="0" indent="0">
              <a:buNone/>
            </a:pPr>
            <a:r>
              <a:rPr lang="en-US" sz="1250" b="1" dirty="0">
                <a:solidFill>
                  <a:srgbClr val="E65100"/>
                </a:solidFill>
                <a:latin typeface="Calibri" pitchFamily="34" charset="0"/>
                <a:ea typeface="Calibri" pitchFamily="34" charset="-122"/>
                <a:cs typeface="Calibri" pitchFamily="34" charset="-120"/>
              </a:rPr>
              <a:t>Pas de priorite</a:t>
            </a:r>
            <a:endParaRPr lang="en-US" sz="1250" dirty="0"/>
          </a:p>
        </p:txBody>
      </p:sp>
      <p:sp>
        <p:nvSpPr>
          <p:cNvPr id="13" name="Text 11"/>
          <p:cNvSpPr/>
          <p:nvPr/>
        </p:nvSpPr>
        <p:spPr>
          <a:xfrm>
            <a:off x="4837176" y="1673352"/>
            <a:ext cx="3977640" cy="585216"/>
          </a:xfrm>
          <a:prstGeom prst="rect">
            <a:avLst/>
          </a:prstGeom>
          <a:noFill/>
          <a:ln/>
        </p:spPr>
        <p:txBody>
          <a:bodyPr wrap="square" rtlCol="0" anchor="t"/>
          <a:lstStyle/>
          <a:p>
            <a:pPr marL="0" indent="0">
              <a:buNone/>
            </a:pPr>
            <a:r>
              <a:rPr lang="en-US" sz="1200" b="1" dirty="0">
                <a:latin typeface="Calibri" pitchFamily="34" charset="0"/>
                <a:ea typeface="Calibri" pitchFamily="34" charset="-122"/>
                <a:cs typeface="Calibri" pitchFamily="34" charset="-120"/>
              </a:rPr>
              <a:t>Un telechargement FTP et un appel VoIP ont exactement le meme traitement.</a:t>
            </a:r>
            <a:endParaRPr lang="en-US" sz="1200" b="1" dirty="0"/>
          </a:p>
        </p:txBody>
      </p:sp>
      <p:sp>
        <p:nvSpPr>
          <p:cNvPr id="14" name="Shape 12"/>
          <p:cNvSpPr/>
          <p:nvPr/>
        </p:nvSpPr>
        <p:spPr>
          <a:xfrm>
            <a:off x="263983" y="2441448"/>
            <a:ext cx="4206240" cy="1115568"/>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15" name="Shape 13"/>
          <p:cNvSpPr/>
          <p:nvPr/>
        </p:nvSpPr>
        <p:spPr>
          <a:xfrm>
            <a:off x="256032" y="2441448"/>
            <a:ext cx="4206240" cy="54864"/>
          </a:xfrm>
          <a:prstGeom prst="rect">
            <a:avLst/>
          </a:prstGeom>
          <a:solidFill>
            <a:srgbClr val="F57F17"/>
          </a:solidFill>
          <a:ln/>
        </p:spPr>
      </p:sp>
      <p:sp>
        <p:nvSpPr>
          <p:cNvPr id="16" name="Text 14"/>
          <p:cNvSpPr/>
          <p:nvPr/>
        </p:nvSpPr>
        <p:spPr>
          <a:xfrm>
            <a:off x="374904" y="2532888"/>
            <a:ext cx="3977640" cy="320040"/>
          </a:xfrm>
          <a:prstGeom prst="rect">
            <a:avLst/>
          </a:prstGeom>
          <a:noFill/>
          <a:ln/>
        </p:spPr>
        <p:txBody>
          <a:bodyPr wrap="square" rtlCol="0" anchor="ctr"/>
          <a:lstStyle/>
          <a:p>
            <a:pPr marL="0" indent="0">
              <a:buNone/>
            </a:pPr>
            <a:r>
              <a:rPr lang="en-US" sz="1250" b="1" dirty="0">
                <a:solidFill>
                  <a:srgbClr val="F57F17"/>
                </a:solidFill>
                <a:latin typeface="Calibri" pitchFamily="34" charset="0"/>
                <a:ea typeface="Calibri" pitchFamily="34" charset="-122"/>
                <a:cs typeface="Calibri" pitchFamily="34" charset="-120"/>
              </a:rPr>
              <a:t>Pas de controle d admission</a:t>
            </a:r>
            <a:endParaRPr lang="en-US" sz="1250" dirty="0"/>
          </a:p>
        </p:txBody>
      </p:sp>
      <p:sp>
        <p:nvSpPr>
          <p:cNvPr id="17" name="Text 15"/>
          <p:cNvSpPr/>
          <p:nvPr/>
        </p:nvSpPr>
        <p:spPr>
          <a:xfrm>
            <a:off x="374904" y="2880360"/>
            <a:ext cx="3977640" cy="585216"/>
          </a:xfrm>
          <a:prstGeom prst="rect">
            <a:avLst/>
          </a:prstGeom>
          <a:noFill/>
          <a:ln/>
        </p:spPr>
        <p:txBody>
          <a:bodyPr wrap="square" rtlCol="0" anchor="t"/>
          <a:lstStyle/>
          <a:p>
            <a:pPr marL="0" indent="0">
              <a:buNone/>
            </a:pPr>
            <a:r>
              <a:rPr lang="en-US" sz="1200" b="1" dirty="0">
                <a:latin typeface="Calibri" pitchFamily="34" charset="0"/>
                <a:ea typeface="Calibri" pitchFamily="34" charset="-122"/>
                <a:cs typeface="Calibri" pitchFamily="34" charset="-120"/>
              </a:rPr>
              <a:t>Tout paquet entrant est accepte, meme quand le reseau est sature</a:t>
            </a:r>
            <a:r>
              <a:rPr lang="en-US" sz="1050" dirty="0">
                <a:solidFill>
                  <a:srgbClr val="212121"/>
                </a:solidFill>
                <a:latin typeface="Calibri" pitchFamily="34" charset="0"/>
                <a:ea typeface="Calibri" pitchFamily="34" charset="-122"/>
                <a:cs typeface="Calibri" pitchFamily="34" charset="-120"/>
              </a:rPr>
              <a:t>.</a:t>
            </a:r>
            <a:endParaRPr lang="en-US" sz="1050" dirty="0"/>
          </a:p>
        </p:txBody>
      </p:sp>
      <p:sp>
        <p:nvSpPr>
          <p:cNvPr id="18" name="Shape 16"/>
          <p:cNvSpPr/>
          <p:nvPr/>
        </p:nvSpPr>
        <p:spPr>
          <a:xfrm>
            <a:off x="4718304" y="2441448"/>
            <a:ext cx="4206240" cy="1115568"/>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19" name="Shape 17"/>
          <p:cNvSpPr/>
          <p:nvPr/>
        </p:nvSpPr>
        <p:spPr>
          <a:xfrm>
            <a:off x="4718304" y="2441448"/>
            <a:ext cx="4206240" cy="54864"/>
          </a:xfrm>
          <a:prstGeom prst="rect">
            <a:avLst/>
          </a:prstGeom>
          <a:solidFill>
            <a:srgbClr val="1565C0"/>
          </a:solidFill>
          <a:ln/>
        </p:spPr>
      </p:sp>
      <p:sp>
        <p:nvSpPr>
          <p:cNvPr id="20" name="Text 18"/>
          <p:cNvSpPr/>
          <p:nvPr/>
        </p:nvSpPr>
        <p:spPr>
          <a:xfrm>
            <a:off x="4837176" y="2532888"/>
            <a:ext cx="3977640" cy="320040"/>
          </a:xfrm>
          <a:prstGeom prst="rect">
            <a:avLst/>
          </a:prstGeom>
          <a:noFill/>
          <a:ln/>
        </p:spPr>
        <p:txBody>
          <a:bodyPr wrap="square" rtlCol="0" anchor="ctr"/>
          <a:lstStyle/>
          <a:p>
            <a:pPr marL="0" indent="0">
              <a:buNone/>
            </a:pPr>
            <a:r>
              <a:rPr lang="en-US" sz="1250" b="1" dirty="0">
                <a:solidFill>
                  <a:srgbClr val="1565C0"/>
                </a:solidFill>
                <a:latin typeface="Calibri" pitchFamily="34" charset="0"/>
                <a:ea typeface="Calibri" pitchFamily="34" charset="-122"/>
                <a:cs typeface="Calibri" pitchFamily="34" charset="-120"/>
              </a:rPr>
              <a:t>Pas de garantie de delai</a:t>
            </a:r>
            <a:endParaRPr lang="en-US" sz="1250" dirty="0"/>
          </a:p>
        </p:txBody>
      </p:sp>
      <p:sp>
        <p:nvSpPr>
          <p:cNvPr id="21" name="Text 19"/>
          <p:cNvSpPr/>
          <p:nvPr/>
        </p:nvSpPr>
        <p:spPr>
          <a:xfrm>
            <a:off x="4837176" y="2880360"/>
            <a:ext cx="3977640" cy="585216"/>
          </a:xfrm>
          <a:prstGeom prst="rect">
            <a:avLst/>
          </a:prstGeom>
          <a:noFill/>
          <a:ln/>
        </p:spPr>
        <p:txBody>
          <a:bodyPr wrap="square" rtlCol="0" anchor="t"/>
          <a:lstStyle/>
          <a:p>
            <a:pPr marL="0" indent="0">
              <a:buNone/>
            </a:pPr>
            <a:r>
              <a:rPr lang="en-US" sz="1200" b="1" dirty="0">
                <a:latin typeface="Calibri" pitchFamily="34" charset="0"/>
                <a:ea typeface="Calibri" pitchFamily="34" charset="-122"/>
                <a:cs typeface="Calibri" pitchFamily="34" charset="-120"/>
              </a:rPr>
              <a:t>Le delai peut varier enormement selon la charge du reseau</a:t>
            </a:r>
            <a:r>
              <a:rPr lang="en-US" sz="1050" dirty="0">
                <a:solidFill>
                  <a:srgbClr val="212121"/>
                </a:solidFill>
                <a:latin typeface="Calibri" pitchFamily="34" charset="0"/>
                <a:ea typeface="Calibri" pitchFamily="34" charset="-122"/>
                <a:cs typeface="Calibri" pitchFamily="34" charset="-120"/>
              </a:rPr>
              <a:t>.</a:t>
            </a:r>
            <a:endParaRPr lang="en-US" sz="1050" dirty="0"/>
          </a:p>
        </p:txBody>
      </p:sp>
      <p:sp>
        <p:nvSpPr>
          <p:cNvPr id="22" name="Shape 20"/>
          <p:cNvSpPr/>
          <p:nvPr/>
        </p:nvSpPr>
        <p:spPr>
          <a:xfrm>
            <a:off x="256032" y="3648456"/>
            <a:ext cx="4206240" cy="1115568"/>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23" name="Shape 21"/>
          <p:cNvSpPr/>
          <p:nvPr/>
        </p:nvSpPr>
        <p:spPr>
          <a:xfrm>
            <a:off x="256032" y="3648456"/>
            <a:ext cx="4206240" cy="54864"/>
          </a:xfrm>
          <a:prstGeom prst="rect">
            <a:avLst/>
          </a:prstGeom>
          <a:solidFill>
            <a:srgbClr val="00796B"/>
          </a:solidFill>
          <a:ln/>
        </p:spPr>
      </p:sp>
      <p:sp>
        <p:nvSpPr>
          <p:cNvPr id="24" name="Text 22"/>
          <p:cNvSpPr/>
          <p:nvPr/>
        </p:nvSpPr>
        <p:spPr>
          <a:xfrm>
            <a:off x="374904" y="3739896"/>
            <a:ext cx="3977640" cy="320040"/>
          </a:xfrm>
          <a:prstGeom prst="rect">
            <a:avLst/>
          </a:prstGeom>
          <a:noFill/>
          <a:ln/>
        </p:spPr>
        <p:txBody>
          <a:bodyPr wrap="square" rtlCol="0" anchor="ctr"/>
          <a:lstStyle/>
          <a:p>
            <a:pPr marL="0" indent="0">
              <a:buNone/>
            </a:pPr>
            <a:r>
              <a:rPr lang="en-US" sz="1250" b="1" dirty="0">
                <a:solidFill>
                  <a:srgbClr val="00796B"/>
                </a:solidFill>
                <a:latin typeface="Calibri" pitchFamily="34" charset="0"/>
                <a:ea typeface="Calibri" pitchFamily="34" charset="-122"/>
                <a:cs typeface="Calibri" pitchFamily="34" charset="-120"/>
              </a:rPr>
              <a:t>Gestion par file unique (FIFO)</a:t>
            </a:r>
            <a:endParaRPr lang="en-US" sz="1250" dirty="0"/>
          </a:p>
        </p:txBody>
      </p:sp>
      <p:sp>
        <p:nvSpPr>
          <p:cNvPr id="25" name="Text 23"/>
          <p:cNvSpPr/>
          <p:nvPr/>
        </p:nvSpPr>
        <p:spPr>
          <a:xfrm>
            <a:off x="374904" y="4087368"/>
            <a:ext cx="3977640" cy="585216"/>
          </a:xfrm>
          <a:prstGeom prst="rect">
            <a:avLst/>
          </a:prstGeom>
          <a:noFill/>
          <a:ln/>
        </p:spPr>
        <p:txBody>
          <a:bodyPr wrap="square" rtlCol="0" anchor="t"/>
          <a:lstStyle/>
          <a:p>
            <a:pPr marL="0" indent="0">
              <a:buNone/>
            </a:pPr>
            <a:r>
              <a:rPr lang="en-US" sz="1200" b="1" dirty="0">
                <a:latin typeface="Calibri" pitchFamily="34" charset="0"/>
                <a:ea typeface="Calibri" pitchFamily="34" charset="-122"/>
                <a:cs typeface="Calibri" pitchFamily="34" charset="-120"/>
              </a:rPr>
              <a:t>Un seul tampon pour tout. Le premier arrive est le premier traite</a:t>
            </a:r>
            <a:r>
              <a:rPr lang="en-US" sz="1050" dirty="0">
                <a:solidFill>
                  <a:srgbClr val="212121"/>
                </a:solidFill>
                <a:latin typeface="Calibri" pitchFamily="34" charset="0"/>
                <a:ea typeface="Calibri" pitchFamily="34" charset="-122"/>
                <a:cs typeface="Calibri" pitchFamily="34" charset="-120"/>
              </a:rPr>
              <a:t>.</a:t>
            </a:r>
            <a:endParaRPr lang="en-US" sz="1050" dirty="0"/>
          </a:p>
        </p:txBody>
      </p:sp>
      <p:sp>
        <p:nvSpPr>
          <p:cNvPr id="26" name="Shape 24"/>
          <p:cNvSpPr/>
          <p:nvPr/>
        </p:nvSpPr>
        <p:spPr>
          <a:xfrm>
            <a:off x="4718304" y="3648456"/>
            <a:ext cx="4206240" cy="1115568"/>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27" name="Shape 25"/>
          <p:cNvSpPr/>
          <p:nvPr/>
        </p:nvSpPr>
        <p:spPr>
          <a:xfrm>
            <a:off x="4718304" y="3648456"/>
            <a:ext cx="4206240" cy="54864"/>
          </a:xfrm>
          <a:prstGeom prst="rect">
            <a:avLst/>
          </a:prstGeom>
          <a:solidFill>
            <a:srgbClr val="C62828"/>
          </a:solidFill>
          <a:ln/>
        </p:spPr>
      </p:sp>
      <p:sp>
        <p:nvSpPr>
          <p:cNvPr id="28" name="Text 26"/>
          <p:cNvSpPr/>
          <p:nvPr/>
        </p:nvSpPr>
        <p:spPr>
          <a:xfrm>
            <a:off x="4837176" y="3739896"/>
            <a:ext cx="3977640" cy="320040"/>
          </a:xfrm>
          <a:prstGeom prst="rect">
            <a:avLst/>
          </a:prstGeom>
          <a:noFill/>
          <a:ln/>
        </p:spPr>
        <p:txBody>
          <a:bodyPr wrap="square" rtlCol="0" anchor="ctr"/>
          <a:lstStyle/>
          <a:p>
            <a:pPr marL="0" indent="0">
              <a:buNone/>
            </a:pPr>
            <a:r>
              <a:rPr lang="en-US" sz="1250" b="1" dirty="0">
                <a:solidFill>
                  <a:srgbClr val="C62828"/>
                </a:solidFill>
                <a:latin typeface="Calibri" pitchFamily="34" charset="0"/>
                <a:ea typeface="Calibri" pitchFamily="34" charset="-122"/>
                <a:cs typeface="Calibri" pitchFamily="34" charset="-120"/>
              </a:rPr>
              <a:t>Consequence : congestion</a:t>
            </a:r>
            <a:endParaRPr lang="en-US" sz="1250" dirty="0"/>
          </a:p>
        </p:txBody>
      </p:sp>
      <p:sp>
        <p:nvSpPr>
          <p:cNvPr id="29" name="Text 27"/>
          <p:cNvSpPr/>
          <p:nvPr/>
        </p:nvSpPr>
        <p:spPr>
          <a:xfrm>
            <a:off x="4837176" y="4087368"/>
            <a:ext cx="3977640" cy="585216"/>
          </a:xfrm>
          <a:prstGeom prst="rect">
            <a:avLst/>
          </a:prstGeom>
          <a:noFill/>
          <a:ln/>
        </p:spPr>
        <p:txBody>
          <a:bodyPr wrap="square" rtlCol="0" anchor="t"/>
          <a:lstStyle/>
          <a:p>
            <a:pPr marL="0" indent="0">
              <a:buNone/>
            </a:pPr>
            <a:r>
              <a:rPr lang="en-US" sz="1200" b="1" dirty="0">
                <a:latin typeface="Calibri" pitchFamily="34" charset="0"/>
                <a:ea typeface="Calibri" pitchFamily="34" charset="-122"/>
                <a:cs typeface="Calibri" pitchFamily="34" charset="-120"/>
              </a:rPr>
              <a:t>Quand le trafic depasse la capacite, tout le monde souffre egalement</a:t>
            </a:r>
            <a:r>
              <a:rPr lang="en-US" sz="1050" dirty="0">
                <a:solidFill>
                  <a:srgbClr val="212121"/>
                </a:solidFill>
                <a:latin typeface="Calibri" pitchFamily="34" charset="0"/>
                <a:ea typeface="Calibri" pitchFamily="34" charset="-122"/>
                <a:cs typeface="Calibri" pitchFamily="34" charset="-120"/>
              </a:rPr>
              <a:t>.</a:t>
            </a:r>
            <a:endParaRPr lang="en-US" sz="1050" dirty="0"/>
          </a:p>
        </p:txBody>
      </p:sp>
      <p:sp>
        <p:nvSpPr>
          <p:cNvPr id="30" name="Shape 28"/>
          <p:cNvSpPr/>
          <p:nvPr/>
        </p:nvSpPr>
        <p:spPr>
          <a:xfrm>
            <a:off x="256032" y="4617720"/>
            <a:ext cx="8631936" cy="256032"/>
          </a:xfrm>
          <a:prstGeom prst="rect">
            <a:avLst/>
          </a:prstGeom>
          <a:solidFill>
            <a:srgbClr val="B71C1C"/>
          </a:solidFill>
          <a:ln/>
        </p:spPr>
      </p:sp>
      <p:sp>
        <p:nvSpPr>
          <p:cNvPr id="31" name="Text 29"/>
          <p:cNvSpPr/>
          <p:nvPr/>
        </p:nvSpPr>
        <p:spPr>
          <a:xfrm>
            <a:off x="365760" y="4617720"/>
            <a:ext cx="841248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Resultat : VoIP hachee, video qui buffere, jeux avec lag — meme avec une bonne connexion !</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Medias continus vs discrets — Deux mondes tres differents</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Les applications n ont pas toutes les memes besoins. C est la raison fondamentale pour laquelle la QoS existe.</a:t>
            </a:r>
            <a:endParaRPr lang="en-US" sz="1100" dirty="0"/>
          </a:p>
        </p:txBody>
      </p:sp>
      <p:sp>
        <p:nvSpPr>
          <p:cNvPr id="6" name="Shape 4"/>
          <p:cNvSpPr/>
          <p:nvPr/>
        </p:nvSpPr>
        <p:spPr>
          <a:xfrm>
            <a:off x="256032" y="1170432"/>
            <a:ext cx="4206240" cy="438912"/>
          </a:xfrm>
          <a:prstGeom prst="rect">
            <a:avLst/>
          </a:prstGeom>
          <a:solidFill>
            <a:srgbClr val="1565C0"/>
          </a:solidFill>
          <a:ln/>
        </p:spPr>
      </p:sp>
      <p:sp>
        <p:nvSpPr>
          <p:cNvPr id="7" name="Text 5"/>
          <p:cNvSpPr/>
          <p:nvPr/>
        </p:nvSpPr>
        <p:spPr>
          <a:xfrm>
            <a:off x="256032" y="1170432"/>
            <a:ext cx="4206240" cy="43891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Medias CONTINUS — sensibles au temps</a:t>
            </a:r>
            <a:endParaRPr lang="en-US" sz="1300" dirty="0"/>
          </a:p>
        </p:txBody>
      </p:sp>
      <p:sp>
        <p:nvSpPr>
          <p:cNvPr id="8" name="Shape 6"/>
          <p:cNvSpPr/>
          <p:nvPr/>
        </p:nvSpPr>
        <p:spPr>
          <a:xfrm>
            <a:off x="256032" y="1664208"/>
            <a:ext cx="4206240" cy="896112"/>
          </a:xfrm>
          <a:prstGeom prst="rect">
            <a:avLst/>
          </a:prstGeom>
          <a:solidFill>
            <a:srgbClr val="E3F2FD"/>
          </a:solidFill>
          <a:ln w="6350">
            <a:solidFill>
              <a:srgbClr val="1565C0"/>
            </a:solidFill>
            <a:prstDash val="solid"/>
          </a:ln>
        </p:spPr>
      </p:sp>
      <p:sp>
        <p:nvSpPr>
          <p:cNvPr id="9" name="Shape 7"/>
          <p:cNvSpPr/>
          <p:nvPr/>
        </p:nvSpPr>
        <p:spPr>
          <a:xfrm>
            <a:off x="256032" y="1664208"/>
            <a:ext cx="64008" cy="896112"/>
          </a:xfrm>
          <a:prstGeom prst="rect">
            <a:avLst/>
          </a:prstGeom>
          <a:solidFill>
            <a:srgbClr val="1565C0"/>
          </a:solidFill>
          <a:ln/>
        </p:spPr>
      </p:sp>
      <p:sp>
        <p:nvSpPr>
          <p:cNvPr id="10" name="Text 8"/>
          <p:cNvSpPr/>
          <p:nvPr/>
        </p:nvSpPr>
        <p:spPr>
          <a:xfrm>
            <a:off x="384048" y="1682496"/>
            <a:ext cx="3931920" cy="292608"/>
          </a:xfrm>
          <a:prstGeom prst="rect">
            <a:avLst/>
          </a:prstGeom>
          <a:noFill/>
          <a:ln/>
        </p:spPr>
        <p:txBody>
          <a:bodyPr wrap="square" rtlCol="0" anchor="ctr"/>
          <a:lstStyle/>
          <a:p>
            <a:pPr marL="0" indent="0">
              <a:buNone/>
            </a:pPr>
            <a:r>
              <a:rPr lang="en-US" sz="1150" b="1" dirty="0">
                <a:solidFill>
                  <a:srgbClr val="1565C0"/>
                </a:solidFill>
                <a:latin typeface="Calibri" pitchFamily="34" charset="0"/>
                <a:ea typeface="Calibri" pitchFamily="34" charset="-122"/>
                <a:cs typeface="Calibri" pitchFamily="34" charset="-120"/>
              </a:rPr>
              <a:t>Voix numerisee (VoIP)</a:t>
            </a:r>
            <a:endParaRPr lang="en-US" sz="1150" dirty="0"/>
          </a:p>
        </p:txBody>
      </p:sp>
      <p:sp>
        <p:nvSpPr>
          <p:cNvPr id="11" name="Text 9"/>
          <p:cNvSpPr/>
          <p:nvPr/>
        </p:nvSpPr>
        <p:spPr>
          <a:xfrm>
            <a:off x="384048" y="1975104"/>
            <a:ext cx="3931920" cy="548640"/>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64 kb/s — un echantillon toutes</a:t>
            </a:r>
            <a:r>
              <a:rPr lang="en-US" dirty="0">
                <a:latin typeface="Calibri" pitchFamily="34" charset="0"/>
                <a:ea typeface="Calibri" pitchFamily="34" charset="-122"/>
                <a:cs typeface="Calibri" pitchFamily="34" charset="-120"/>
              </a:rPr>
              <a:t> </a:t>
            </a:r>
            <a:r>
              <a:rPr lang="en-US" sz="1200" dirty="0">
                <a:latin typeface="Calibri" pitchFamily="34" charset="0"/>
                <a:ea typeface="Calibri" pitchFamily="34" charset="-122"/>
                <a:cs typeface="Calibri" pitchFamily="34" charset="-120"/>
              </a:rPr>
              <a:t>les 125 microsecondes. Si ca arrive en retard ou en desordre : silence.</a:t>
            </a:r>
            <a:endParaRPr lang="en-US" sz="1000" dirty="0"/>
          </a:p>
        </p:txBody>
      </p:sp>
      <p:sp>
        <p:nvSpPr>
          <p:cNvPr id="12" name="Shape 10"/>
          <p:cNvSpPr/>
          <p:nvPr/>
        </p:nvSpPr>
        <p:spPr>
          <a:xfrm>
            <a:off x="256032" y="2633472"/>
            <a:ext cx="4206240" cy="896112"/>
          </a:xfrm>
          <a:prstGeom prst="rect">
            <a:avLst/>
          </a:prstGeom>
          <a:solidFill>
            <a:srgbClr val="E3F2FD"/>
          </a:solidFill>
          <a:ln w="6350">
            <a:solidFill>
              <a:srgbClr val="1565C0"/>
            </a:solidFill>
            <a:prstDash val="solid"/>
          </a:ln>
        </p:spPr>
      </p:sp>
      <p:sp>
        <p:nvSpPr>
          <p:cNvPr id="13" name="Shape 11"/>
          <p:cNvSpPr/>
          <p:nvPr/>
        </p:nvSpPr>
        <p:spPr>
          <a:xfrm>
            <a:off x="256032" y="2633472"/>
            <a:ext cx="64008" cy="896112"/>
          </a:xfrm>
          <a:prstGeom prst="rect">
            <a:avLst/>
          </a:prstGeom>
          <a:solidFill>
            <a:srgbClr val="1565C0"/>
          </a:solidFill>
          <a:ln/>
        </p:spPr>
      </p:sp>
      <p:sp>
        <p:nvSpPr>
          <p:cNvPr id="14" name="Text 12"/>
          <p:cNvSpPr/>
          <p:nvPr/>
        </p:nvSpPr>
        <p:spPr>
          <a:xfrm>
            <a:off x="384048" y="2651760"/>
            <a:ext cx="3931920" cy="292608"/>
          </a:xfrm>
          <a:prstGeom prst="rect">
            <a:avLst/>
          </a:prstGeom>
          <a:noFill/>
          <a:ln/>
        </p:spPr>
        <p:txBody>
          <a:bodyPr wrap="square" rtlCol="0" anchor="ctr"/>
          <a:lstStyle/>
          <a:p>
            <a:pPr marL="0" indent="0">
              <a:buNone/>
            </a:pPr>
            <a:r>
              <a:rPr lang="en-US" sz="1150" b="1" dirty="0">
                <a:solidFill>
                  <a:srgbClr val="1565C0"/>
                </a:solidFill>
                <a:latin typeface="Calibri" pitchFamily="34" charset="0"/>
                <a:ea typeface="Calibri" pitchFamily="34" charset="-122"/>
                <a:cs typeface="Calibri" pitchFamily="34" charset="-120"/>
              </a:rPr>
              <a:t>Video en direct</a:t>
            </a:r>
            <a:endParaRPr lang="en-US" sz="1150" dirty="0"/>
          </a:p>
        </p:txBody>
      </p:sp>
      <p:sp>
        <p:nvSpPr>
          <p:cNvPr id="15" name="Text 13"/>
          <p:cNvSpPr/>
          <p:nvPr/>
        </p:nvSpPr>
        <p:spPr>
          <a:xfrm>
            <a:off x="384048" y="2944368"/>
            <a:ext cx="3931920" cy="54864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25 images/s. Si une image arrive trop tard, la video se fige</a:t>
            </a:r>
            <a:r>
              <a:rPr lang="en-US" sz="1000" dirty="0">
                <a:solidFill>
                  <a:srgbClr val="212121"/>
                </a:solidFill>
                <a:latin typeface="Calibri" pitchFamily="34" charset="0"/>
                <a:ea typeface="Calibri" pitchFamily="34" charset="-122"/>
                <a:cs typeface="Calibri" pitchFamily="34" charset="-120"/>
              </a:rPr>
              <a:t>.</a:t>
            </a:r>
            <a:endParaRPr lang="en-US" sz="1000" dirty="0"/>
          </a:p>
        </p:txBody>
      </p:sp>
      <p:sp>
        <p:nvSpPr>
          <p:cNvPr id="16" name="Shape 14"/>
          <p:cNvSpPr/>
          <p:nvPr/>
        </p:nvSpPr>
        <p:spPr>
          <a:xfrm>
            <a:off x="256032" y="3602736"/>
            <a:ext cx="4206240" cy="896112"/>
          </a:xfrm>
          <a:prstGeom prst="rect">
            <a:avLst/>
          </a:prstGeom>
          <a:solidFill>
            <a:srgbClr val="E3F2FD"/>
          </a:solidFill>
          <a:ln w="6350">
            <a:solidFill>
              <a:srgbClr val="1565C0"/>
            </a:solidFill>
            <a:prstDash val="solid"/>
          </a:ln>
        </p:spPr>
      </p:sp>
      <p:sp>
        <p:nvSpPr>
          <p:cNvPr id="17" name="Shape 15"/>
          <p:cNvSpPr/>
          <p:nvPr/>
        </p:nvSpPr>
        <p:spPr>
          <a:xfrm>
            <a:off x="256032" y="3602736"/>
            <a:ext cx="64008" cy="896112"/>
          </a:xfrm>
          <a:prstGeom prst="rect">
            <a:avLst/>
          </a:prstGeom>
          <a:solidFill>
            <a:srgbClr val="1565C0"/>
          </a:solidFill>
          <a:ln/>
        </p:spPr>
      </p:sp>
      <p:sp>
        <p:nvSpPr>
          <p:cNvPr id="18" name="Text 16"/>
          <p:cNvSpPr/>
          <p:nvPr/>
        </p:nvSpPr>
        <p:spPr>
          <a:xfrm>
            <a:off x="384048" y="3621024"/>
            <a:ext cx="3931920" cy="292608"/>
          </a:xfrm>
          <a:prstGeom prst="rect">
            <a:avLst/>
          </a:prstGeom>
          <a:noFill/>
          <a:ln/>
        </p:spPr>
        <p:txBody>
          <a:bodyPr wrap="square" rtlCol="0" anchor="ctr"/>
          <a:lstStyle/>
          <a:p>
            <a:pPr marL="0" indent="0">
              <a:buNone/>
            </a:pPr>
            <a:r>
              <a:rPr lang="en-US" sz="1150" b="1" dirty="0">
                <a:solidFill>
                  <a:srgbClr val="1565C0"/>
                </a:solidFill>
                <a:latin typeface="Calibri" pitchFamily="34" charset="0"/>
                <a:ea typeface="Calibri" pitchFamily="34" charset="-122"/>
                <a:cs typeface="Calibri" pitchFamily="34" charset="-120"/>
              </a:rPr>
              <a:t>Musique en streaming</a:t>
            </a:r>
            <a:endParaRPr lang="en-US" sz="1150" dirty="0"/>
          </a:p>
        </p:txBody>
      </p:sp>
      <p:sp>
        <p:nvSpPr>
          <p:cNvPr id="19" name="Text 17"/>
          <p:cNvSpPr/>
          <p:nvPr/>
        </p:nvSpPr>
        <p:spPr>
          <a:xfrm>
            <a:off x="384048" y="3913632"/>
            <a:ext cx="3931920" cy="54864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Flux continu d echantillons audio. La gigue = graillons.</a:t>
            </a:r>
            <a:endParaRPr lang="en-US" sz="1200" dirty="0"/>
          </a:p>
        </p:txBody>
      </p:sp>
      <p:sp>
        <p:nvSpPr>
          <p:cNvPr id="20" name="Shape 18"/>
          <p:cNvSpPr/>
          <p:nvPr/>
        </p:nvSpPr>
        <p:spPr>
          <a:xfrm>
            <a:off x="4681728" y="1170432"/>
            <a:ext cx="4206240" cy="438912"/>
          </a:xfrm>
          <a:prstGeom prst="rect">
            <a:avLst/>
          </a:prstGeom>
          <a:solidFill>
            <a:srgbClr val="00796B"/>
          </a:solidFill>
          <a:ln/>
        </p:spPr>
      </p:sp>
      <p:sp>
        <p:nvSpPr>
          <p:cNvPr id="21" name="Text 19"/>
          <p:cNvSpPr/>
          <p:nvPr/>
        </p:nvSpPr>
        <p:spPr>
          <a:xfrm>
            <a:off x="4681728" y="1170432"/>
            <a:ext cx="4206240" cy="43891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Medias DISCRETS — tolerants aux delais</a:t>
            </a:r>
            <a:endParaRPr lang="en-US" sz="1300" dirty="0"/>
          </a:p>
        </p:txBody>
      </p:sp>
      <p:sp>
        <p:nvSpPr>
          <p:cNvPr id="22" name="Shape 20"/>
          <p:cNvSpPr/>
          <p:nvPr/>
        </p:nvSpPr>
        <p:spPr>
          <a:xfrm>
            <a:off x="4681728" y="1664208"/>
            <a:ext cx="4206240" cy="896112"/>
          </a:xfrm>
          <a:prstGeom prst="rect">
            <a:avLst/>
          </a:prstGeom>
          <a:solidFill>
            <a:srgbClr val="E0F2F1"/>
          </a:solidFill>
          <a:ln w="6350">
            <a:solidFill>
              <a:srgbClr val="00796B"/>
            </a:solidFill>
            <a:prstDash val="solid"/>
          </a:ln>
        </p:spPr>
      </p:sp>
      <p:sp>
        <p:nvSpPr>
          <p:cNvPr id="23" name="Shape 21"/>
          <p:cNvSpPr/>
          <p:nvPr/>
        </p:nvSpPr>
        <p:spPr>
          <a:xfrm>
            <a:off x="4681728" y="1664208"/>
            <a:ext cx="64008" cy="896112"/>
          </a:xfrm>
          <a:prstGeom prst="rect">
            <a:avLst/>
          </a:prstGeom>
          <a:solidFill>
            <a:srgbClr val="00796B"/>
          </a:solidFill>
          <a:ln/>
        </p:spPr>
      </p:sp>
      <p:sp>
        <p:nvSpPr>
          <p:cNvPr id="24" name="Text 22"/>
          <p:cNvSpPr/>
          <p:nvPr/>
        </p:nvSpPr>
        <p:spPr>
          <a:xfrm>
            <a:off x="4809744" y="1682496"/>
            <a:ext cx="3931920" cy="292608"/>
          </a:xfrm>
          <a:prstGeom prst="rect">
            <a:avLst/>
          </a:prstGeom>
          <a:noFill/>
          <a:ln/>
        </p:spPr>
        <p:txBody>
          <a:bodyPr wrap="square" rtlCol="0" anchor="ctr"/>
          <a:lstStyle/>
          <a:p>
            <a:pPr marL="0" indent="0">
              <a:buNone/>
            </a:pPr>
            <a:r>
              <a:rPr lang="en-US" sz="1150" b="1" dirty="0">
                <a:solidFill>
                  <a:srgbClr val="00796B"/>
                </a:solidFill>
                <a:latin typeface="Calibri" pitchFamily="34" charset="0"/>
                <a:ea typeface="Calibri" pitchFamily="34" charset="-122"/>
                <a:cs typeface="Calibri" pitchFamily="34" charset="-120"/>
              </a:rPr>
              <a:t>Email / messages</a:t>
            </a:r>
            <a:endParaRPr lang="en-US" sz="1150" dirty="0"/>
          </a:p>
        </p:txBody>
      </p:sp>
      <p:sp>
        <p:nvSpPr>
          <p:cNvPr id="25" name="Text 23"/>
          <p:cNvSpPr/>
          <p:nvPr/>
        </p:nvSpPr>
        <p:spPr>
          <a:xfrm>
            <a:off x="4809744" y="1975104"/>
            <a:ext cx="3931920" cy="54864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Recevoir un email avec 5 secondes de retard = aucun impact sur la comprehension.</a:t>
            </a:r>
            <a:endParaRPr lang="en-US" sz="1200" dirty="0"/>
          </a:p>
        </p:txBody>
      </p:sp>
      <p:sp>
        <p:nvSpPr>
          <p:cNvPr id="26" name="Shape 24"/>
          <p:cNvSpPr/>
          <p:nvPr/>
        </p:nvSpPr>
        <p:spPr>
          <a:xfrm>
            <a:off x="4681728" y="2633472"/>
            <a:ext cx="4206240" cy="896112"/>
          </a:xfrm>
          <a:prstGeom prst="rect">
            <a:avLst/>
          </a:prstGeom>
          <a:solidFill>
            <a:srgbClr val="E0F2F1"/>
          </a:solidFill>
          <a:ln w="6350">
            <a:solidFill>
              <a:srgbClr val="00796B"/>
            </a:solidFill>
            <a:prstDash val="solid"/>
          </a:ln>
        </p:spPr>
      </p:sp>
      <p:sp>
        <p:nvSpPr>
          <p:cNvPr id="27" name="Shape 25"/>
          <p:cNvSpPr/>
          <p:nvPr/>
        </p:nvSpPr>
        <p:spPr>
          <a:xfrm>
            <a:off x="4681728" y="2633472"/>
            <a:ext cx="64008" cy="896112"/>
          </a:xfrm>
          <a:prstGeom prst="rect">
            <a:avLst/>
          </a:prstGeom>
          <a:solidFill>
            <a:srgbClr val="00796B"/>
          </a:solidFill>
          <a:ln/>
        </p:spPr>
      </p:sp>
      <p:sp>
        <p:nvSpPr>
          <p:cNvPr id="28" name="Text 26"/>
          <p:cNvSpPr/>
          <p:nvPr/>
        </p:nvSpPr>
        <p:spPr>
          <a:xfrm>
            <a:off x="4809744" y="2651760"/>
            <a:ext cx="3931920" cy="292608"/>
          </a:xfrm>
          <a:prstGeom prst="rect">
            <a:avLst/>
          </a:prstGeom>
          <a:noFill/>
          <a:ln/>
        </p:spPr>
        <p:txBody>
          <a:bodyPr wrap="square" rtlCol="0" anchor="ctr"/>
          <a:lstStyle/>
          <a:p>
            <a:pPr marL="0" indent="0">
              <a:buNone/>
            </a:pPr>
            <a:r>
              <a:rPr lang="en-US" sz="1150" b="1" dirty="0">
                <a:solidFill>
                  <a:srgbClr val="00796B"/>
                </a:solidFill>
                <a:latin typeface="Calibri" pitchFamily="34" charset="0"/>
                <a:ea typeface="Calibri" pitchFamily="34" charset="-122"/>
                <a:cs typeface="Calibri" pitchFamily="34" charset="-120"/>
              </a:rPr>
              <a:t>Telechargement de fichiers (FTP)</a:t>
            </a:r>
            <a:endParaRPr lang="en-US" sz="1150" dirty="0"/>
          </a:p>
        </p:txBody>
      </p:sp>
      <p:sp>
        <p:nvSpPr>
          <p:cNvPr id="29" name="Text 27"/>
          <p:cNvSpPr/>
          <p:nvPr/>
        </p:nvSpPr>
        <p:spPr>
          <a:xfrm>
            <a:off x="4809744" y="2944368"/>
            <a:ext cx="3931920" cy="54864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TCP garantit l integrite. Si un paquet est perdu, il est retransmis</a:t>
            </a:r>
            <a:r>
              <a:rPr lang="en-US" sz="1000" dirty="0">
                <a:solidFill>
                  <a:srgbClr val="212121"/>
                </a:solidFill>
                <a:latin typeface="Calibri" pitchFamily="34" charset="0"/>
                <a:ea typeface="Calibri" pitchFamily="34" charset="-122"/>
                <a:cs typeface="Calibri" pitchFamily="34" charset="-120"/>
              </a:rPr>
              <a:t>.</a:t>
            </a:r>
            <a:endParaRPr lang="en-US" sz="1000" dirty="0"/>
          </a:p>
        </p:txBody>
      </p:sp>
      <p:sp>
        <p:nvSpPr>
          <p:cNvPr id="30" name="Shape 28"/>
          <p:cNvSpPr/>
          <p:nvPr/>
        </p:nvSpPr>
        <p:spPr>
          <a:xfrm>
            <a:off x="4681728" y="3602736"/>
            <a:ext cx="4206240" cy="896112"/>
          </a:xfrm>
          <a:prstGeom prst="rect">
            <a:avLst/>
          </a:prstGeom>
          <a:solidFill>
            <a:srgbClr val="E0F2F1"/>
          </a:solidFill>
          <a:ln w="6350">
            <a:solidFill>
              <a:srgbClr val="00796B"/>
            </a:solidFill>
            <a:prstDash val="solid"/>
          </a:ln>
        </p:spPr>
      </p:sp>
      <p:sp>
        <p:nvSpPr>
          <p:cNvPr id="31" name="Shape 29"/>
          <p:cNvSpPr/>
          <p:nvPr/>
        </p:nvSpPr>
        <p:spPr>
          <a:xfrm>
            <a:off x="4681728" y="3602736"/>
            <a:ext cx="64008" cy="896112"/>
          </a:xfrm>
          <a:prstGeom prst="rect">
            <a:avLst/>
          </a:prstGeom>
          <a:solidFill>
            <a:srgbClr val="00796B"/>
          </a:solidFill>
          <a:ln/>
        </p:spPr>
      </p:sp>
      <p:sp>
        <p:nvSpPr>
          <p:cNvPr id="32" name="Text 30"/>
          <p:cNvSpPr/>
          <p:nvPr/>
        </p:nvSpPr>
        <p:spPr>
          <a:xfrm>
            <a:off x="4809744" y="3621024"/>
            <a:ext cx="3931920" cy="292608"/>
          </a:xfrm>
          <a:prstGeom prst="rect">
            <a:avLst/>
          </a:prstGeom>
          <a:noFill/>
          <a:ln/>
        </p:spPr>
        <p:txBody>
          <a:bodyPr wrap="square" rtlCol="0" anchor="ctr"/>
          <a:lstStyle/>
          <a:p>
            <a:pPr marL="0" indent="0">
              <a:buNone/>
            </a:pPr>
            <a:r>
              <a:rPr lang="en-US" sz="1150" b="1" dirty="0">
                <a:solidFill>
                  <a:srgbClr val="00796B"/>
                </a:solidFill>
                <a:latin typeface="Calibri" pitchFamily="34" charset="0"/>
                <a:ea typeface="Calibri" pitchFamily="34" charset="-122"/>
                <a:cs typeface="Calibri" pitchFamily="34" charset="-120"/>
              </a:rPr>
              <a:t>Navigation web (HTTP)</a:t>
            </a:r>
            <a:endParaRPr lang="en-US" sz="1150" dirty="0"/>
          </a:p>
        </p:txBody>
      </p:sp>
      <p:sp>
        <p:nvSpPr>
          <p:cNvPr id="33" name="Text 31"/>
          <p:cNvSpPr/>
          <p:nvPr/>
        </p:nvSpPr>
        <p:spPr>
          <a:xfrm>
            <a:off x="4809744" y="3913632"/>
            <a:ext cx="3931920" cy="54864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Une page qui met 0.5s de plus a charger = acceptable.</a:t>
            </a:r>
            <a:endParaRPr lang="en-US" sz="1200" dirty="0"/>
          </a:p>
        </p:txBody>
      </p:sp>
      <p:sp>
        <p:nvSpPr>
          <p:cNvPr id="34" name="Shape 32"/>
          <p:cNvSpPr/>
          <p:nvPr/>
        </p:nvSpPr>
        <p:spPr>
          <a:xfrm>
            <a:off x="256032" y="4617720"/>
            <a:ext cx="8631936" cy="256032"/>
          </a:xfrm>
          <a:prstGeom prst="rect">
            <a:avLst/>
          </a:prstGeom>
          <a:solidFill>
            <a:srgbClr val="0D1B2A"/>
          </a:solidFill>
          <a:ln/>
        </p:spPr>
      </p:sp>
      <p:sp>
        <p:nvSpPr>
          <p:cNvPr id="35" name="Text 33"/>
          <p:cNvSpPr/>
          <p:nvPr/>
        </p:nvSpPr>
        <p:spPr>
          <a:xfrm>
            <a:off x="365760" y="4617720"/>
            <a:ext cx="841248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Continus : livres 'a l heure' ou inutilisables. Discrets : peuvent attendre sans perte de sens.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A-t-on vraiment besoin de QoS ? Le debat</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La bande passante a explose. Alors pourquoi s embeter avec la QoS ?</a:t>
            </a:r>
            <a:endParaRPr lang="en-US" sz="1100" dirty="0"/>
          </a:p>
        </p:txBody>
      </p:sp>
      <p:sp>
        <p:nvSpPr>
          <p:cNvPr id="6" name="Shape 4"/>
          <p:cNvSpPr/>
          <p:nvPr/>
        </p:nvSpPr>
        <p:spPr>
          <a:xfrm>
            <a:off x="256032" y="1170432"/>
            <a:ext cx="4160520" cy="411480"/>
          </a:xfrm>
          <a:prstGeom prst="rect">
            <a:avLst/>
          </a:prstGeom>
          <a:solidFill>
            <a:srgbClr val="C62828"/>
          </a:solidFill>
          <a:ln/>
        </p:spPr>
      </p:sp>
      <p:sp>
        <p:nvSpPr>
          <p:cNvPr id="7" name="Text 5"/>
          <p:cNvSpPr/>
          <p:nvPr/>
        </p:nvSpPr>
        <p:spPr>
          <a:xfrm>
            <a:off x="256032" y="1170432"/>
            <a:ext cx="416052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Arguments CONTRE (QoS inutile ?)</a:t>
            </a:r>
            <a:endParaRPr lang="en-US" sz="1300" dirty="0"/>
          </a:p>
        </p:txBody>
      </p:sp>
      <p:sp>
        <p:nvSpPr>
          <p:cNvPr id="8" name="Shape 6"/>
          <p:cNvSpPr/>
          <p:nvPr/>
        </p:nvSpPr>
        <p:spPr>
          <a:xfrm>
            <a:off x="384048" y="1801368"/>
            <a:ext cx="146304" cy="146304"/>
          </a:xfrm>
          <a:prstGeom prst="ellipse">
            <a:avLst/>
          </a:prstGeom>
          <a:solidFill>
            <a:srgbClr val="C62828"/>
          </a:solidFill>
          <a:ln/>
        </p:spPr>
      </p:sp>
      <p:sp>
        <p:nvSpPr>
          <p:cNvPr id="9" name="Text 7"/>
          <p:cNvSpPr/>
          <p:nvPr/>
        </p:nvSpPr>
        <p:spPr>
          <a:xfrm>
            <a:off x="594360" y="1746504"/>
            <a:ext cx="365760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LAN : 10 Mbps  100 Mbps  1 Gbps  10 Gbps</a:t>
            </a:r>
            <a:endParaRPr lang="en-US" sz="1200" dirty="0"/>
          </a:p>
        </p:txBody>
      </p:sp>
      <p:sp>
        <p:nvSpPr>
          <p:cNvPr id="10" name="Shape 8"/>
          <p:cNvSpPr/>
          <p:nvPr/>
        </p:nvSpPr>
        <p:spPr>
          <a:xfrm>
            <a:off x="384048" y="2350008"/>
            <a:ext cx="146304" cy="146304"/>
          </a:xfrm>
          <a:prstGeom prst="ellipse">
            <a:avLst/>
          </a:prstGeom>
          <a:solidFill>
            <a:srgbClr val="C62828"/>
          </a:solidFill>
          <a:ln/>
        </p:spPr>
      </p:sp>
      <p:sp>
        <p:nvSpPr>
          <p:cNvPr id="11" name="Text 9"/>
          <p:cNvSpPr/>
          <p:nvPr/>
        </p:nvSpPr>
        <p:spPr>
          <a:xfrm>
            <a:off x="594360" y="2295144"/>
            <a:ext cx="365760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Fibre optique tres haut debit generalisee</a:t>
            </a:r>
            <a:endParaRPr lang="en-US" sz="1200" dirty="0"/>
          </a:p>
        </p:txBody>
      </p:sp>
      <p:sp>
        <p:nvSpPr>
          <p:cNvPr id="12" name="Shape 10"/>
          <p:cNvSpPr/>
          <p:nvPr/>
        </p:nvSpPr>
        <p:spPr>
          <a:xfrm>
            <a:off x="384048" y="2898648"/>
            <a:ext cx="146304" cy="146304"/>
          </a:xfrm>
          <a:prstGeom prst="ellipse">
            <a:avLst/>
          </a:prstGeom>
          <a:solidFill>
            <a:srgbClr val="C62828"/>
          </a:solidFill>
          <a:ln/>
        </p:spPr>
      </p:sp>
      <p:sp>
        <p:nvSpPr>
          <p:cNvPr id="13" name="Text 11"/>
          <p:cNvSpPr/>
          <p:nvPr/>
        </p:nvSpPr>
        <p:spPr>
          <a:xfrm>
            <a:off x="594360" y="2843784"/>
            <a:ext cx="365760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Bande passante souvent surabondante</a:t>
            </a:r>
            <a:endParaRPr lang="en-US" sz="1200" dirty="0"/>
          </a:p>
        </p:txBody>
      </p:sp>
      <p:sp>
        <p:nvSpPr>
          <p:cNvPr id="14" name="Shape 12"/>
          <p:cNvSpPr/>
          <p:nvPr/>
        </p:nvSpPr>
        <p:spPr>
          <a:xfrm>
            <a:off x="384048" y="3447288"/>
            <a:ext cx="146304" cy="146304"/>
          </a:xfrm>
          <a:prstGeom prst="ellipse">
            <a:avLst/>
          </a:prstGeom>
          <a:solidFill>
            <a:srgbClr val="C62828"/>
          </a:solidFill>
          <a:ln/>
        </p:spPr>
      </p:sp>
      <p:sp>
        <p:nvSpPr>
          <p:cNvPr id="15" name="Text 13"/>
          <p:cNvSpPr/>
          <p:nvPr/>
        </p:nvSpPr>
        <p:spPr>
          <a:xfrm>
            <a:off x="594360" y="3392424"/>
            <a:ext cx="365760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Un tuyau assez grand = tout passe sans probleme</a:t>
            </a:r>
            <a:endParaRPr lang="en-US" sz="1200" dirty="0"/>
          </a:p>
        </p:txBody>
      </p:sp>
      <p:sp>
        <p:nvSpPr>
          <p:cNvPr id="16" name="Shape 14"/>
          <p:cNvSpPr/>
          <p:nvPr/>
        </p:nvSpPr>
        <p:spPr>
          <a:xfrm>
            <a:off x="4727448" y="1170432"/>
            <a:ext cx="4160520" cy="411480"/>
          </a:xfrm>
          <a:prstGeom prst="rect">
            <a:avLst/>
          </a:prstGeom>
          <a:solidFill>
            <a:srgbClr val="2E7D32"/>
          </a:solidFill>
          <a:ln/>
        </p:spPr>
      </p:sp>
      <p:sp>
        <p:nvSpPr>
          <p:cNvPr id="17" name="Text 15"/>
          <p:cNvSpPr/>
          <p:nvPr/>
        </p:nvSpPr>
        <p:spPr>
          <a:xfrm>
            <a:off x="4727448" y="1170432"/>
            <a:ext cx="416052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Arguments POUR (QoS indispensable !)</a:t>
            </a:r>
            <a:endParaRPr lang="en-US" sz="1300" dirty="0"/>
          </a:p>
        </p:txBody>
      </p:sp>
      <p:sp>
        <p:nvSpPr>
          <p:cNvPr id="18" name="Shape 16"/>
          <p:cNvSpPr/>
          <p:nvPr/>
        </p:nvSpPr>
        <p:spPr>
          <a:xfrm>
            <a:off x="4846320" y="1801368"/>
            <a:ext cx="146304" cy="146304"/>
          </a:xfrm>
          <a:prstGeom prst="ellipse">
            <a:avLst/>
          </a:prstGeom>
          <a:solidFill>
            <a:srgbClr val="2E7D32"/>
          </a:solidFill>
          <a:ln/>
        </p:spPr>
      </p:sp>
      <p:sp>
        <p:nvSpPr>
          <p:cNvPr id="19" name="Text 17"/>
          <p:cNvSpPr/>
          <p:nvPr/>
        </p:nvSpPr>
        <p:spPr>
          <a:xfrm>
            <a:off x="5056632" y="1746504"/>
            <a:ext cx="365760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Zones a bande passante rare (zones rurales, mobiles</a:t>
            </a:r>
            <a:r>
              <a:rPr lang="en-US" sz="1100" dirty="0">
                <a:solidFill>
                  <a:srgbClr val="212121"/>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4846320" y="2350008"/>
            <a:ext cx="146304" cy="146304"/>
          </a:xfrm>
          <a:prstGeom prst="ellipse">
            <a:avLst/>
          </a:prstGeom>
          <a:solidFill>
            <a:srgbClr val="2E7D32"/>
          </a:solidFill>
          <a:ln/>
        </p:spPr>
      </p:sp>
      <p:sp>
        <p:nvSpPr>
          <p:cNvPr id="21" name="Text 19"/>
          <p:cNvSpPr/>
          <p:nvPr/>
        </p:nvSpPr>
        <p:spPr>
          <a:xfrm>
            <a:off x="5056632" y="2295144"/>
            <a:ext cx="365760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Applications multimedia de plus en plus gourmandes (4K, 8K, AR)</a:t>
            </a:r>
            <a:endParaRPr lang="en-US" sz="1200" dirty="0"/>
          </a:p>
        </p:txBody>
      </p:sp>
      <p:sp>
        <p:nvSpPr>
          <p:cNvPr id="22" name="Shape 20"/>
          <p:cNvSpPr/>
          <p:nvPr/>
        </p:nvSpPr>
        <p:spPr>
          <a:xfrm>
            <a:off x="4846320" y="2898648"/>
            <a:ext cx="146304" cy="146304"/>
          </a:xfrm>
          <a:prstGeom prst="ellipse">
            <a:avLst/>
          </a:prstGeom>
          <a:solidFill>
            <a:srgbClr val="2E7D32"/>
          </a:solidFill>
          <a:ln/>
        </p:spPr>
      </p:sp>
      <p:sp>
        <p:nvSpPr>
          <p:cNvPr id="23" name="Text 21"/>
          <p:cNvSpPr/>
          <p:nvPr/>
        </p:nvSpPr>
        <p:spPr>
          <a:xfrm>
            <a:off x="5056632" y="2843784"/>
            <a:ext cx="365760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VoIP/IPTV : besoins QoS tres forts</a:t>
            </a:r>
            <a:endParaRPr lang="en-US" sz="1200" dirty="0"/>
          </a:p>
        </p:txBody>
      </p:sp>
      <p:sp>
        <p:nvSpPr>
          <p:cNvPr id="24" name="Shape 22"/>
          <p:cNvSpPr/>
          <p:nvPr/>
        </p:nvSpPr>
        <p:spPr>
          <a:xfrm>
            <a:off x="4846320" y="3447288"/>
            <a:ext cx="146304" cy="146304"/>
          </a:xfrm>
          <a:prstGeom prst="ellipse">
            <a:avLst/>
          </a:prstGeom>
          <a:solidFill>
            <a:srgbClr val="2E7D32"/>
          </a:solidFill>
          <a:ln/>
        </p:spPr>
      </p:sp>
      <p:sp>
        <p:nvSpPr>
          <p:cNvPr id="25" name="Text 23"/>
          <p:cNvSpPr/>
          <p:nvPr/>
        </p:nvSpPr>
        <p:spPr>
          <a:xfrm>
            <a:off x="5056632" y="3392424"/>
            <a:ext cx="365760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Coexistence d applications incompatibles sur le meme lien</a:t>
            </a:r>
            <a:endParaRPr lang="en-US" sz="1200" dirty="0"/>
          </a:p>
        </p:txBody>
      </p:sp>
      <p:sp>
        <p:nvSpPr>
          <p:cNvPr id="26" name="Shape 24"/>
          <p:cNvSpPr/>
          <p:nvPr/>
        </p:nvSpPr>
        <p:spPr>
          <a:xfrm>
            <a:off x="4846320" y="3995928"/>
            <a:ext cx="146304" cy="146304"/>
          </a:xfrm>
          <a:prstGeom prst="ellipse">
            <a:avLst/>
          </a:prstGeom>
          <a:solidFill>
            <a:srgbClr val="2E7D32"/>
          </a:solidFill>
          <a:ln/>
        </p:spPr>
      </p:sp>
      <p:sp>
        <p:nvSpPr>
          <p:cNvPr id="27" name="Text 25"/>
          <p:cNvSpPr/>
          <p:nvPr/>
        </p:nvSpPr>
        <p:spPr>
          <a:xfrm>
            <a:off x="5056632" y="3941064"/>
            <a:ext cx="365760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Attaques DDoS : saturation deliberee</a:t>
            </a:r>
            <a:endParaRPr lang="en-US" sz="1200" dirty="0"/>
          </a:p>
        </p:txBody>
      </p:sp>
      <p:sp>
        <p:nvSpPr>
          <p:cNvPr id="28" name="Shape 26"/>
          <p:cNvSpPr/>
          <p:nvPr/>
        </p:nvSpPr>
        <p:spPr>
          <a:xfrm>
            <a:off x="256032" y="4279392"/>
            <a:ext cx="8631936" cy="594360"/>
          </a:xfrm>
          <a:prstGeom prst="rect">
            <a:avLst/>
          </a:prstGeom>
          <a:solidFill>
            <a:srgbClr val="FFFDE7"/>
          </a:solidFill>
          <a:ln w="19050">
            <a:solidFill>
              <a:srgbClr val="F57F17"/>
            </a:solidFill>
            <a:prstDash val="solid"/>
          </a:ln>
        </p:spPr>
      </p:sp>
      <p:sp>
        <p:nvSpPr>
          <p:cNvPr id="29" name="Text 27"/>
          <p:cNvSpPr/>
          <p:nvPr/>
        </p:nvSpPr>
        <p:spPr>
          <a:xfrm>
            <a:off x="411480" y="4315968"/>
            <a:ext cx="1280160" cy="274320"/>
          </a:xfrm>
          <a:prstGeom prst="rect">
            <a:avLst/>
          </a:prstGeom>
          <a:noFill/>
          <a:ln/>
        </p:spPr>
        <p:txBody>
          <a:bodyPr wrap="square" rtlCol="0" anchor="ctr"/>
          <a:lstStyle/>
          <a:p>
            <a:pPr marL="0" indent="0">
              <a:buNone/>
            </a:pPr>
            <a:r>
              <a:rPr lang="en-US" sz="1200" b="1" dirty="0">
                <a:solidFill>
                  <a:srgbClr val="E65100"/>
                </a:solidFill>
                <a:latin typeface="Calibri" pitchFamily="34" charset="0"/>
                <a:ea typeface="Calibri" pitchFamily="34" charset="-122"/>
                <a:cs typeface="Calibri" pitchFamily="34" charset="-120"/>
              </a:rPr>
              <a:t>Conclusion :</a:t>
            </a:r>
            <a:endParaRPr lang="en-US" sz="1200" dirty="0"/>
          </a:p>
        </p:txBody>
      </p:sp>
      <p:sp>
        <p:nvSpPr>
          <p:cNvPr id="30" name="Text 28"/>
          <p:cNvSpPr/>
          <p:nvPr/>
        </p:nvSpPr>
        <p:spPr>
          <a:xfrm>
            <a:off x="1691640" y="4297680"/>
            <a:ext cx="7040880" cy="530352"/>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La QoS est inutile quand la bande passante est surabondante. Elle devient INDISPENSABLE des qu il y a rareté, concurrence entre flux critiques, ou besoin de garanties pour les clients</a:t>
            </a:r>
            <a:r>
              <a:rPr lang="en-US" sz="1100" dirty="0">
                <a:solidFill>
                  <a:srgbClr val="212121"/>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796B"/>
          </a:solidFill>
          <a:ln/>
        </p:spPr>
      </p:sp>
      <p:sp>
        <p:nvSpPr>
          <p:cNvPr id="3" name="Text 1"/>
          <p:cNvSpPr/>
          <p:nvPr/>
        </p:nvSpPr>
        <p:spPr>
          <a:xfrm>
            <a:off x="502920" y="548640"/>
            <a:ext cx="2286000" cy="1371600"/>
          </a:xfrm>
          <a:prstGeom prst="rect">
            <a:avLst/>
          </a:prstGeom>
          <a:noFill/>
          <a:ln/>
        </p:spPr>
        <p:txBody>
          <a:bodyPr wrap="square" rtlCol="0" anchor="ctr"/>
          <a:lstStyle/>
          <a:p>
            <a:pPr marL="0" indent="0">
              <a:buNone/>
            </a:pPr>
            <a:r>
              <a:rPr lang="en-US" sz="7200" b="1" dirty="0">
                <a:solidFill>
                  <a:srgbClr val="00796B">
                    <a:alpha val="75000"/>
                  </a:srgbClr>
                </a:solidFill>
                <a:latin typeface="Calibri" pitchFamily="34" charset="0"/>
                <a:ea typeface="Calibri" pitchFamily="34" charset="-122"/>
                <a:cs typeface="Calibri" pitchFamily="34" charset="-120"/>
              </a:rPr>
              <a:t>02</a:t>
            </a:r>
            <a:endParaRPr lang="en-US" sz="7200" dirty="0"/>
          </a:p>
        </p:txBody>
      </p:sp>
      <p:sp>
        <p:nvSpPr>
          <p:cNvPr id="4" name="Text 2"/>
          <p:cNvSpPr/>
          <p:nvPr/>
        </p:nvSpPr>
        <p:spPr>
          <a:xfrm>
            <a:off x="502920" y="1828800"/>
            <a:ext cx="8321040" cy="8229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Notions de QoS</a:t>
            </a:r>
            <a:endParaRPr lang="en-US" sz="3400" dirty="0"/>
          </a:p>
        </p:txBody>
      </p:sp>
      <p:sp>
        <p:nvSpPr>
          <p:cNvPr id="5" name="Text 3"/>
          <p:cNvSpPr/>
          <p:nvPr/>
        </p:nvSpPr>
        <p:spPr>
          <a:xfrm>
            <a:off x="502920" y="2697480"/>
            <a:ext cx="8229600" cy="457200"/>
          </a:xfrm>
          <a:prstGeom prst="rect">
            <a:avLst/>
          </a:prstGeom>
          <a:noFill/>
          <a:ln/>
        </p:spPr>
        <p:txBody>
          <a:bodyPr wrap="square" rtlCol="0" anchor="ctr"/>
          <a:lstStyle/>
          <a:p>
            <a:pPr marL="0" indent="0">
              <a:buNone/>
            </a:pPr>
            <a:r>
              <a:rPr lang="en-US" sz="1400" i="1" dirty="0">
                <a:solidFill>
                  <a:srgbClr val="BDBDBD"/>
                </a:solidFill>
                <a:latin typeface="Calibri" pitchFamily="34" charset="0"/>
                <a:ea typeface="Calibri" pitchFamily="34" charset="-122"/>
                <a:cs typeface="Calibri" pitchFamily="34" charset="-120"/>
              </a:rPr>
              <a:t>Indicateurs cles · Delai · Gigue · Perte · Bande passante</a:t>
            </a:r>
            <a:endParaRPr lang="en-US" sz="1400" dirty="0"/>
          </a:p>
        </p:txBody>
      </p:sp>
      <p:sp>
        <p:nvSpPr>
          <p:cNvPr id="6" name="Shape 4"/>
          <p:cNvSpPr/>
          <p:nvPr/>
        </p:nvSpPr>
        <p:spPr>
          <a:xfrm>
            <a:off x="0" y="4919472"/>
            <a:ext cx="9144000" cy="228600"/>
          </a:xfrm>
          <a:prstGeom prst="rect">
            <a:avLst/>
          </a:prstGeom>
          <a:solidFill>
            <a:srgbClr val="00796B"/>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3F2FD"/>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565C0"/>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Parametre 1 — Le delai (latence)</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Definition : temps pour qu un paquet aille de la source A jusqu a la destination B.</a:t>
            </a:r>
            <a:endParaRPr lang="en-US" sz="1200" dirty="0"/>
          </a:p>
        </p:txBody>
      </p:sp>
      <p:sp>
        <p:nvSpPr>
          <p:cNvPr id="6" name="Shape 4"/>
          <p:cNvSpPr/>
          <p:nvPr/>
        </p:nvSpPr>
        <p:spPr>
          <a:xfrm>
            <a:off x="256032" y="1207008"/>
            <a:ext cx="4206240" cy="1389888"/>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7" name="Shape 5"/>
          <p:cNvSpPr/>
          <p:nvPr/>
        </p:nvSpPr>
        <p:spPr>
          <a:xfrm>
            <a:off x="256032" y="1207008"/>
            <a:ext cx="4206240" cy="54864"/>
          </a:xfrm>
          <a:prstGeom prst="rect">
            <a:avLst/>
          </a:prstGeom>
          <a:solidFill>
            <a:srgbClr val="1565C0"/>
          </a:solidFill>
          <a:ln/>
        </p:spPr>
      </p:sp>
      <p:sp>
        <p:nvSpPr>
          <p:cNvPr id="8" name="Text 6"/>
          <p:cNvSpPr/>
          <p:nvPr/>
        </p:nvSpPr>
        <p:spPr>
          <a:xfrm>
            <a:off x="374904" y="1298448"/>
            <a:ext cx="3977640" cy="320040"/>
          </a:xfrm>
          <a:prstGeom prst="rect">
            <a:avLst/>
          </a:prstGeom>
          <a:noFill/>
          <a:ln/>
        </p:spPr>
        <p:txBody>
          <a:bodyPr wrap="square" rtlCol="0" anchor="ctr"/>
          <a:lstStyle/>
          <a:p>
            <a:pPr marL="0" indent="0">
              <a:buNone/>
            </a:pPr>
            <a:r>
              <a:rPr lang="en-US" sz="1250" b="1" dirty="0">
                <a:solidFill>
                  <a:srgbClr val="1565C0"/>
                </a:solidFill>
                <a:latin typeface="Calibri" pitchFamily="34" charset="0"/>
                <a:ea typeface="Calibri" pitchFamily="34" charset="-122"/>
                <a:cs typeface="Calibri" pitchFamily="34" charset="-120"/>
              </a:rPr>
              <a:t>Delai de transmission</a:t>
            </a:r>
            <a:endParaRPr lang="en-US" sz="1250" dirty="0"/>
          </a:p>
        </p:txBody>
      </p:sp>
      <p:sp>
        <p:nvSpPr>
          <p:cNvPr id="9" name="Text 7"/>
          <p:cNvSpPr/>
          <p:nvPr/>
        </p:nvSpPr>
        <p:spPr>
          <a:xfrm>
            <a:off x="374904" y="1645920"/>
            <a:ext cx="3977640" cy="859536"/>
          </a:xfrm>
          <a:prstGeom prst="rect">
            <a:avLst/>
          </a:prstGeom>
          <a:noFill/>
          <a:ln/>
        </p:spPr>
        <p:txBody>
          <a:bodyPr wrap="square" rtlCol="0" anchor="t"/>
          <a:lstStyle/>
          <a:p>
            <a:pPr marL="0" indent="0">
              <a:buNone/>
            </a:pPr>
            <a:r>
              <a:rPr lang="en-US" sz="1200" dirty="0">
                <a:latin typeface="Calibri" pitchFamily="34" charset="0"/>
                <a:ea typeface="Calibri" pitchFamily="34" charset="-122"/>
                <a:cs typeface="Calibri" pitchFamily="34" charset="-120"/>
              </a:rPr>
              <a:t>Temps pour injecter le paquet sur le lien.</a:t>
            </a:r>
            <a:endParaRPr lang="en-US" sz="1200" dirty="0"/>
          </a:p>
          <a:p>
            <a:pPr marL="0" indent="0">
              <a:buNone/>
            </a:pPr>
            <a:r>
              <a:rPr lang="en-US" sz="1200" dirty="0">
                <a:latin typeface="Calibri" pitchFamily="34" charset="0"/>
                <a:ea typeface="Calibri" pitchFamily="34" charset="-122"/>
                <a:cs typeface="Calibri" pitchFamily="34" charset="-120"/>
              </a:rPr>
              <a:t>Formule : taille_paquet / debit_lien</a:t>
            </a:r>
            <a:endParaRPr lang="en-US" sz="1200" dirty="0"/>
          </a:p>
          <a:p>
            <a:pPr marL="0" indent="0">
              <a:buNone/>
            </a:pPr>
            <a:r>
              <a:rPr lang="en-US" sz="1200" dirty="0">
                <a:latin typeface="Calibri" pitchFamily="34" charset="0"/>
                <a:ea typeface="Calibri" pitchFamily="34" charset="-122"/>
                <a:cs typeface="Calibri" pitchFamily="34" charset="-120"/>
              </a:rPr>
              <a:t>Ex : 1500 octets sur 1 Gbps = 0.012 ms</a:t>
            </a:r>
            <a:endParaRPr lang="en-US" sz="1200" dirty="0"/>
          </a:p>
        </p:txBody>
      </p:sp>
      <p:sp>
        <p:nvSpPr>
          <p:cNvPr id="10" name="Shape 8"/>
          <p:cNvSpPr/>
          <p:nvPr/>
        </p:nvSpPr>
        <p:spPr>
          <a:xfrm>
            <a:off x="4718304" y="1207008"/>
            <a:ext cx="4206240" cy="1389888"/>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11" name="Shape 9"/>
          <p:cNvSpPr/>
          <p:nvPr/>
        </p:nvSpPr>
        <p:spPr>
          <a:xfrm>
            <a:off x="4718304" y="1207008"/>
            <a:ext cx="4206240" cy="54864"/>
          </a:xfrm>
          <a:prstGeom prst="rect">
            <a:avLst/>
          </a:prstGeom>
          <a:solidFill>
            <a:srgbClr val="1565C0"/>
          </a:solidFill>
          <a:ln/>
        </p:spPr>
      </p:sp>
      <p:sp>
        <p:nvSpPr>
          <p:cNvPr id="12" name="Text 10"/>
          <p:cNvSpPr/>
          <p:nvPr/>
        </p:nvSpPr>
        <p:spPr>
          <a:xfrm>
            <a:off x="4837176" y="1298448"/>
            <a:ext cx="3977640" cy="320040"/>
          </a:xfrm>
          <a:prstGeom prst="rect">
            <a:avLst/>
          </a:prstGeom>
          <a:noFill/>
          <a:ln/>
        </p:spPr>
        <p:txBody>
          <a:bodyPr wrap="square" rtlCol="0" anchor="ctr"/>
          <a:lstStyle/>
          <a:p>
            <a:pPr marL="0" indent="0">
              <a:buNone/>
            </a:pPr>
            <a:r>
              <a:rPr lang="en-US" sz="1250" b="1" dirty="0">
                <a:solidFill>
                  <a:srgbClr val="1565C0"/>
                </a:solidFill>
                <a:latin typeface="Calibri" pitchFamily="34" charset="0"/>
                <a:ea typeface="Calibri" pitchFamily="34" charset="-122"/>
                <a:cs typeface="Calibri" pitchFamily="34" charset="-120"/>
              </a:rPr>
              <a:t>Delai de propagation</a:t>
            </a:r>
            <a:endParaRPr lang="en-US" sz="1250" dirty="0"/>
          </a:p>
        </p:txBody>
      </p:sp>
      <p:sp>
        <p:nvSpPr>
          <p:cNvPr id="13" name="Text 11"/>
          <p:cNvSpPr/>
          <p:nvPr/>
        </p:nvSpPr>
        <p:spPr>
          <a:xfrm>
            <a:off x="4837176" y="1645920"/>
            <a:ext cx="3977640" cy="859536"/>
          </a:xfrm>
          <a:prstGeom prst="rect">
            <a:avLst/>
          </a:prstGeom>
          <a:noFill/>
          <a:ln/>
        </p:spPr>
        <p:txBody>
          <a:bodyPr wrap="square" rtlCol="0" anchor="t"/>
          <a:lstStyle/>
          <a:p>
            <a:pPr marL="0" indent="0">
              <a:buNone/>
            </a:pPr>
            <a:r>
              <a:rPr lang="en-US" sz="1200" dirty="0">
                <a:latin typeface="Calibri" pitchFamily="34" charset="0"/>
                <a:ea typeface="Calibri" pitchFamily="34" charset="-122"/>
                <a:cs typeface="Calibri" pitchFamily="34" charset="-120"/>
              </a:rPr>
              <a:t>Temps physique de traversee du medium.</a:t>
            </a:r>
            <a:endParaRPr lang="en-US" sz="1200" dirty="0"/>
          </a:p>
          <a:p>
            <a:pPr marL="0" indent="0">
              <a:buNone/>
            </a:pPr>
            <a:r>
              <a:rPr lang="en-US" sz="1200" dirty="0">
                <a:latin typeface="Calibri" pitchFamily="34" charset="0"/>
                <a:ea typeface="Calibri" pitchFamily="34" charset="-122"/>
                <a:cs typeface="Calibri" pitchFamily="34" charset="-120"/>
              </a:rPr>
              <a:t>Formule : distance / vitesse (200 000 km/s fibre)</a:t>
            </a:r>
            <a:endParaRPr lang="en-US" sz="1200" dirty="0"/>
          </a:p>
          <a:p>
            <a:pPr marL="0" indent="0">
              <a:buNone/>
            </a:pPr>
            <a:r>
              <a:rPr lang="en-US" sz="1200" dirty="0">
                <a:latin typeface="Calibri" pitchFamily="34" charset="0"/>
                <a:ea typeface="Calibri" pitchFamily="34" charset="-122"/>
                <a:cs typeface="Calibri" pitchFamily="34" charset="-120"/>
              </a:rPr>
              <a:t>Ex : Paris-New York = 35 ms (aller simple)</a:t>
            </a:r>
            <a:endParaRPr lang="en-US" sz="1200" dirty="0"/>
          </a:p>
        </p:txBody>
      </p:sp>
      <p:sp>
        <p:nvSpPr>
          <p:cNvPr id="14" name="Shape 12"/>
          <p:cNvSpPr/>
          <p:nvPr/>
        </p:nvSpPr>
        <p:spPr>
          <a:xfrm>
            <a:off x="256032" y="2715768"/>
            <a:ext cx="4206240" cy="1389888"/>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15" name="Shape 13"/>
          <p:cNvSpPr/>
          <p:nvPr/>
        </p:nvSpPr>
        <p:spPr>
          <a:xfrm>
            <a:off x="256032" y="2715768"/>
            <a:ext cx="4206240" cy="54864"/>
          </a:xfrm>
          <a:prstGeom prst="rect">
            <a:avLst/>
          </a:prstGeom>
          <a:solidFill>
            <a:srgbClr val="1565C0"/>
          </a:solidFill>
          <a:ln/>
        </p:spPr>
      </p:sp>
      <p:sp>
        <p:nvSpPr>
          <p:cNvPr id="16" name="Text 14"/>
          <p:cNvSpPr/>
          <p:nvPr/>
        </p:nvSpPr>
        <p:spPr>
          <a:xfrm>
            <a:off x="374904" y="2807208"/>
            <a:ext cx="3977640" cy="320040"/>
          </a:xfrm>
          <a:prstGeom prst="rect">
            <a:avLst/>
          </a:prstGeom>
          <a:noFill/>
          <a:ln/>
        </p:spPr>
        <p:txBody>
          <a:bodyPr wrap="square" rtlCol="0" anchor="ctr"/>
          <a:lstStyle/>
          <a:p>
            <a:pPr marL="0" indent="0">
              <a:buNone/>
            </a:pPr>
            <a:r>
              <a:rPr lang="en-US" sz="1250" b="1" dirty="0">
                <a:solidFill>
                  <a:srgbClr val="1565C0"/>
                </a:solidFill>
                <a:latin typeface="Calibri" pitchFamily="34" charset="0"/>
                <a:ea typeface="Calibri" pitchFamily="34" charset="-122"/>
                <a:cs typeface="Calibri" pitchFamily="34" charset="-120"/>
              </a:rPr>
              <a:t>Delai de traitement</a:t>
            </a:r>
            <a:endParaRPr lang="en-US" sz="1250" dirty="0"/>
          </a:p>
        </p:txBody>
      </p:sp>
      <p:sp>
        <p:nvSpPr>
          <p:cNvPr id="17" name="Text 15"/>
          <p:cNvSpPr/>
          <p:nvPr/>
        </p:nvSpPr>
        <p:spPr>
          <a:xfrm>
            <a:off x="374904" y="3154680"/>
            <a:ext cx="3977640" cy="859536"/>
          </a:xfrm>
          <a:prstGeom prst="rect">
            <a:avLst/>
          </a:prstGeom>
          <a:noFill/>
          <a:ln/>
        </p:spPr>
        <p:txBody>
          <a:bodyPr wrap="square" rtlCol="0" anchor="t"/>
          <a:lstStyle/>
          <a:p>
            <a:pPr marL="0" indent="0">
              <a:buNone/>
            </a:pPr>
            <a:r>
              <a:rPr lang="en-US" sz="1200" dirty="0">
                <a:latin typeface="Calibri" pitchFamily="34" charset="0"/>
                <a:ea typeface="Calibri" pitchFamily="34" charset="-122"/>
                <a:cs typeface="Calibri" pitchFamily="34" charset="-120"/>
              </a:rPr>
              <a:t>Temps de commutation dans les routeurs.</a:t>
            </a:r>
            <a:endParaRPr lang="en-US" sz="1200" dirty="0"/>
          </a:p>
          <a:p>
            <a:pPr marL="0" indent="0">
              <a:buNone/>
            </a:pPr>
            <a:r>
              <a:rPr lang="en-US" sz="1200" dirty="0">
                <a:latin typeface="Calibri" pitchFamily="34" charset="0"/>
                <a:ea typeface="Calibri" pitchFamily="34" charset="-122"/>
                <a:cs typeface="Calibri" pitchFamily="34" charset="-120"/>
              </a:rPr>
              <a:t>Typiquement quelques microsecondes sur</a:t>
            </a:r>
            <a:endParaRPr lang="en-US" sz="1200" dirty="0"/>
          </a:p>
          <a:p>
            <a:pPr marL="0" indent="0">
              <a:buNone/>
            </a:pPr>
            <a:r>
              <a:rPr lang="en-US" sz="1200" dirty="0">
                <a:latin typeface="Calibri" pitchFamily="34" charset="0"/>
                <a:ea typeface="Calibri" pitchFamily="34" charset="-122"/>
                <a:cs typeface="Calibri" pitchFamily="34" charset="-120"/>
              </a:rPr>
              <a:t>du materiel moderne</a:t>
            </a:r>
            <a:r>
              <a:rPr lang="en-US" sz="1050" dirty="0">
                <a:solidFill>
                  <a:srgbClr val="212121"/>
                </a:solidFill>
                <a:latin typeface="Calibri" pitchFamily="34" charset="0"/>
                <a:ea typeface="Calibri" pitchFamily="34" charset="-122"/>
                <a:cs typeface="Calibri" pitchFamily="34" charset="-120"/>
              </a:rPr>
              <a:t>.</a:t>
            </a:r>
            <a:endParaRPr lang="en-US" sz="1050" dirty="0"/>
          </a:p>
        </p:txBody>
      </p:sp>
      <p:sp>
        <p:nvSpPr>
          <p:cNvPr id="18" name="Shape 16"/>
          <p:cNvSpPr/>
          <p:nvPr/>
        </p:nvSpPr>
        <p:spPr>
          <a:xfrm>
            <a:off x="4718304" y="2715768"/>
            <a:ext cx="4206240" cy="1389888"/>
          </a:xfrm>
          <a:prstGeom prst="rect">
            <a:avLst/>
          </a:prstGeom>
          <a:solidFill>
            <a:srgbClr val="FFFFFF"/>
          </a:solidFill>
          <a:ln w="6350">
            <a:solidFill>
              <a:srgbClr val="BDBDBD"/>
            </a:solidFill>
            <a:prstDash val="solid"/>
          </a:ln>
          <a:effectLst>
            <a:outerShdw blurRad="63500" dist="25400" dir="8100000" algn="bl" rotWithShape="0">
              <a:srgbClr val="000000">
                <a:alpha val="10000"/>
              </a:srgbClr>
            </a:outerShdw>
          </a:effectLst>
        </p:spPr>
      </p:sp>
      <p:sp>
        <p:nvSpPr>
          <p:cNvPr id="19" name="Shape 17"/>
          <p:cNvSpPr/>
          <p:nvPr/>
        </p:nvSpPr>
        <p:spPr>
          <a:xfrm>
            <a:off x="4718304" y="2715768"/>
            <a:ext cx="4206240" cy="54864"/>
          </a:xfrm>
          <a:prstGeom prst="rect">
            <a:avLst/>
          </a:prstGeom>
          <a:solidFill>
            <a:srgbClr val="1565C0"/>
          </a:solidFill>
          <a:ln/>
        </p:spPr>
      </p:sp>
      <p:sp>
        <p:nvSpPr>
          <p:cNvPr id="20" name="Text 18"/>
          <p:cNvSpPr/>
          <p:nvPr/>
        </p:nvSpPr>
        <p:spPr>
          <a:xfrm>
            <a:off x="4837176" y="2807208"/>
            <a:ext cx="3977640" cy="320040"/>
          </a:xfrm>
          <a:prstGeom prst="rect">
            <a:avLst/>
          </a:prstGeom>
          <a:noFill/>
          <a:ln/>
        </p:spPr>
        <p:txBody>
          <a:bodyPr wrap="square" rtlCol="0" anchor="ctr"/>
          <a:lstStyle/>
          <a:p>
            <a:pPr marL="0" indent="0">
              <a:buNone/>
            </a:pPr>
            <a:r>
              <a:rPr lang="en-US" sz="1250" b="1" dirty="0">
                <a:solidFill>
                  <a:srgbClr val="1565C0"/>
                </a:solidFill>
                <a:latin typeface="Calibri" pitchFamily="34" charset="0"/>
                <a:ea typeface="Calibri" pitchFamily="34" charset="-122"/>
                <a:cs typeface="Calibri" pitchFamily="34" charset="-120"/>
              </a:rPr>
              <a:t>Delai de file d attente</a:t>
            </a:r>
            <a:endParaRPr lang="en-US" sz="1250" dirty="0"/>
          </a:p>
        </p:txBody>
      </p:sp>
      <p:sp>
        <p:nvSpPr>
          <p:cNvPr id="21" name="Text 19"/>
          <p:cNvSpPr/>
          <p:nvPr/>
        </p:nvSpPr>
        <p:spPr>
          <a:xfrm>
            <a:off x="4837176" y="3154680"/>
            <a:ext cx="3977640" cy="859536"/>
          </a:xfrm>
          <a:prstGeom prst="rect">
            <a:avLst/>
          </a:prstGeom>
          <a:noFill/>
          <a:ln/>
        </p:spPr>
        <p:txBody>
          <a:bodyPr wrap="square" rtlCol="0" anchor="t"/>
          <a:lstStyle/>
          <a:p>
            <a:pPr marL="0" indent="0">
              <a:buNone/>
            </a:pPr>
            <a:r>
              <a:rPr lang="en-US" sz="1200" dirty="0">
                <a:latin typeface="Calibri" pitchFamily="34" charset="0"/>
                <a:ea typeface="Calibri" pitchFamily="34" charset="-122"/>
                <a:cs typeface="Calibri" pitchFamily="34" charset="-120"/>
              </a:rPr>
              <a:t>Temps d attente dans les buffers du routeur.</a:t>
            </a:r>
            <a:endParaRPr lang="en-US" sz="1200" dirty="0"/>
          </a:p>
          <a:p>
            <a:pPr marL="0" indent="0">
              <a:buNone/>
            </a:pPr>
            <a:r>
              <a:rPr lang="en-US" sz="1200" dirty="0">
                <a:latin typeface="Calibri" pitchFamily="34" charset="0"/>
                <a:ea typeface="Calibri" pitchFamily="34" charset="-122"/>
                <a:cs typeface="Calibri" pitchFamily="34" charset="-120"/>
              </a:rPr>
              <a:t>C est la composante la plus VARIABLE.</a:t>
            </a:r>
            <a:endParaRPr lang="en-US" sz="1200" dirty="0"/>
          </a:p>
          <a:p>
            <a:pPr marL="0" indent="0">
              <a:buNone/>
            </a:pPr>
            <a:r>
              <a:rPr lang="en-US" sz="1200" dirty="0">
                <a:latin typeface="Calibri" pitchFamily="34" charset="0"/>
                <a:ea typeface="Calibri" pitchFamily="34" charset="-122"/>
                <a:cs typeface="Calibri" pitchFamily="34" charset="-120"/>
              </a:rPr>
              <a:t>Dominant en cas de congestion reseau.</a:t>
            </a:r>
            <a:endParaRPr lang="en-US" sz="1200" dirty="0"/>
          </a:p>
        </p:txBody>
      </p:sp>
      <p:sp>
        <p:nvSpPr>
          <p:cNvPr id="22" name="Shape 20"/>
          <p:cNvSpPr/>
          <p:nvPr/>
        </p:nvSpPr>
        <p:spPr>
          <a:xfrm>
            <a:off x="256032" y="4251960"/>
            <a:ext cx="8631936" cy="621792"/>
          </a:xfrm>
          <a:prstGeom prst="rect">
            <a:avLst/>
          </a:prstGeom>
          <a:solidFill>
            <a:srgbClr val="FFFFFF"/>
          </a:solidFill>
          <a:ln w="12700">
            <a:solidFill>
              <a:srgbClr val="1565C0"/>
            </a:solidFill>
            <a:prstDash val="solid"/>
          </a:ln>
        </p:spPr>
      </p:sp>
      <p:sp>
        <p:nvSpPr>
          <p:cNvPr id="23" name="Text 21"/>
          <p:cNvSpPr/>
          <p:nvPr/>
        </p:nvSpPr>
        <p:spPr>
          <a:xfrm>
            <a:off x="411480" y="4279392"/>
            <a:ext cx="2743200" cy="274320"/>
          </a:xfrm>
          <a:prstGeom prst="rect">
            <a:avLst/>
          </a:prstGeom>
          <a:noFill/>
          <a:ln/>
        </p:spPr>
        <p:txBody>
          <a:bodyPr wrap="square" rtlCol="0" anchor="ctr"/>
          <a:lstStyle/>
          <a:p>
            <a:pPr marL="0" indent="0">
              <a:buNone/>
            </a:pPr>
            <a:r>
              <a:rPr lang="en-US" sz="1150" b="1" dirty="0">
                <a:solidFill>
                  <a:srgbClr val="1565C0"/>
                </a:solidFill>
                <a:latin typeface="Calibri" pitchFamily="34" charset="0"/>
                <a:ea typeface="Calibri" pitchFamily="34" charset="-122"/>
                <a:cs typeface="Calibri" pitchFamily="34" charset="-120"/>
              </a:rPr>
              <a:t>Seuils importants a connaitre :</a:t>
            </a:r>
            <a:endParaRPr lang="en-US" sz="1150" dirty="0"/>
          </a:p>
        </p:txBody>
      </p:sp>
      <p:sp>
        <p:nvSpPr>
          <p:cNvPr id="24" name="Shape 22"/>
          <p:cNvSpPr/>
          <p:nvPr/>
        </p:nvSpPr>
        <p:spPr>
          <a:xfrm>
            <a:off x="256032" y="4553712"/>
            <a:ext cx="2011680" cy="292608"/>
          </a:xfrm>
          <a:prstGeom prst="rect">
            <a:avLst/>
          </a:prstGeom>
          <a:solidFill>
            <a:srgbClr val="1565C0">
              <a:alpha val="20000"/>
            </a:srgbClr>
          </a:solidFill>
          <a:ln w="6350">
            <a:solidFill>
              <a:srgbClr val="1565C0"/>
            </a:solidFill>
            <a:prstDash val="solid"/>
          </a:ln>
        </p:spPr>
      </p:sp>
      <p:sp>
        <p:nvSpPr>
          <p:cNvPr id="25" name="Text 23"/>
          <p:cNvSpPr/>
          <p:nvPr/>
        </p:nvSpPr>
        <p:spPr>
          <a:xfrm>
            <a:off x="256032" y="4553712"/>
            <a:ext cx="2011680" cy="292608"/>
          </a:xfrm>
          <a:prstGeom prst="rect">
            <a:avLst/>
          </a:prstGeom>
          <a:noFill/>
          <a:ln/>
        </p:spPr>
        <p:txBody>
          <a:bodyPr wrap="square" rtlCol="0" anchor="ctr"/>
          <a:lstStyle/>
          <a:p>
            <a:pPr marL="0" indent="0" algn="ctr">
              <a:buNone/>
            </a:pPr>
            <a:r>
              <a:rPr lang="en-US" sz="1200" b="1" dirty="0">
                <a:latin typeface="Calibri" pitchFamily="34" charset="0"/>
                <a:ea typeface="Calibri" pitchFamily="34" charset="-122"/>
                <a:cs typeface="Calibri" pitchFamily="34" charset="-120"/>
              </a:rPr>
              <a:t>&lt; 150 ms : VoIP acceptable (ITU-T G.114)</a:t>
            </a:r>
            <a:endParaRPr lang="en-US" sz="1200" dirty="0"/>
          </a:p>
        </p:txBody>
      </p:sp>
      <p:sp>
        <p:nvSpPr>
          <p:cNvPr id="26" name="Shape 24"/>
          <p:cNvSpPr/>
          <p:nvPr/>
        </p:nvSpPr>
        <p:spPr>
          <a:xfrm>
            <a:off x="2377440" y="4553712"/>
            <a:ext cx="2011680" cy="292608"/>
          </a:xfrm>
          <a:prstGeom prst="rect">
            <a:avLst/>
          </a:prstGeom>
          <a:solidFill>
            <a:srgbClr val="1565C0">
              <a:alpha val="20000"/>
            </a:srgbClr>
          </a:solidFill>
          <a:ln w="6350">
            <a:solidFill>
              <a:srgbClr val="1565C0"/>
            </a:solidFill>
            <a:prstDash val="solid"/>
          </a:ln>
        </p:spPr>
      </p:sp>
      <p:sp>
        <p:nvSpPr>
          <p:cNvPr id="27" name="Text 25"/>
          <p:cNvSpPr/>
          <p:nvPr/>
        </p:nvSpPr>
        <p:spPr>
          <a:xfrm>
            <a:off x="2377440" y="4553712"/>
            <a:ext cx="2011680" cy="292608"/>
          </a:xfrm>
          <a:prstGeom prst="rect">
            <a:avLst/>
          </a:prstGeom>
          <a:noFill/>
          <a:ln/>
        </p:spPr>
        <p:txBody>
          <a:bodyPr wrap="square" rtlCol="0" anchor="ctr"/>
          <a:lstStyle/>
          <a:p>
            <a:pPr marL="0" indent="0" algn="ctr">
              <a:buNone/>
            </a:pPr>
            <a:r>
              <a:rPr lang="en-US" sz="1200" b="1" dirty="0">
                <a:latin typeface="Calibri" pitchFamily="34" charset="0"/>
                <a:ea typeface="Calibri" pitchFamily="34" charset="-122"/>
                <a:cs typeface="Calibri" pitchFamily="34" charset="-120"/>
              </a:rPr>
              <a:t>&lt; 300 ms : Video conference acceptable</a:t>
            </a:r>
            <a:endParaRPr lang="en-US" sz="1200" dirty="0"/>
          </a:p>
        </p:txBody>
      </p:sp>
      <p:sp>
        <p:nvSpPr>
          <p:cNvPr id="28" name="Shape 26"/>
          <p:cNvSpPr/>
          <p:nvPr/>
        </p:nvSpPr>
        <p:spPr>
          <a:xfrm>
            <a:off x="4498848" y="4553712"/>
            <a:ext cx="2011680" cy="292608"/>
          </a:xfrm>
          <a:prstGeom prst="rect">
            <a:avLst/>
          </a:prstGeom>
          <a:solidFill>
            <a:srgbClr val="1565C0">
              <a:alpha val="20000"/>
            </a:srgbClr>
          </a:solidFill>
          <a:ln w="6350">
            <a:solidFill>
              <a:srgbClr val="1565C0"/>
            </a:solidFill>
            <a:prstDash val="solid"/>
          </a:ln>
        </p:spPr>
      </p:sp>
      <p:sp>
        <p:nvSpPr>
          <p:cNvPr id="29" name="Text 27"/>
          <p:cNvSpPr/>
          <p:nvPr/>
        </p:nvSpPr>
        <p:spPr>
          <a:xfrm>
            <a:off x="4498848" y="4553712"/>
            <a:ext cx="2011680" cy="292608"/>
          </a:xfrm>
          <a:prstGeom prst="rect">
            <a:avLst/>
          </a:prstGeom>
          <a:noFill/>
          <a:ln/>
        </p:spPr>
        <p:txBody>
          <a:bodyPr wrap="square" rtlCol="0" anchor="ctr"/>
          <a:lstStyle/>
          <a:p>
            <a:pPr marL="0" indent="0" algn="ctr">
              <a:buNone/>
            </a:pPr>
            <a:r>
              <a:rPr lang="en-US" sz="1200" b="1" dirty="0">
                <a:latin typeface="Calibri" pitchFamily="34" charset="0"/>
                <a:ea typeface="Calibri" pitchFamily="34" charset="-122"/>
                <a:cs typeface="Calibri" pitchFamily="34" charset="-120"/>
              </a:rPr>
              <a:t>&gt; 400 ms : Conversation impossible</a:t>
            </a:r>
            <a:endParaRPr lang="en-US" sz="1200" dirty="0"/>
          </a:p>
        </p:txBody>
      </p:sp>
      <p:sp>
        <p:nvSpPr>
          <p:cNvPr id="30" name="Shape 28"/>
          <p:cNvSpPr/>
          <p:nvPr/>
        </p:nvSpPr>
        <p:spPr>
          <a:xfrm>
            <a:off x="6620256" y="4553712"/>
            <a:ext cx="2011680" cy="292608"/>
          </a:xfrm>
          <a:prstGeom prst="rect">
            <a:avLst/>
          </a:prstGeom>
          <a:solidFill>
            <a:srgbClr val="1565C0">
              <a:alpha val="20000"/>
            </a:srgbClr>
          </a:solidFill>
          <a:ln w="6350">
            <a:solidFill>
              <a:srgbClr val="1565C0"/>
            </a:solidFill>
            <a:prstDash val="solid"/>
          </a:ln>
        </p:spPr>
      </p:sp>
      <p:sp>
        <p:nvSpPr>
          <p:cNvPr id="31" name="Text 29"/>
          <p:cNvSpPr/>
          <p:nvPr/>
        </p:nvSpPr>
        <p:spPr>
          <a:xfrm>
            <a:off x="6620256" y="4553712"/>
            <a:ext cx="2011680" cy="292608"/>
          </a:xfrm>
          <a:prstGeom prst="rect">
            <a:avLst/>
          </a:prstGeom>
          <a:noFill/>
          <a:ln/>
        </p:spPr>
        <p:txBody>
          <a:bodyPr wrap="square" rtlCol="0" anchor="ctr"/>
          <a:lstStyle/>
          <a:p>
            <a:pPr marL="0" indent="0" algn="ctr">
              <a:buNone/>
            </a:pPr>
            <a:r>
              <a:rPr lang="en-US" sz="1200" b="1" dirty="0">
                <a:latin typeface="Calibri" pitchFamily="34" charset="0"/>
                <a:ea typeface="Calibri" pitchFamily="34" charset="-122"/>
                <a:cs typeface="Calibri" pitchFamily="34" charset="-120"/>
              </a:rPr>
              <a:t>&lt; 100 ms : Jeux en ligne fluides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0F2F1"/>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796B"/>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Parametre 2 — La gigue (jitter)</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256032" y="822960"/>
            <a:ext cx="8631936" cy="457200"/>
          </a:xfrm>
          <a:prstGeom prst="rect">
            <a:avLst/>
          </a:prstGeom>
          <a:solidFill>
            <a:srgbClr val="E0F2F1"/>
          </a:solidFill>
          <a:ln w="12700">
            <a:solidFill>
              <a:srgbClr val="00796B"/>
            </a:solidFill>
            <a:prstDash val="solid"/>
          </a:ln>
        </p:spPr>
      </p:sp>
      <p:sp>
        <p:nvSpPr>
          <p:cNvPr id="6" name="Text 4"/>
          <p:cNvSpPr/>
          <p:nvPr/>
        </p:nvSpPr>
        <p:spPr>
          <a:xfrm>
            <a:off x="365760" y="822960"/>
            <a:ext cx="8412480" cy="457200"/>
          </a:xfrm>
          <a:prstGeom prst="rect">
            <a:avLst/>
          </a:prstGeom>
          <a:noFill/>
          <a:ln/>
        </p:spPr>
        <p:txBody>
          <a:bodyPr wrap="square" rtlCol="0" anchor="ctr"/>
          <a:lstStyle/>
          <a:p>
            <a:pPr marL="0" indent="0">
              <a:buNone/>
            </a:pPr>
            <a:r>
              <a:rPr lang="en-US" sz="1300" b="1" dirty="0">
                <a:solidFill>
                  <a:srgbClr val="00796B"/>
                </a:solidFill>
                <a:latin typeface="Calibri" pitchFamily="34" charset="0"/>
                <a:ea typeface="Calibri" pitchFamily="34" charset="-122"/>
                <a:cs typeface="Calibri" pitchFamily="34" charset="-120"/>
              </a:rPr>
              <a:t>Definition : VARIATION du delai entre paquets successifs d un meme flux.</a:t>
            </a:r>
            <a:endParaRPr lang="en-US" sz="1300" dirty="0"/>
          </a:p>
        </p:txBody>
      </p:sp>
      <p:sp>
        <p:nvSpPr>
          <p:cNvPr id="7" name="Shape 5"/>
          <p:cNvSpPr/>
          <p:nvPr/>
        </p:nvSpPr>
        <p:spPr>
          <a:xfrm>
            <a:off x="256032" y="1371600"/>
            <a:ext cx="4160520" cy="502920"/>
          </a:xfrm>
          <a:prstGeom prst="rect">
            <a:avLst/>
          </a:prstGeom>
          <a:solidFill>
            <a:srgbClr val="FFFFFF"/>
          </a:solidFill>
          <a:ln w="19050">
            <a:solidFill>
              <a:srgbClr val="00796B"/>
            </a:solidFill>
            <a:prstDash val="solid"/>
          </a:ln>
        </p:spPr>
      </p:sp>
      <p:sp>
        <p:nvSpPr>
          <p:cNvPr id="8" name="Text 6"/>
          <p:cNvSpPr/>
          <p:nvPr/>
        </p:nvSpPr>
        <p:spPr>
          <a:xfrm>
            <a:off x="365760" y="1371600"/>
            <a:ext cx="3977640" cy="502920"/>
          </a:xfrm>
          <a:prstGeom prst="rect">
            <a:avLst/>
          </a:prstGeom>
          <a:noFill/>
          <a:ln/>
        </p:spPr>
        <p:txBody>
          <a:bodyPr wrap="square" rtlCol="0" anchor="ctr"/>
          <a:lstStyle/>
          <a:p>
            <a:pPr marL="0" indent="0">
              <a:buNone/>
            </a:pPr>
            <a:r>
              <a:rPr lang="en-US" sz="1100" b="1" dirty="0">
                <a:solidFill>
                  <a:srgbClr val="00796B"/>
                </a:solidFill>
                <a:latin typeface="Calibri" pitchFamily="34" charset="0"/>
                <a:ea typeface="Calibri" pitchFamily="34" charset="-122"/>
                <a:cs typeface="Calibri" pitchFamily="34" charset="-120"/>
              </a:rPr>
              <a:t>Formule : Gigue = | Delai(paquet n) - Delai(paquet n-1) |</a:t>
            </a:r>
            <a:endParaRPr lang="en-US" sz="1100" dirty="0"/>
          </a:p>
        </p:txBody>
      </p:sp>
      <p:sp>
        <p:nvSpPr>
          <p:cNvPr id="9" name="Text 7"/>
          <p:cNvSpPr/>
          <p:nvPr/>
        </p:nvSpPr>
        <p:spPr>
          <a:xfrm>
            <a:off x="256032" y="1993392"/>
            <a:ext cx="416052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Causes de la gigue :</a:t>
            </a:r>
            <a:endParaRPr lang="en-US" sz="1200" dirty="0"/>
          </a:p>
        </p:txBody>
      </p:sp>
      <p:sp>
        <p:nvSpPr>
          <p:cNvPr id="10" name="Shape 8"/>
          <p:cNvSpPr/>
          <p:nvPr/>
        </p:nvSpPr>
        <p:spPr>
          <a:xfrm>
            <a:off x="347472" y="2468880"/>
            <a:ext cx="146304" cy="146304"/>
          </a:xfrm>
          <a:prstGeom prst="ellipse">
            <a:avLst/>
          </a:prstGeom>
          <a:solidFill>
            <a:srgbClr val="00796B"/>
          </a:solidFill>
          <a:ln/>
        </p:spPr>
      </p:sp>
      <p:sp>
        <p:nvSpPr>
          <p:cNvPr id="11" name="Text 9"/>
          <p:cNvSpPr/>
          <p:nvPr/>
        </p:nvSpPr>
        <p:spPr>
          <a:xfrm>
            <a:off x="548640" y="2414016"/>
            <a:ext cx="384048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Variation de la charge des files d attente dans les routeurs</a:t>
            </a:r>
            <a:endParaRPr lang="en-US" sz="1200" dirty="0"/>
          </a:p>
        </p:txBody>
      </p:sp>
      <p:sp>
        <p:nvSpPr>
          <p:cNvPr id="12" name="Shape 10"/>
          <p:cNvSpPr/>
          <p:nvPr/>
        </p:nvSpPr>
        <p:spPr>
          <a:xfrm>
            <a:off x="347472" y="2944368"/>
            <a:ext cx="146304" cy="146304"/>
          </a:xfrm>
          <a:prstGeom prst="ellipse">
            <a:avLst/>
          </a:prstGeom>
          <a:solidFill>
            <a:srgbClr val="00796B"/>
          </a:solidFill>
          <a:ln/>
        </p:spPr>
      </p:sp>
      <p:sp>
        <p:nvSpPr>
          <p:cNvPr id="13" name="Text 11"/>
          <p:cNvSpPr/>
          <p:nvPr/>
        </p:nvSpPr>
        <p:spPr>
          <a:xfrm>
            <a:off x="548640" y="2889504"/>
            <a:ext cx="384048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Differents chemins pris par des paquets consecutifs</a:t>
            </a:r>
            <a:endParaRPr lang="en-US" sz="1200" dirty="0"/>
          </a:p>
        </p:txBody>
      </p:sp>
      <p:sp>
        <p:nvSpPr>
          <p:cNvPr id="14" name="Shape 12"/>
          <p:cNvSpPr/>
          <p:nvPr/>
        </p:nvSpPr>
        <p:spPr>
          <a:xfrm>
            <a:off x="347472" y="3419856"/>
            <a:ext cx="146304" cy="146304"/>
          </a:xfrm>
          <a:prstGeom prst="ellipse">
            <a:avLst/>
          </a:prstGeom>
          <a:solidFill>
            <a:srgbClr val="00796B"/>
          </a:solidFill>
          <a:ln/>
        </p:spPr>
      </p:sp>
      <p:sp>
        <p:nvSpPr>
          <p:cNvPr id="15" name="Text 13"/>
          <p:cNvSpPr/>
          <p:nvPr/>
        </p:nvSpPr>
        <p:spPr>
          <a:xfrm>
            <a:off x="548640" y="3364992"/>
            <a:ext cx="384048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Congestion intermittente sur le reseau</a:t>
            </a:r>
            <a:endParaRPr lang="en-US" sz="1200" dirty="0"/>
          </a:p>
        </p:txBody>
      </p:sp>
      <p:sp>
        <p:nvSpPr>
          <p:cNvPr id="16" name="Text 14"/>
          <p:cNvSpPr/>
          <p:nvPr/>
        </p:nvSpPr>
        <p:spPr>
          <a:xfrm>
            <a:off x="4663440" y="1353312"/>
            <a:ext cx="416052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Impacts concrets :</a:t>
            </a:r>
            <a:endParaRPr lang="en-US" sz="1200" dirty="0"/>
          </a:p>
        </p:txBody>
      </p:sp>
      <p:sp>
        <p:nvSpPr>
          <p:cNvPr id="17" name="Shape 15"/>
          <p:cNvSpPr/>
          <p:nvPr/>
        </p:nvSpPr>
        <p:spPr>
          <a:xfrm>
            <a:off x="4663440" y="1719072"/>
            <a:ext cx="4206240" cy="804672"/>
          </a:xfrm>
          <a:prstGeom prst="rect">
            <a:avLst/>
          </a:prstGeom>
          <a:solidFill>
            <a:srgbClr val="FFFFFF"/>
          </a:solidFill>
          <a:ln w="10160">
            <a:solidFill>
              <a:srgbClr val="C62828"/>
            </a:solidFill>
            <a:prstDash val="solid"/>
          </a:ln>
        </p:spPr>
      </p:sp>
      <p:sp>
        <p:nvSpPr>
          <p:cNvPr id="18" name="Text 16"/>
          <p:cNvSpPr/>
          <p:nvPr/>
        </p:nvSpPr>
        <p:spPr>
          <a:xfrm>
            <a:off x="4773168" y="1737360"/>
            <a:ext cx="3977640" cy="274320"/>
          </a:xfrm>
          <a:prstGeom prst="rect">
            <a:avLst/>
          </a:prstGeom>
          <a:noFill/>
          <a:ln/>
        </p:spPr>
        <p:txBody>
          <a:bodyPr wrap="square" rtlCol="0" anchor="ctr"/>
          <a:lstStyle/>
          <a:p>
            <a:pPr marL="0" indent="0">
              <a:buNone/>
            </a:pPr>
            <a:r>
              <a:rPr lang="en-US" sz="1150" b="1" dirty="0">
                <a:solidFill>
                  <a:srgbClr val="C62828"/>
                </a:solidFill>
                <a:latin typeface="Calibri" pitchFamily="34" charset="0"/>
                <a:ea typeface="Calibri" pitchFamily="34" charset="-122"/>
                <a:cs typeface="Calibri" pitchFamily="34" charset="-120"/>
              </a:rPr>
              <a:t>VoIP</a:t>
            </a:r>
            <a:endParaRPr lang="en-US" sz="1150" dirty="0"/>
          </a:p>
        </p:txBody>
      </p:sp>
      <p:sp>
        <p:nvSpPr>
          <p:cNvPr id="19" name="Text 17"/>
          <p:cNvSpPr/>
          <p:nvPr/>
        </p:nvSpPr>
        <p:spPr>
          <a:xfrm>
            <a:off x="4773168" y="2029968"/>
            <a:ext cx="3977640" cy="438912"/>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Voix saccadee, mots coupes, silences intempestifs</a:t>
            </a:r>
            <a:endParaRPr lang="en-US" sz="1200" dirty="0"/>
          </a:p>
        </p:txBody>
      </p:sp>
      <p:sp>
        <p:nvSpPr>
          <p:cNvPr id="20" name="Shape 18"/>
          <p:cNvSpPr/>
          <p:nvPr/>
        </p:nvSpPr>
        <p:spPr>
          <a:xfrm>
            <a:off x="4663440" y="2633472"/>
            <a:ext cx="4206240" cy="804672"/>
          </a:xfrm>
          <a:prstGeom prst="rect">
            <a:avLst/>
          </a:prstGeom>
          <a:solidFill>
            <a:srgbClr val="FFFFFF"/>
          </a:solidFill>
          <a:ln w="10160">
            <a:solidFill>
              <a:srgbClr val="C62828"/>
            </a:solidFill>
            <a:prstDash val="solid"/>
          </a:ln>
        </p:spPr>
      </p:sp>
      <p:sp>
        <p:nvSpPr>
          <p:cNvPr id="21" name="Text 19"/>
          <p:cNvSpPr/>
          <p:nvPr/>
        </p:nvSpPr>
        <p:spPr>
          <a:xfrm>
            <a:off x="4773168" y="2651760"/>
            <a:ext cx="3977640" cy="274320"/>
          </a:xfrm>
          <a:prstGeom prst="rect">
            <a:avLst/>
          </a:prstGeom>
          <a:noFill/>
          <a:ln/>
        </p:spPr>
        <p:txBody>
          <a:bodyPr wrap="square" rtlCol="0" anchor="ctr"/>
          <a:lstStyle/>
          <a:p>
            <a:pPr marL="0" indent="0">
              <a:buNone/>
            </a:pPr>
            <a:r>
              <a:rPr lang="en-US" sz="1150" b="1" dirty="0">
                <a:solidFill>
                  <a:srgbClr val="C62828"/>
                </a:solidFill>
                <a:latin typeface="Calibri" pitchFamily="34" charset="0"/>
                <a:ea typeface="Calibri" pitchFamily="34" charset="-122"/>
                <a:cs typeface="Calibri" pitchFamily="34" charset="-120"/>
              </a:rPr>
              <a:t>Video</a:t>
            </a:r>
            <a:endParaRPr lang="en-US" sz="1150" dirty="0"/>
          </a:p>
        </p:txBody>
      </p:sp>
      <p:sp>
        <p:nvSpPr>
          <p:cNvPr id="22" name="Text 20"/>
          <p:cNvSpPr/>
          <p:nvPr/>
        </p:nvSpPr>
        <p:spPr>
          <a:xfrm>
            <a:off x="4773168" y="2944368"/>
            <a:ext cx="3977640" cy="438912"/>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Images gelees puis acceleration, artefacts visuels</a:t>
            </a:r>
            <a:endParaRPr lang="en-US" sz="1200" dirty="0"/>
          </a:p>
        </p:txBody>
      </p:sp>
      <p:sp>
        <p:nvSpPr>
          <p:cNvPr id="23" name="Shape 21"/>
          <p:cNvSpPr/>
          <p:nvPr/>
        </p:nvSpPr>
        <p:spPr>
          <a:xfrm>
            <a:off x="4663440" y="3547872"/>
            <a:ext cx="4206240" cy="804672"/>
          </a:xfrm>
          <a:prstGeom prst="rect">
            <a:avLst/>
          </a:prstGeom>
          <a:solidFill>
            <a:srgbClr val="FFFFFF"/>
          </a:solidFill>
          <a:ln w="10160">
            <a:solidFill>
              <a:srgbClr val="C62828"/>
            </a:solidFill>
            <a:prstDash val="solid"/>
          </a:ln>
        </p:spPr>
      </p:sp>
      <p:sp>
        <p:nvSpPr>
          <p:cNvPr id="24" name="Text 22"/>
          <p:cNvSpPr/>
          <p:nvPr/>
        </p:nvSpPr>
        <p:spPr>
          <a:xfrm>
            <a:off x="4773168" y="3566160"/>
            <a:ext cx="3977640" cy="274320"/>
          </a:xfrm>
          <a:prstGeom prst="rect">
            <a:avLst/>
          </a:prstGeom>
          <a:noFill/>
          <a:ln/>
        </p:spPr>
        <p:txBody>
          <a:bodyPr wrap="square" rtlCol="0" anchor="ctr"/>
          <a:lstStyle/>
          <a:p>
            <a:pPr marL="0" indent="0">
              <a:buNone/>
            </a:pPr>
            <a:r>
              <a:rPr lang="en-US" sz="1150" b="1" dirty="0">
                <a:solidFill>
                  <a:srgbClr val="C62828"/>
                </a:solidFill>
                <a:latin typeface="Calibri" pitchFamily="34" charset="0"/>
                <a:ea typeface="Calibri" pitchFamily="34" charset="-122"/>
                <a:cs typeface="Calibri" pitchFamily="34" charset="-120"/>
              </a:rPr>
              <a:t>Jeux en ligne</a:t>
            </a:r>
            <a:endParaRPr lang="en-US" sz="1150" dirty="0"/>
          </a:p>
        </p:txBody>
      </p:sp>
      <p:sp>
        <p:nvSpPr>
          <p:cNvPr id="25" name="Text 23"/>
          <p:cNvSpPr/>
          <p:nvPr/>
        </p:nvSpPr>
        <p:spPr>
          <a:xfrm>
            <a:off x="4773168" y="3858768"/>
            <a:ext cx="3977640" cy="438912"/>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Personnage qui teleporte, lag spike, desynchronisation</a:t>
            </a:r>
            <a:endParaRPr lang="en-US" sz="1200" dirty="0"/>
          </a:p>
        </p:txBody>
      </p:sp>
      <p:sp>
        <p:nvSpPr>
          <p:cNvPr id="26" name="Shape 24"/>
          <p:cNvSpPr/>
          <p:nvPr/>
        </p:nvSpPr>
        <p:spPr>
          <a:xfrm>
            <a:off x="256032" y="4251960"/>
            <a:ext cx="8631936" cy="621792"/>
          </a:xfrm>
          <a:prstGeom prst="rect">
            <a:avLst/>
          </a:prstGeom>
          <a:solidFill>
            <a:srgbClr val="FFFDE7"/>
          </a:solidFill>
          <a:ln w="19050">
            <a:solidFill>
              <a:srgbClr val="00796B"/>
            </a:solidFill>
            <a:prstDash val="solid"/>
          </a:ln>
        </p:spPr>
      </p:sp>
      <p:sp>
        <p:nvSpPr>
          <p:cNvPr id="27" name="Text 25"/>
          <p:cNvSpPr/>
          <p:nvPr/>
        </p:nvSpPr>
        <p:spPr>
          <a:xfrm>
            <a:off x="411480" y="4279392"/>
            <a:ext cx="2560320" cy="274320"/>
          </a:xfrm>
          <a:prstGeom prst="rect">
            <a:avLst/>
          </a:prstGeom>
          <a:noFill/>
          <a:ln/>
        </p:spPr>
        <p:txBody>
          <a:bodyPr wrap="square" rtlCol="0" anchor="ctr"/>
          <a:lstStyle/>
          <a:p>
            <a:pPr marL="0" indent="0">
              <a:buNone/>
            </a:pPr>
            <a:r>
              <a:rPr lang="en-US" sz="1200" b="1" dirty="0">
                <a:solidFill>
                  <a:srgbClr val="00796B"/>
                </a:solidFill>
                <a:latin typeface="Calibri" pitchFamily="34" charset="0"/>
                <a:ea typeface="Calibri" pitchFamily="34" charset="-122"/>
                <a:cs typeface="Calibri" pitchFamily="34" charset="-120"/>
              </a:rPr>
              <a:t>Remede : Tampon jitter buffer</a:t>
            </a:r>
            <a:endParaRPr lang="en-US" sz="1200" dirty="0"/>
          </a:p>
        </p:txBody>
      </p:sp>
      <p:sp>
        <p:nvSpPr>
          <p:cNvPr id="28" name="Text 26"/>
          <p:cNvSpPr/>
          <p:nvPr/>
        </p:nvSpPr>
        <p:spPr>
          <a:xfrm>
            <a:off x="2971800" y="4270248"/>
            <a:ext cx="5806440" cy="54864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Le recepteur stocke quelques paquets en avance avant de les lire. Cela lisse les irregularites. Ex : Skype garde un buffer de 20-50 ms pour la voix</a:t>
            </a:r>
            <a:r>
              <a:rPr lang="en-US" sz="1050" dirty="0">
                <a:solidFill>
                  <a:srgbClr val="212121"/>
                </a:solidFill>
                <a:latin typeface="Calibri" pitchFamily="34" charset="0"/>
                <a:ea typeface="Calibri" pitchFamily="34" charset="-122"/>
                <a:cs typeface="Calibri" pitchFamily="34" charset="-120"/>
              </a:rPr>
              <a: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Parametres 3 et 4 — Perte de paquets et Bande passante</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256032" y="822960"/>
            <a:ext cx="4206240" cy="411480"/>
          </a:xfrm>
          <a:prstGeom prst="rect">
            <a:avLst/>
          </a:prstGeom>
          <a:solidFill>
            <a:srgbClr val="C62828"/>
          </a:solidFill>
          <a:ln/>
        </p:spPr>
      </p:sp>
      <p:sp>
        <p:nvSpPr>
          <p:cNvPr id="6" name="Text 4"/>
          <p:cNvSpPr/>
          <p:nvPr/>
        </p:nvSpPr>
        <p:spPr>
          <a:xfrm>
            <a:off x="256032" y="822960"/>
            <a:ext cx="420624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Perte de paquets</a:t>
            </a:r>
            <a:endParaRPr lang="en-US" sz="1400" dirty="0"/>
          </a:p>
        </p:txBody>
      </p:sp>
      <p:sp>
        <p:nvSpPr>
          <p:cNvPr id="7" name="Text 5"/>
          <p:cNvSpPr/>
          <p:nvPr/>
        </p:nvSpPr>
        <p:spPr>
          <a:xfrm>
            <a:off x="256032" y="1280160"/>
            <a:ext cx="4206240" cy="320040"/>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Proportion de paquets qui n arrivent JAMAIS a destination.</a:t>
            </a:r>
            <a:endParaRPr lang="en-US" sz="1100" dirty="0"/>
          </a:p>
        </p:txBody>
      </p:sp>
      <p:sp>
        <p:nvSpPr>
          <p:cNvPr id="8" name="Shape 6"/>
          <p:cNvSpPr/>
          <p:nvPr/>
        </p:nvSpPr>
        <p:spPr>
          <a:xfrm>
            <a:off x="256032" y="1664208"/>
            <a:ext cx="4206240" cy="713232"/>
          </a:xfrm>
          <a:prstGeom prst="rect">
            <a:avLst/>
          </a:prstGeom>
          <a:solidFill>
            <a:srgbClr val="FFEBEE"/>
          </a:solidFill>
          <a:ln w="6350">
            <a:solidFill>
              <a:srgbClr val="C62828"/>
            </a:solidFill>
            <a:prstDash val="solid"/>
          </a:ln>
        </p:spPr>
      </p:sp>
      <p:sp>
        <p:nvSpPr>
          <p:cNvPr id="9" name="Text 7"/>
          <p:cNvSpPr/>
          <p:nvPr/>
        </p:nvSpPr>
        <p:spPr>
          <a:xfrm>
            <a:off x="365760" y="1682496"/>
            <a:ext cx="3977640" cy="256032"/>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Congestion</a:t>
            </a:r>
            <a:endParaRPr lang="en-US" sz="1100" dirty="0"/>
          </a:p>
        </p:txBody>
      </p:sp>
      <p:sp>
        <p:nvSpPr>
          <p:cNvPr id="10" name="Text 8"/>
          <p:cNvSpPr/>
          <p:nvPr/>
        </p:nvSpPr>
        <p:spPr>
          <a:xfrm>
            <a:off x="365760" y="1956816"/>
            <a:ext cx="3977640" cy="384048"/>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Les buffers du routeur depassent leur capacite → paquets jetes.</a:t>
            </a:r>
            <a:endParaRPr lang="en-US" sz="1200" dirty="0"/>
          </a:p>
        </p:txBody>
      </p:sp>
      <p:sp>
        <p:nvSpPr>
          <p:cNvPr id="11" name="Shape 9"/>
          <p:cNvSpPr/>
          <p:nvPr/>
        </p:nvSpPr>
        <p:spPr>
          <a:xfrm>
            <a:off x="256032" y="2468880"/>
            <a:ext cx="4206240" cy="713232"/>
          </a:xfrm>
          <a:prstGeom prst="rect">
            <a:avLst/>
          </a:prstGeom>
          <a:solidFill>
            <a:srgbClr val="FFEBEE"/>
          </a:solidFill>
          <a:ln w="6350">
            <a:solidFill>
              <a:srgbClr val="C62828"/>
            </a:solidFill>
            <a:prstDash val="solid"/>
          </a:ln>
        </p:spPr>
      </p:sp>
      <p:sp>
        <p:nvSpPr>
          <p:cNvPr id="12" name="Text 10"/>
          <p:cNvSpPr/>
          <p:nvPr/>
        </p:nvSpPr>
        <p:spPr>
          <a:xfrm>
            <a:off x="365760" y="2487168"/>
            <a:ext cx="3977640" cy="256032"/>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Erreurs physiques</a:t>
            </a:r>
            <a:endParaRPr lang="en-US" sz="1100" dirty="0"/>
          </a:p>
        </p:txBody>
      </p:sp>
      <p:sp>
        <p:nvSpPr>
          <p:cNvPr id="13" name="Text 11"/>
          <p:cNvSpPr/>
          <p:nvPr/>
        </p:nvSpPr>
        <p:spPr>
          <a:xfrm>
            <a:off x="365760" y="2761488"/>
            <a:ext cx="3977640" cy="384048"/>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Bruit sur le lien, interference Wi-Fi → paquet corrompu</a:t>
            </a:r>
            <a:r>
              <a:rPr lang="en-US" sz="1000" dirty="0">
                <a:solidFill>
                  <a:srgbClr val="212121"/>
                </a:solidFill>
                <a:latin typeface="Calibri" pitchFamily="34" charset="0"/>
                <a:ea typeface="Calibri" pitchFamily="34" charset="-122"/>
                <a:cs typeface="Calibri" pitchFamily="34" charset="-120"/>
              </a:rPr>
              <a:t>.</a:t>
            </a:r>
            <a:endParaRPr lang="en-US" sz="1000" dirty="0"/>
          </a:p>
        </p:txBody>
      </p:sp>
      <p:sp>
        <p:nvSpPr>
          <p:cNvPr id="14" name="Shape 12"/>
          <p:cNvSpPr/>
          <p:nvPr/>
        </p:nvSpPr>
        <p:spPr>
          <a:xfrm>
            <a:off x="256032" y="3273552"/>
            <a:ext cx="4206240" cy="713232"/>
          </a:xfrm>
          <a:prstGeom prst="rect">
            <a:avLst/>
          </a:prstGeom>
          <a:solidFill>
            <a:srgbClr val="FFEBEE"/>
          </a:solidFill>
          <a:ln w="6350">
            <a:solidFill>
              <a:srgbClr val="C62828"/>
            </a:solidFill>
            <a:prstDash val="solid"/>
          </a:ln>
        </p:spPr>
      </p:sp>
      <p:sp>
        <p:nvSpPr>
          <p:cNvPr id="15" name="Text 13"/>
          <p:cNvSpPr/>
          <p:nvPr/>
        </p:nvSpPr>
        <p:spPr>
          <a:xfrm>
            <a:off x="365760" y="3291840"/>
            <a:ext cx="3977640" cy="256032"/>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Pannes materiel</a:t>
            </a:r>
            <a:endParaRPr lang="en-US" sz="1100" dirty="0"/>
          </a:p>
        </p:txBody>
      </p:sp>
      <p:sp>
        <p:nvSpPr>
          <p:cNvPr id="16" name="Text 14"/>
          <p:cNvSpPr/>
          <p:nvPr/>
        </p:nvSpPr>
        <p:spPr>
          <a:xfrm>
            <a:off x="365760" y="3566160"/>
            <a:ext cx="3977640" cy="384048"/>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Routeur ou carte reseau defaillant</a:t>
            </a:r>
            <a:r>
              <a:rPr lang="en-US" sz="1000" dirty="0">
                <a:solidFill>
                  <a:srgbClr val="212121"/>
                </a:solidFill>
                <a:latin typeface="Calibri" pitchFamily="34" charset="0"/>
                <a:ea typeface="Calibri" pitchFamily="34" charset="-122"/>
                <a:cs typeface="Calibri" pitchFamily="34" charset="-120"/>
              </a:rPr>
              <a:t>.</a:t>
            </a:r>
            <a:endParaRPr lang="en-US" sz="1000" dirty="0"/>
          </a:p>
        </p:txBody>
      </p:sp>
      <p:sp>
        <p:nvSpPr>
          <p:cNvPr id="17" name="Shape 15"/>
          <p:cNvSpPr/>
          <p:nvPr/>
        </p:nvSpPr>
        <p:spPr>
          <a:xfrm>
            <a:off x="256032" y="4114800"/>
            <a:ext cx="4206240" cy="777240"/>
          </a:xfrm>
          <a:prstGeom prst="rect">
            <a:avLst/>
          </a:prstGeom>
          <a:solidFill>
            <a:srgbClr val="FFFDE7"/>
          </a:solidFill>
          <a:ln w="12700">
            <a:solidFill>
              <a:srgbClr val="E65100"/>
            </a:solidFill>
            <a:prstDash val="solid"/>
          </a:ln>
        </p:spPr>
      </p:sp>
      <p:sp>
        <p:nvSpPr>
          <p:cNvPr id="18" name="Text 16"/>
          <p:cNvSpPr/>
          <p:nvPr/>
        </p:nvSpPr>
        <p:spPr>
          <a:xfrm>
            <a:off x="365760" y="4160520"/>
            <a:ext cx="3977640" cy="658368"/>
          </a:xfrm>
          <a:prstGeom prst="rect">
            <a:avLst/>
          </a:prstGeom>
          <a:noFill/>
          <a:ln/>
        </p:spPr>
        <p:txBody>
          <a:bodyPr wrap="square" rtlCol="0" anchor="ctr"/>
          <a:lstStyle/>
          <a:p>
            <a:pPr marL="0" indent="0">
              <a:buNone/>
            </a:pPr>
            <a:r>
              <a:rPr lang="en-US" sz="1200" b="1" dirty="0">
                <a:solidFill>
                  <a:srgbClr val="E65100"/>
                </a:solidFill>
                <a:latin typeface="Calibri" pitchFamily="34" charset="0"/>
                <a:ea typeface="Calibri" pitchFamily="34" charset="-122"/>
                <a:cs typeface="Calibri" pitchFamily="34" charset="-120"/>
              </a:rPr>
              <a:t>Seuils : VoIP &lt; 1% | Video HD &lt; 0.1% | TCP : retransmission automatique mais lenteur accrue</a:t>
            </a:r>
            <a:endParaRPr lang="en-US" sz="1200" dirty="0"/>
          </a:p>
        </p:txBody>
      </p:sp>
      <p:sp>
        <p:nvSpPr>
          <p:cNvPr id="19" name="Shape 17"/>
          <p:cNvSpPr/>
          <p:nvPr/>
        </p:nvSpPr>
        <p:spPr>
          <a:xfrm>
            <a:off x="4681728" y="822960"/>
            <a:ext cx="4206240" cy="411480"/>
          </a:xfrm>
          <a:prstGeom prst="rect">
            <a:avLst/>
          </a:prstGeom>
          <a:solidFill>
            <a:srgbClr val="E65100"/>
          </a:solidFill>
          <a:ln/>
        </p:spPr>
      </p:sp>
      <p:sp>
        <p:nvSpPr>
          <p:cNvPr id="20" name="Text 18"/>
          <p:cNvSpPr/>
          <p:nvPr/>
        </p:nvSpPr>
        <p:spPr>
          <a:xfrm>
            <a:off x="4681728" y="822960"/>
            <a:ext cx="420624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Bande passante (debit)</a:t>
            </a:r>
            <a:endParaRPr lang="en-US" sz="1400" dirty="0"/>
          </a:p>
        </p:txBody>
      </p:sp>
      <p:sp>
        <p:nvSpPr>
          <p:cNvPr id="21" name="Text 19"/>
          <p:cNvSpPr/>
          <p:nvPr/>
        </p:nvSpPr>
        <p:spPr>
          <a:xfrm>
            <a:off x="4681728" y="1280160"/>
            <a:ext cx="4206240" cy="320040"/>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Capacite maximale de transmission d un lien reseau.</a:t>
            </a:r>
            <a:endParaRPr lang="en-US" sz="1100" dirty="0"/>
          </a:p>
        </p:txBody>
      </p:sp>
      <p:sp>
        <p:nvSpPr>
          <p:cNvPr id="22" name="Shape 20"/>
          <p:cNvSpPr/>
          <p:nvPr/>
        </p:nvSpPr>
        <p:spPr>
          <a:xfrm>
            <a:off x="4681728" y="1664208"/>
            <a:ext cx="4206240" cy="713232"/>
          </a:xfrm>
          <a:prstGeom prst="rect">
            <a:avLst/>
          </a:prstGeom>
          <a:solidFill>
            <a:srgbClr val="FFF8E1"/>
          </a:solidFill>
          <a:ln w="6350">
            <a:solidFill>
              <a:srgbClr val="E65100"/>
            </a:solidFill>
            <a:prstDash val="solid"/>
          </a:ln>
        </p:spPr>
      </p:sp>
      <p:sp>
        <p:nvSpPr>
          <p:cNvPr id="23" name="Text 21"/>
          <p:cNvSpPr/>
          <p:nvPr/>
        </p:nvSpPr>
        <p:spPr>
          <a:xfrm>
            <a:off x="4791456" y="1682496"/>
            <a:ext cx="3977640" cy="256032"/>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Debit nominal</a:t>
            </a:r>
            <a:endParaRPr lang="en-US" sz="1100" dirty="0"/>
          </a:p>
        </p:txBody>
      </p:sp>
      <p:sp>
        <p:nvSpPr>
          <p:cNvPr id="24" name="Text 22"/>
          <p:cNvSpPr/>
          <p:nvPr/>
        </p:nvSpPr>
        <p:spPr>
          <a:xfrm>
            <a:off x="4791456" y="1956816"/>
            <a:ext cx="3977640" cy="384048"/>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Capacite theorique max du lien (ex : 1 Gbps fibre). Ne jamais atteint en pratique.</a:t>
            </a:r>
            <a:endParaRPr lang="en-US" sz="1200" dirty="0"/>
          </a:p>
        </p:txBody>
      </p:sp>
      <p:sp>
        <p:nvSpPr>
          <p:cNvPr id="25" name="Shape 23"/>
          <p:cNvSpPr/>
          <p:nvPr/>
        </p:nvSpPr>
        <p:spPr>
          <a:xfrm>
            <a:off x="4681728" y="2468880"/>
            <a:ext cx="4206240" cy="713232"/>
          </a:xfrm>
          <a:prstGeom prst="rect">
            <a:avLst/>
          </a:prstGeom>
          <a:solidFill>
            <a:srgbClr val="FFF8E1"/>
          </a:solidFill>
          <a:ln w="6350">
            <a:solidFill>
              <a:srgbClr val="E65100"/>
            </a:solidFill>
            <a:prstDash val="solid"/>
          </a:ln>
        </p:spPr>
      </p:sp>
      <p:sp>
        <p:nvSpPr>
          <p:cNvPr id="26" name="Text 24"/>
          <p:cNvSpPr/>
          <p:nvPr/>
        </p:nvSpPr>
        <p:spPr>
          <a:xfrm>
            <a:off x="4791456" y="2487168"/>
            <a:ext cx="3977640" cy="256032"/>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Debit utile (goodput)</a:t>
            </a:r>
            <a:endParaRPr lang="en-US" sz="1100" dirty="0"/>
          </a:p>
        </p:txBody>
      </p:sp>
      <p:sp>
        <p:nvSpPr>
          <p:cNvPr id="27" name="Text 25"/>
          <p:cNvSpPr/>
          <p:nvPr/>
        </p:nvSpPr>
        <p:spPr>
          <a:xfrm>
            <a:off x="4791456" y="2761488"/>
            <a:ext cx="3977640" cy="384048"/>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Debit reel disponible pour l application apres deduction de tous les en-tetes.</a:t>
            </a:r>
            <a:endParaRPr lang="en-US" sz="1200" dirty="0"/>
          </a:p>
        </p:txBody>
      </p:sp>
      <p:sp>
        <p:nvSpPr>
          <p:cNvPr id="28" name="Shape 26"/>
          <p:cNvSpPr/>
          <p:nvPr/>
        </p:nvSpPr>
        <p:spPr>
          <a:xfrm>
            <a:off x="4681728" y="3273552"/>
            <a:ext cx="4206240" cy="713232"/>
          </a:xfrm>
          <a:prstGeom prst="rect">
            <a:avLst/>
          </a:prstGeom>
          <a:solidFill>
            <a:srgbClr val="FFF8E1"/>
          </a:solidFill>
          <a:ln w="6350">
            <a:solidFill>
              <a:srgbClr val="E65100"/>
            </a:solidFill>
            <a:prstDash val="solid"/>
          </a:ln>
        </p:spPr>
      </p:sp>
      <p:sp>
        <p:nvSpPr>
          <p:cNvPr id="29" name="Text 27"/>
          <p:cNvSpPr/>
          <p:nvPr/>
        </p:nvSpPr>
        <p:spPr>
          <a:xfrm>
            <a:off x="4791456" y="3291840"/>
            <a:ext cx="3977640" cy="256032"/>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Debit garanti (CIR)</a:t>
            </a:r>
            <a:endParaRPr lang="en-US" sz="1100" dirty="0"/>
          </a:p>
        </p:txBody>
      </p:sp>
      <p:sp>
        <p:nvSpPr>
          <p:cNvPr id="30" name="Text 28"/>
          <p:cNvSpPr/>
          <p:nvPr/>
        </p:nvSpPr>
        <p:spPr>
          <a:xfrm>
            <a:off x="4791456" y="3566160"/>
            <a:ext cx="3977640" cy="384048"/>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Committed Information Rate : debit minimal GARANTI par le SLA operateur.</a:t>
            </a:r>
            <a:endParaRPr lang="en-US" sz="1200" dirty="0"/>
          </a:p>
        </p:txBody>
      </p:sp>
      <p:sp>
        <p:nvSpPr>
          <p:cNvPr id="31" name="Shape 29"/>
          <p:cNvSpPr/>
          <p:nvPr/>
        </p:nvSpPr>
        <p:spPr>
          <a:xfrm>
            <a:off x="4681728" y="4114800"/>
            <a:ext cx="4206240" cy="777240"/>
          </a:xfrm>
          <a:prstGeom prst="rect">
            <a:avLst/>
          </a:prstGeom>
          <a:solidFill>
            <a:srgbClr val="FFFDE7"/>
          </a:solidFill>
          <a:ln w="12700">
            <a:solidFill>
              <a:srgbClr val="E65100"/>
            </a:solidFill>
            <a:prstDash val="solid"/>
          </a:ln>
        </p:spPr>
      </p:sp>
      <p:sp>
        <p:nvSpPr>
          <p:cNvPr id="32" name="Text 30"/>
          <p:cNvSpPr/>
          <p:nvPr/>
        </p:nvSpPr>
        <p:spPr>
          <a:xfrm>
            <a:off x="4791456" y="4160520"/>
            <a:ext cx="3977640" cy="658368"/>
          </a:xfrm>
          <a:prstGeom prst="rect">
            <a:avLst/>
          </a:prstGeom>
          <a:noFill/>
          <a:ln/>
        </p:spPr>
        <p:txBody>
          <a:bodyPr wrap="square" rtlCol="0" anchor="ctr"/>
          <a:lstStyle/>
          <a:p>
            <a:pPr marL="0" indent="0">
              <a:buNone/>
            </a:pPr>
            <a:r>
              <a:rPr lang="en-US" sz="1200" b="1" dirty="0">
                <a:solidFill>
                  <a:srgbClr val="E65100"/>
                </a:solidFill>
                <a:latin typeface="Calibri" pitchFamily="34" charset="0"/>
                <a:ea typeface="Calibri" pitchFamily="34" charset="-122"/>
                <a:cs typeface="Calibri" pitchFamily="34" charset="-120"/>
              </a:rPr>
              <a:t>Exemples : VoIP = 8-64 kb/s | Video SD = 1-3 Mb/s | Video 4K = 15-25 Mb/s | Jeux = 16-128 kb/s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E65100"/>
          </a:solidFill>
          <a:ln/>
        </p:spPr>
      </p:sp>
      <p:sp>
        <p:nvSpPr>
          <p:cNvPr id="3" name="Text 1"/>
          <p:cNvSpPr/>
          <p:nvPr/>
        </p:nvSpPr>
        <p:spPr>
          <a:xfrm>
            <a:off x="502920" y="548640"/>
            <a:ext cx="2286000" cy="1371600"/>
          </a:xfrm>
          <a:prstGeom prst="rect">
            <a:avLst/>
          </a:prstGeom>
          <a:noFill/>
          <a:ln/>
        </p:spPr>
        <p:txBody>
          <a:bodyPr wrap="square" rtlCol="0" anchor="ctr"/>
          <a:lstStyle/>
          <a:p>
            <a:pPr marL="0" indent="0">
              <a:buNone/>
            </a:pPr>
            <a:r>
              <a:rPr lang="en-US" sz="7200" b="1" dirty="0">
                <a:solidFill>
                  <a:srgbClr val="E65100">
                    <a:alpha val="75000"/>
                  </a:srgbClr>
                </a:solidFill>
                <a:latin typeface="Calibri" pitchFamily="34" charset="0"/>
                <a:ea typeface="Calibri" pitchFamily="34" charset="-122"/>
                <a:cs typeface="Calibri" pitchFamily="34" charset="-120"/>
              </a:rPr>
              <a:t>03</a:t>
            </a:r>
            <a:endParaRPr lang="en-US" sz="7200" dirty="0"/>
          </a:p>
        </p:txBody>
      </p:sp>
      <p:sp>
        <p:nvSpPr>
          <p:cNvPr id="4" name="Text 2"/>
          <p:cNvSpPr/>
          <p:nvPr/>
        </p:nvSpPr>
        <p:spPr>
          <a:xfrm>
            <a:off x="502920" y="1828800"/>
            <a:ext cx="8321040" cy="8229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Approches de QoS</a:t>
            </a:r>
            <a:endParaRPr lang="en-US" sz="3400" dirty="0"/>
          </a:p>
        </p:txBody>
      </p:sp>
      <p:sp>
        <p:nvSpPr>
          <p:cNvPr id="5" name="Text 3"/>
          <p:cNvSpPr/>
          <p:nvPr/>
        </p:nvSpPr>
        <p:spPr>
          <a:xfrm>
            <a:off x="502920" y="2697480"/>
            <a:ext cx="8229600" cy="457200"/>
          </a:xfrm>
          <a:prstGeom prst="rect">
            <a:avLst/>
          </a:prstGeom>
          <a:noFill/>
          <a:ln/>
        </p:spPr>
        <p:txBody>
          <a:bodyPr wrap="square" rtlCol="0" anchor="ctr"/>
          <a:lstStyle/>
          <a:p>
            <a:pPr marL="0" indent="0">
              <a:buNone/>
            </a:pPr>
            <a:r>
              <a:rPr lang="en-US" sz="1400" i="1" dirty="0">
                <a:solidFill>
                  <a:srgbClr val="BDBDBD"/>
                </a:solidFill>
                <a:latin typeface="Calibri" pitchFamily="34" charset="0"/>
                <a:ea typeface="Calibri" pitchFamily="34" charset="-122"/>
                <a:cs typeface="Calibri" pitchFamily="34" charset="-120"/>
              </a:rPr>
              <a:t>Best Effort · IntServ · DiffServ · MPLS</a:t>
            </a:r>
            <a:endParaRPr lang="en-US" sz="1400" dirty="0"/>
          </a:p>
        </p:txBody>
      </p:sp>
      <p:sp>
        <p:nvSpPr>
          <p:cNvPr id="6" name="Shape 4"/>
          <p:cNvSpPr/>
          <p:nvPr/>
        </p:nvSpPr>
        <p:spPr>
          <a:xfrm>
            <a:off x="0" y="4919472"/>
            <a:ext cx="9144000" cy="228600"/>
          </a:xfrm>
          <a:prstGeom prst="rect">
            <a:avLst/>
          </a:prstGeom>
          <a:solidFill>
            <a:srgbClr val="E65100"/>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65100"/>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IntServ / RSVP — Reserver les ressources flux par flux</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256032" y="822960"/>
            <a:ext cx="8631936" cy="438912"/>
          </a:xfrm>
          <a:prstGeom prst="rect">
            <a:avLst/>
          </a:prstGeom>
          <a:solidFill>
            <a:srgbClr val="FFF8E1"/>
          </a:solidFill>
          <a:ln w="12700">
            <a:solidFill>
              <a:srgbClr val="E65100"/>
            </a:solidFill>
            <a:prstDash val="solid"/>
          </a:ln>
        </p:spPr>
      </p:sp>
      <p:sp>
        <p:nvSpPr>
          <p:cNvPr id="6" name="Text 4"/>
          <p:cNvSpPr/>
          <p:nvPr/>
        </p:nvSpPr>
        <p:spPr>
          <a:xfrm>
            <a:off x="384048" y="822960"/>
            <a:ext cx="8412480" cy="438912"/>
          </a:xfrm>
          <a:prstGeom prst="rect">
            <a:avLst/>
          </a:prstGeom>
          <a:noFill/>
          <a:ln/>
        </p:spPr>
        <p:txBody>
          <a:bodyPr wrap="square" rtlCol="0" anchor="ctr"/>
          <a:lstStyle/>
          <a:p>
            <a:pPr marL="0" indent="0">
              <a:buNone/>
            </a:pPr>
            <a:r>
              <a:rPr lang="en-US" sz="1200" b="1" dirty="0">
                <a:solidFill>
                  <a:srgbClr val="E65100"/>
                </a:solidFill>
                <a:latin typeface="Calibri" pitchFamily="34" charset="0"/>
                <a:ea typeface="Calibri" pitchFamily="34" charset="-122"/>
                <a:cs typeface="Calibri" pitchFamily="34" charset="-120"/>
              </a:rPr>
              <a:t>Analogie : IntServ = reserver une table au restaurant AVANT d y aller. Votre place est GARANTIE peu importe la frequentation.</a:t>
            </a:r>
            <a:endParaRPr lang="en-US" sz="1200" dirty="0"/>
          </a:p>
        </p:txBody>
      </p:sp>
      <p:sp>
        <p:nvSpPr>
          <p:cNvPr id="7" name="Text 5"/>
          <p:cNvSpPr/>
          <p:nvPr/>
        </p:nvSpPr>
        <p:spPr>
          <a:xfrm>
            <a:off x="256032" y="1353312"/>
            <a:ext cx="4389120" cy="34747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Le protocole RSVP en 3 etapes :</a:t>
            </a:r>
            <a:endParaRPr lang="en-US" sz="1300" dirty="0"/>
          </a:p>
        </p:txBody>
      </p:sp>
      <p:sp>
        <p:nvSpPr>
          <p:cNvPr id="8" name="Shape 6"/>
          <p:cNvSpPr/>
          <p:nvPr/>
        </p:nvSpPr>
        <p:spPr>
          <a:xfrm>
            <a:off x="256032" y="1783080"/>
            <a:ext cx="475488" cy="475488"/>
          </a:xfrm>
          <a:prstGeom prst="ellipse">
            <a:avLst/>
          </a:prstGeom>
          <a:solidFill>
            <a:srgbClr val="1565C0"/>
          </a:solidFill>
          <a:ln/>
        </p:spPr>
      </p:sp>
      <p:sp>
        <p:nvSpPr>
          <p:cNvPr id="9" name="Text 7"/>
          <p:cNvSpPr/>
          <p:nvPr/>
        </p:nvSpPr>
        <p:spPr>
          <a:xfrm>
            <a:off x="256032" y="1783080"/>
            <a:ext cx="475488"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Shape 8"/>
          <p:cNvSpPr/>
          <p:nvPr/>
        </p:nvSpPr>
        <p:spPr>
          <a:xfrm>
            <a:off x="804672" y="1755648"/>
            <a:ext cx="3886200" cy="822960"/>
          </a:xfrm>
          <a:prstGeom prst="rect">
            <a:avLst/>
          </a:prstGeom>
          <a:solidFill>
            <a:srgbClr val="F5F5F5"/>
          </a:solidFill>
          <a:ln w="12700">
            <a:solidFill>
              <a:srgbClr val="1565C0"/>
            </a:solidFill>
            <a:prstDash val="solid"/>
          </a:ln>
        </p:spPr>
      </p:sp>
      <p:sp>
        <p:nvSpPr>
          <p:cNvPr id="11" name="Text 9"/>
          <p:cNvSpPr/>
          <p:nvPr/>
        </p:nvSpPr>
        <p:spPr>
          <a:xfrm>
            <a:off x="896112" y="1783080"/>
            <a:ext cx="3749040" cy="274320"/>
          </a:xfrm>
          <a:prstGeom prst="rect">
            <a:avLst/>
          </a:prstGeom>
          <a:noFill/>
          <a:ln/>
        </p:spPr>
        <p:txBody>
          <a:bodyPr wrap="square" rtlCol="0" anchor="ctr"/>
          <a:lstStyle/>
          <a:p>
            <a:pPr marL="0" indent="0">
              <a:buNone/>
            </a:pPr>
            <a:r>
              <a:rPr lang="en-US" sz="1150" b="1" dirty="0">
                <a:solidFill>
                  <a:srgbClr val="1565C0"/>
                </a:solidFill>
                <a:latin typeface="Calibri" pitchFamily="34" charset="0"/>
                <a:ea typeface="Calibri" pitchFamily="34" charset="-122"/>
                <a:cs typeface="Calibri" pitchFamily="34" charset="-120"/>
              </a:rPr>
              <a:t>1 — Message PATH</a:t>
            </a:r>
            <a:endParaRPr lang="en-US" sz="1150" dirty="0"/>
          </a:p>
        </p:txBody>
      </p:sp>
      <p:sp>
        <p:nvSpPr>
          <p:cNvPr id="12" name="Text 10"/>
          <p:cNvSpPr/>
          <p:nvPr/>
        </p:nvSpPr>
        <p:spPr>
          <a:xfrm>
            <a:off x="896112" y="2075688"/>
            <a:ext cx="374904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La SOURCE envoie un message PATH vers la destination. Chaque routeur memorise le chemin mais ne reserve RIEN encore.</a:t>
            </a:r>
            <a:endParaRPr lang="en-US" sz="1200" dirty="0"/>
          </a:p>
        </p:txBody>
      </p:sp>
      <p:sp>
        <p:nvSpPr>
          <p:cNvPr id="13" name="Shape 11"/>
          <p:cNvSpPr/>
          <p:nvPr/>
        </p:nvSpPr>
        <p:spPr>
          <a:xfrm>
            <a:off x="256032" y="2715768"/>
            <a:ext cx="475488" cy="475488"/>
          </a:xfrm>
          <a:prstGeom prst="ellipse">
            <a:avLst/>
          </a:prstGeom>
          <a:solidFill>
            <a:srgbClr val="00796B"/>
          </a:solidFill>
          <a:ln/>
        </p:spPr>
      </p:sp>
      <p:sp>
        <p:nvSpPr>
          <p:cNvPr id="14" name="Text 12"/>
          <p:cNvSpPr/>
          <p:nvPr/>
        </p:nvSpPr>
        <p:spPr>
          <a:xfrm>
            <a:off x="256032" y="2715768"/>
            <a:ext cx="475488"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Shape 13"/>
          <p:cNvSpPr/>
          <p:nvPr/>
        </p:nvSpPr>
        <p:spPr>
          <a:xfrm>
            <a:off x="804672" y="2688336"/>
            <a:ext cx="3886200" cy="822960"/>
          </a:xfrm>
          <a:prstGeom prst="rect">
            <a:avLst/>
          </a:prstGeom>
          <a:solidFill>
            <a:srgbClr val="F5F5F5"/>
          </a:solidFill>
          <a:ln w="12700">
            <a:solidFill>
              <a:srgbClr val="00796B"/>
            </a:solidFill>
            <a:prstDash val="solid"/>
          </a:ln>
        </p:spPr>
      </p:sp>
      <p:sp>
        <p:nvSpPr>
          <p:cNvPr id="16" name="Text 14"/>
          <p:cNvSpPr/>
          <p:nvPr/>
        </p:nvSpPr>
        <p:spPr>
          <a:xfrm>
            <a:off x="896112" y="2715768"/>
            <a:ext cx="3749040" cy="274320"/>
          </a:xfrm>
          <a:prstGeom prst="rect">
            <a:avLst/>
          </a:prstGeom>
          <a:noFill/>
          <a:ln/>
        </p:spPr>
        <p:txBody>
          <a:bodyPr wrap="square" rtlCol="0" anchor="ctr"/>
          <a:lstStyle/>
          <a:p>
            <a:pPr marL="0" indent="0">
              <a:buNone/>
            </a:pPr>
            <a:r>
              <a:rPr lang="en-US" sz="1150" b="1" dirty="0">
                <a:solidFill>
                  <a:srgbClr val="00796B"/>
                </a:solidFill>
                <a:latin typeface="Calibri" pitchFamily="34" charset="0"/>
                <a:ea typeface="Calibri" pitchFamily="34" charset="-122"/>
                <a:cs typeface="Calibri" pitchFamily="34" charset="-120"/>
              </a:rPr>
              <a:t>2 — Message RESV</a:t>
            </a:r>
            <a:endParaRPr lang="en-US" sz="1150" dirty="0"/>
          </a:p>
        </p:txBody>
      </p:sp>
      <p:sp>
        <p:nvSpPr>
          <p:cNvPr id="17" name="Text 15"/>
          <p:cNvSpPr/>
          <p:nvPr/>
        </p:nvSpPr>
        <p:spPr>
          <a:xfrm>
            <a:off x="896112" y="3008376"/>
            <a:ext cx="374904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La DESTINATION repond avec un message RESV qui remonte vers la source. A chaque routeur, les ressources sont RESERVEES (bande passante + buffers).</a:t>
            </a:r>
            <a:endParaRPr lang="en-US" sz="1200" dirty="0"/>
          </a:p>
        </p:txBody>
      </p:sp>
      <p:sp>
        <p:nvSpPr>
          <p:cNvPr id="18" name="Shape 16"/>
          <p:cNvSpPr/>
          <p:nvPr/>
        </p:nvSpPr>
        <p:spPr>
          <a:xfrm>
            <a:off x="256032" y="3648456"/>
            <a:ext cx="475488" cy="475488"/>
          </a:xfrm>
          <a:prstGeom prst="ellipse">
            <a:avLst/>
          </a:prstGeom>
          <a:solidFill>
            <a:srgbClr val="2E7D32"/>
          </a:solidFill>
          <a:ln/>
        </p:spPr>
      </p:sp>
      <p:sp>
        <p:nvSpPr>
          <p:cNvPr id="19" name="Text 17"/>
          <p:cNvSpPr/>
          <p:nvPr/>
        </p:nvSpPr>
        <p:spPr>
          <a:xfrm>
            <a:off x="256032" y="3648456"/>
            <a:ext cx="475488"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hape 18"/>
          <p:cNvSpPr/>
          <p:nvPr/>
        </p:nvSpPr>
        <p:spPr>
          <a:xfrm>
            <a:off x="804672" y="3621024"/>
            <a:ext cx="3886200" cy="822960"/>
          </a:xfrm>
          <a:prstGeom prst="rect">
            <a:avLst/>
          </a:prstGeom>
          <a:solidFill>
            <a:srgbClr val="F5F5F5"/>
          </a:solidFill>
          <a:ln w="12700">
            <a:solidFill>
              <a:srgbClr val="2E7D32"/>
            </a:solidFill>
            <a:prstDash val="solid"/>
          </a:ln>
        </p:spPr>
      </p:sp>
      <p:sp>
        <p:nvSpPr>
          <p:cNvPr id="21" name="Text 19"/>
          <p:cNvSpPr/>
          <p:nvPr/>
        </p:nvSpPr>
        <p:spPr>
          <a:xfrm>
            <a:off x="896112" y="3648456"/>
            <a:ext cx="3749040" cy="274320"/>
          </a:xfrm>
          <a:prstGeom prst="rect">
            <a:avLst/>
          </a:prstGeom>
          <a:noFill/>
          <a:ln/>
        </p:spPr>
        <p:txBody>
          <a:bodyPr wrap="square" rtlCol="0" anchor="ctr"/>
          <a:lstStyle/>
          <a:p>
            <a:pPr marL="0" indent="0">
              <a:buNone/>
            </a:pPr>
            <a:r>
              <a:rPr lang="en-US" sz="1150" b="1" dirty="0">
                <a:solidFill>
                  <a:srgbClr val="2E7D32"/>
                </a:solidFill>
                <a:latin typeface="Calibri" pitchFamily="34" charset="0"/>
                <a:ea typeface="Calibri" pitchFamily="34" charset="-122"/>
                <a:cs typeface="Calibri" pitchFamily="34" charset="-120"/>
              </a:rPr>
              <a:t>3 — Soft-State (renouvellement)</a:t>
            </a:r>
            <a:endParaRPr lang="en-US" sz="1150" dirty="0"/>
          </a:p>
        </p:txBody>
      </p:sp>
      <p:sp>
        <p:nvSpPr>
          <p:cNvPr id="22" name="Text 20"/>
          <p:cNvSpPr/>
          <p:nvPr/>
        </p:nvSpPr>
        <p:spPr>
          <a:xfrm>
            <a:off x="896112" y="3941064"/>
            <a:ext cx="374904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La reservation a une duree de vie limitee. L application doit envoyer regulierement des messages REFRESH. Sans renouvellement = reservation detruite automatiquement.</a:t>
            </a:r>
            <a:endParaRPr lang="en-US" sz="1200" dirty="0"/>
          </a:p>
        </p:txBody>
      </p:sp>
      <p:sp>
        <p:nvSpPr>
          <p:cNvPr id="23" name="Text 21"/>
          <p:cNvSpPr/>
          <p:nvPr/>
        </p:nvSpPr>
        <p:spPr>
          <a:xfrm>
            <a:off x="5010912" y="1353312"/>
            <a:ext cx="3886200" cy="34747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3 types de service :</a:t>
            </a:r>
            <a:endParaRPr lang="en-US" sz="1300" dirty="0"/>
          </a:p>
        </p:txBody>
      </p:sp>
      <p:sp>
        <p:nvSpPr>
          <p:cNvPr id="24" name="Shape 22"/>
          <p:cNvSpPr/>
          <p:nvPr/>
        </p:nvSpPr>
        <p:spPr>
          <a:xfrm>
            <a:off x="5010912" y="1755648"/>
            <a:ext cx="3886200" cy="822960"/>
          </a:xfrm>
          <a:prstGeom prst="rect">
            <a:avLst/>
          </a:prstGeom>
          <a:solidFill>
            <a:srgbClr val="FFFFFF"/>
          </a:solidFill>
          <a:ln w="15240">
            <a:solidFill>
              <a:srgbClr val="C62828"/>
            </a:solidFill>
            <a:prstDash val="solid"/>
          </a:ln>
          <a:effectLst>
            <a:outerShdw blurRad="63500" dist="25400" dir="8100000" algn="bl" rotWithShape="0">
              <a:srgbClr val="000000">
                <a:alpha val="10000"/>
              </a:srgbClr>
            </a:outerShdw>
          </a:effectLst>
        </p:spPr>
      </p:sp>
      <p:sp>
        <p:nvSpPr>
          <p:cNvPr id="25" name="Shape 23"/>
          <p:cNvSpPr/>
          <p:nvPr/>
        </p:nvSpPr>
        <p:spPr>
          <a:xfrm>
            <a:off x="5010912" y="1755648"/>
            <a:ext cx="64008" cy="822960"/>
          </a:xfrm>
          <a:prstGeom prst="rect">
            <a:avLst/>
          </a:prstGeom>
          <a:solidFill>
            <a:srgbClr val="C62828"/>
          </a:solidFill>
          <a:ln/>
        </p:spPr>
      </p:sp>
      <p:sp>
        <p:nvSpPr>
          <p:cNvPr id="26" name="Text 24"/>
          <p:cNvSpPr/>
          <p:nvPr/>
        </p:nvSpPr>
        <p:spPr>
          <a:xfrm>
            <a:off x="5138928" y="1783080"/>
            <a:ext cx="3657600" cy="274320"/>
          </a:xfrm>
          <a:prstGeom prst="rect">
            <a:avLst/>
          </a:prstGeom>
          <a:noFill/>
          <a:ln/>
        </p:spPr>
        <p:txBody>
          <a:bodyPr wrap="square" rtlCol="0" anchor="ctr"/>
          <a:lstStyle/>
          <a:p>
            <a:pPr marL="0" indent="0">
              <a:buNone/>
            </a:pPr>
            <a:r>
              <a:rPr lang="en-US" sz="1150" b="1" dirty="0">
                <a:solidFill>
                  <a:srgbClr val="C62828"/>
                </a:solidFill>
                <a:latin typeface="Calibri" pitchFamily="34" charset="0"/>
                <a:ea typeface="Calibri" pitchFamily="34" charset="-122"/>
                <a:cs typeface="Calibri" pitchFamily="34" charset="-120"/>
              </a:rPr>
              <a:t>Service Garanti</a:t>
            </a:r>
            <a:endParaRPr lang="en-US" sz="1150" dirty="0"/>
          </a:p>
        </p:txBody>
      </p:sp>
      <p:sp>
        <p:nvSpPr>
          <p:cNvPr id="27" name="Text 25"/>
          <p:cNvSpPr/>
          <p:nvPr/>
        </p:nvSpPr>
        <p:spPr>
          <a:xfrm>
            <a:off x="5138928" y="2075688"/>
            <a:ext cx="3657600" cy="457200"/>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Delai max borne de facon DETERMINISTE. Pour les applications critiques (telemedecine, visioconf haute qualite).</a:t>
            </a:r>
            <a:endParaRPr lang="en-US" sz="1200" dirty="0"/>
          </a:p>
        </p:txBody>
      </p:sp>
      <p:sp>
        <p:nvSpPr>
          <p:cNvPr id="28" name="Shape 26"/>
          <p:cNvSpPr/>
          <p:nvPr/>
        </p:nvSpPr>
        <p:spPr>
          <a:xfrm>
            <a:off x="5010912" y="2688336"/>
            <a:ext cx="3886200" cy="822960"/>
          </a:xfrm>
          <a:prstGeom prst="rect">
            <a:avLst/>
          </a:prstGeom>
          <a:solidFill>
            <a:srgbClr val="FFFFFF"/>
          </a:solidFill>
          <a:ln w="15240">
            <a:solidFill>
              <a:srgbClr val="E65100"/>
            </a:solidFill>
            <a:prstDash val="solid"/>
          </a:ln>
          <a:effectLst>
            <a:outerShdw blurRad="63500" dist="25400" dir="8100000" algn="bl" rotWithShape="0">
              <a:srgbClr val="000000">
                <a:alpha val="10000"/>
              </a:srgbClr>
            </a:outerShdw>
          </a:effectLst>
        </p:spPr>
      </p:sp>
      <p:sp>
        <p:nvSpPr>
          <p:cNvPr id="29" name="Shape 27"/>
          <p:cNvSpPr/>
          <p:nvPr/>
        </p:nvSpPr>
        <p:spPr>
          <a:xfrm>
            <a:off x="5010912" y="2688336"/>
            <a:ext cx="64008" cy="822960"/>
          </a:xfrm>
          <a:prstGeom prst="rect">
            <a:avLst/>
          </a:prstGeom>
          <a:solidFill>
            <a:srgbClr val="E65100"/>
          </a:solidFill>
          <a:ln/>
        </p:spPr>
      </p:sp>
      <p:sp>
        <p:nvSpPr>
          <p:cNvPr id="30" name="Text 28"/>
          <p:cNvSpPr/>
          <p:nvPr/>
        </p:nvSpPr>
        <p:spPr>
          <a:xfrm>
            <a:off x="5138928" y="2715768"/>
            <a:ext cx="3657600" cy="274320"/>
          </a:xfrm>
          <a:prstGeom prst="rect">
            <a:avLst/>
          </a:prstGeom>
          <a:noFill/>
          <a:ln/>
        </p:spPr>
        <p:txBody>
          <a:bodyPr wrap="square" rtlCol="0" anchor="ctr"/>
          <a:lstStyle/>
          <a:p>
            <a:pPr marL="0" indent="0">
              <a:buNone/>
            </a:pPr>
            <a:r>
              <a:rPr lang="en-US" sz="1150" b="1" dirty="0">
                <a:solidFill>
                  <a:srgbClr val="E65100"/>
                </a:solidFill>
                <a:latin typeface="Calibri" pitchFamily="34" charset="0"/>
                <a:ea typeface="Calibri" pitchFamily="34" charset="-122"/>
                <a:cs typeface="Calibri" pitchFamily="34" charset="-120"/>
              </a:rPr>
              <a:t>Charge Controlee</a:t>
            </a:r>
            <a:endParaRPr lang="en-US" sz="1150" dirty="0"/>
          </a:p>
        </p:txBody>
      </p:sp>
      <p:sp>
        <p:nvSpPr>
          <p:cNvPr id="31" name="Text 29"/>
          <p:cNvSpPr/>
          <p:nvPr/>
        </p:nvSpPr>
        <p:spPr>
          <a:xfrm>
            <a:off x="5138928" y="3008376"/>
            <a:ext cx="3657600" cy="457200"/>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Comportement comme si le reseau etait peu charge. Pour les apps adaptatives (streaming).</a:t>
            </a:r>
            <a:endParaRPr lang="en-US" sz="1200" dirty="0"/>
          </a:p>
        </p:txBody>
      </p:sp>
      <p:sp>
        <p:nvSpPr>
          <p:cNvPr id="32" name="Shape 30"/>
          <p:cNvSpPr/>
          <p:nvPr/>
        </p:nvSpPr>
        <p:spPr>
          <a:xfrm>
            <a:off x="5010912" y="3621024"/>
            <a:ext cx="3886200" cy="822960"/>
          </a:xfrm>
          <a:prstGeom prst="rect">
            <a:avLst/>
          </a:prstGeom>
          <a:solidFill>
            <a:srgbClr val="FFFFFF"/>
          </a:solidFill>
          <a:ln w="15240">
            <a:solidFill>
              <a:srgbClr val="00796B"/>
            </a:solidFill>
            <a:prstDash val="solid"/>
          </a:ln>
          <a:effectLst>
            <a:outerShdw blurRad="63500" dist="25400" dir="8100000" algn="bl" rotWithShape="0">
              <a:srgbClr val="000000">
                <a:alpha val="10000"/>
              </a:srgbClr>
            </a:outerShdw>
          </a:effectLst>
        </p:spPr>
      </p:sp>
      <p:sp>
        <p:nvSpPr>
          <p:cNvPr id="33" name="Shape 31"/>
          <p:cNvSpPr/>
          <p:nvPr/>
        </p:nvSpPr>
        <p:spPr>
          <a:xfrm>
            <a:off x="5010912" y="3621024"/>
            <a:ext cx="64008" cy="822960"/>
          </a:xfrm>
          <a:prstGeom prst="rect">
            <a:avLst/>
          </a:prstGeom>
          <a:solidFill>
            <a:srgbClr val="00796B"/>
          </a:solidFill>
          <a:ln/>
        </p:spPr>
      </p:sp>
      <p:sp>
        <p:nvSpPr>
          <p:cNvPr id="34" name="Text 32"/>
          <p:cNvSpPr/>
          <p:nvPr/>
        </p:nvSpPr>
        <p:spPr>
          <a:xfrm>
            <a:off x="5138928" y="3648456"/>
            <a:ext cx="3657600" cy="274320"/>
          </a:xfrm>
          <a:prstGeom prst="rect">
            <a:avLst/>
          </a:prstGeom>
          <a:noFill/>
          <a:ln/>
        </p:spPr>
        <p:txBody>
          <a:bodyPr wrap="square" rtlCol="0" anchor="ctr"/>
          <a:lstStyle/>
          <a:p>
            <a:pPr marL="0" indent="0">
              <a:buNone/>
            </a:pPr>
            <a:r>
              <a:rPr lang="en-US" sz="1150" b="1" dirty="0">
                <a:solidFill>
                  <a:srgbClr val="00796B"/>
                </a:solidFill>
                <a:latin typeface="Calibri" pitchFamily="34" charset="0"/>
                <a:ea typeface="Calibri" pitchFamily="34" charset="-122"/>
                <a:cs typeface="Calibri" pitchFamily="34" charset="-120"/>
              </a:rPr>
              <a:t>Best Effort</a:t>
            </a:r>
            <a:endParaRPr lang="en-US" sz="1150" dirty="0"/>
          </a:p>
        </p:txBody>
      </p:sp>
      <p:sp>
        <p:nvSpPr>
          <p:cNvPr id="35" name="Text 33"/>
          <p:cNvSpPr/>
          <p:nvPr/>
        </p:nvSpPr>
        <p:spPr>
          <a:xfrm>
            <a:off x="5138928" y="3941064"/>
            <a:ext cx="3657600" cy="45720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Aucune garantie. Trafic ordinaire</a:t>
            </a:r>
            <a:r>
              <a:rPr lang="en-US" sz="950" dirty="0">
                <a:solidFill>
                  <a:srgbClr val="212121"/>
                </a:solidFill>
                <a:latin typeface="Calibri" pitchFamily="34" charset="0"/>
                <a:ea typeface="Calibri" pitchFamily="34" charset="-122"/>
                <a:cs typeface="Calibri" pitchFamily="34" charset="-120"/>
              </a:rPr>
              <a:t>.</a:t>
            </a:r>
            <a:endParaRPr lang="en-US" sz="950" dirty="0"/>
          </a:p>
        </p:txBody>
      </p:sp>
      <p:sp>
        <p:nvSpPr>
          <p:cNvPr id="36" name="Shape 34"/>
          <p:cNvSpPr/>
          <p:nvPr/>
        </p:nvSpPr>
        <p:spPr>
          <a:xfrm>
            <a:off x="256032" y="4617720"/>
            <a:ext cx="8631936" cy="256032"/>
          </a:xfrm>
          <a:prstGeom prst="rect">
            <a:avLst/>
          </a:prstGeom>
          <a:solidFill>
            <a:srgbClr val="B71C1C"/>
          </a:solidFill>
          <a:ln/>
        </p:spPr>
      </p:sp>
      <p:sp>
        <p:nvSpPr>
          <p:cNvPr id="37" name="Text 35"/>
          <p:cNvSpPr/>
          <p:nvPr/>
        </p:nvSpPr>
        <p:spPr>
          <a:xfrm>
            <a:off x="365760" y="4617720"/>
            <a:ext cx="8412480" cy="25603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Limite : chaque routeur memorise l etat de CHAQUE flux → non scalable sur Internet → deploye surtout en reseau prive → remplace par MPLS.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565C0"/>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DiffServ — Classer les paquets par priorite (DSCP)</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256032" y="822960"/>
            <a:ext cx="8631936" cy="438912"/>
          </a:xfrm>
          <a:prstGeom prst="rect">
            <a:avLst/>
          </a:prstGeom>
          <a:solidFill>
            <a:srgbClr val="E3F2FD"/>
          </a:solidFill>
          <a:ln w="12700">
            <a:solidFill>
              <a:srgbClr val="1565C0"/>
            </a:solidFill>
            <a:prstDash val="solid"/>
          </a:ln>
        </p:spPr>
      </p:sp>
      <p:sp>
        <p:nvSpPr>
          <p:cNvPr id="6" name="Text 4"/>
          <p:cNvSpPr/>
          <p:nvPr/>
        </p:nvSpPr>
        <p:spPr>
          <a:xfrm>
            <a:off x="384048" y="822960"/>
            <a:ext cx="8412480" cy="438912"/>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Analogie : DiffServ = les classes d un avion. 1ere, Business, Economique — meme avion, traitement tres different.</a:t>
            </a:r>
            <a:endParaRPr lang="en-US" sz="1200" dirty="0"/>
          </a:p>
        </p:txBody>
      </p:sp>
      <p:sp>
        <p:nvSpPr>
          <p:cNvPr id="7" name="Text 5"/>
          <p:cNvSpPr/>
          <p:nvPr/>
        </p:nvSpPr>
        <p:spPr>
          <a:xfrm>
            <a:off x="256032" y="1353312"/>
            <a:ext cx="8631936"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Le champ DSCP dans l en-tete IP (6 bits = 64 valeurs possibles) :</a:t>
            </a:r>
            <a:endParaRPr lang="en-US" sz="1200" dirty="0"/>
          </a:p>
        </p:txBody>
      </p:sp>
      <p:sp>
        <p:nvSpPr>
          <p:cNvPr id="8" name="Shape 6"/>
          <p:cNvSpPr/>
          <p:nvPr/>
        </p:nvSpPr>
        <p:spPr>
          <a:xfrm>
            <a:off x="256032" y="1719072"/>
            <a:ext cx="822960" cy="502920"/>
          </a:xfrm>
          <a:prstGeom prst="rect">
            <a:avLst/>
          </a:prstGeom>
          <a:solidFill>
            <a:srgbClr val="BBDEFB"/>
          </a:solidFill>
          <a:ln w="3810">
            <a:solidFill>
              <a:srgbClr val="BDBDBD"/>
            </a:solidFill>
            <a:prstDash val="solid"/>
          </a:ln>
        </p:spPr>
      </p:sp>
      <p:sp>
        <p:nvSpPr>
          <p:cNvPr id="9" name="Text 7"/>
          <p:cNvSpPr/>
          <p:nvPr/>
        </p:nvSpPr>
        <p:spPr>
          <a:xfrm>
            <a:off x="256032" y="1719072"/>
            <a:ext cx="822960" cy="502920"/>
          </a:xfrm>
          <a:prstGeom prst="rect">
            <a:avLst/>
          </a:prstGeom>
          <a:noFill/>
          <a:ln/>
        </p:spPr>
        <p:txBody>
          <a:bodyPr wrap="square" rtlCol="0" anchor="ctr"/>
          <a:lstStyle/>
          <a:p>
            <a:pPr marL="0" indent="0" algn="ctr">
              <a:buNone/>
            </a:pPr>
            <a:r>
              <a:rPr lang="en-US" sz="1200" dirty="0">
                <a:solidFill>
                  <a:srgbClr val="212121"/>
                </a:solidFill>
                <a:latin typeface="Calibri" pitchFamily="34" charset="0"/>
                <a:ea typeface="Calibri" pitchFamily="34" charset="-122"/>
                <a:cs typeface="Calibri" pitchFamily="34" charset="-120"/>
              </a:rPr>
              <a:t>Ver (4b)</a:t>
            </a:r>
            <a:endParaRPr lang="en-US" sz="1200" dirty="0"/>
          </a:p>
        </p:txBody>
      </p:sp>
      <p:sp>
        <p:nvSpPr>
          <p:cNvPr id="10" name="Shape 8"/>
          <p:cNvSpPr/>
          <p:nvPr/>
        </p:nvSpPr>
        <p:spPr>
          <a:xfrm>
            <a:off x="1078992" y="1719072"/>
            <a:ext cx="685800" cy="502920"/>
          </a:xfrm>
          <a:prstGeom prst="rect">
            <a:avLst/>
          </a:prstGeom>
          <a:solidFill>
            <a:srgbClr val="BBDEFB"/>
          </a:solidFill>
          <a:ln w="3810">
            <a:solidFill>
              <a:srgbClr val="BDBDBD"/>
            </a:solidFill>
            <a:prstDash val="solid"/>
          </a:ln>
        </p:spPr>
      </p:sp>
      <p:sp>
        <p:nvSpPr>
          <p:cNvPr id="11" name="Text 9"/>
          <p:cNvSpPr/>
          <p:nvPr/>
        </p:nvSpPr>
        <p:spPr>
          <a:xfrm>
            <a:off x="1078992" y="1719072"/>
            <a:ext cx="685800" cy="502920"/>
          </a:xfrm>
          <a:prstGeom prst="rect">
            <a:avLst/>
          </a:prstGeom>
          <a:noFill/>
          <a:ln/>
        </p:spPr>
        <p:txBody>
          <a:bodyPr wrap="square" rtlCol="0" anchor="ctr"/>
          <a:lstStyle/>
          <a:p>
            <a:pPr marL="0" indent="0" algn="ctr">
              <a:buNone/>
            </a:pPr>
            <a:r>
              <a:rPr lang="en-US" sz="1200" dirty="0">
                <a:solidFill>
                  <a:srgbClr val="212121"/>
                </a:solidFill>
                <a:latin typeface="Calibri" pitchFamily="34" charset="0"/>
                <a:ea typeface="Calibri" pitchFamily="34" charset="-122"/>
                <a:cs typeface="Calibri" pitchFamily="34" charset="-120"/>
              </a:rPr>
              <a:t>IHL (4b</a:t>
            </a:r>
            <a:r>
              <a:rPr lang="en-US" sz="850" dirty="0">
                <a:solidFill>
                  <a:srgbClr val="212121"/>
                </a:solidFill>
                <a:latin typeface="Calibri" pitchFamily="34" charset="0"/>
                <a:ea typeface="Calibri" pitchFamily="34" charset="-122"/>
                <a:cs typeface="Calibri" pitchFamily="34" charset="-120"/>
              </a:rPr>
              <a:t>)</a:t>
            </a:r>
            <a:endParaRPr lang="en-US" sz="850" dirty="0"/>
          </a:p>
        </p:txBody>
      </p:sp>
      <p:sp>
        <p:nvSpPr>
          <p:cNvPr id="12" name="Shape 10"/>
          <p:cNvSpPr/>
          <p:nvPr/>
        </p:nvSpPr>
        <p:spPr>
          <a:xfrm>
            <a:off x="1764792" y="1719072"/>
            <a:ext cx="1371600" cy="502920"/>
          </a:xfrm>
          <a:prstGeom prst="rect">
            <a:avLst/>
          </a:prstGeom>
          <a:solidFill>
            <a:srgbClr val="1565C0"/>
          </a:solidFill>
          <a:ln w="3810">
            <a:solidFill>
              <a:srgbClr val="BDBDBD"/>
            </a:solidFill>
            <a:prstDash val="solid"/>
          </a:ln>
        </p:spPr>
      </p:sp>
      <p:sp>
        <p:nvSpPr>
          <p:cNvPr id="13" name="Text 11"/>
          <p:cNvSpPr/>
          <p:nvPr/>
        </p:nvSpPr>
        <p:spPr>
          <a:xfrm>
            <a:off x="1764792" y="1719072"/>
            <a:ext cx="137160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DSCP (6b</a:t>
            </a: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14" name="Shape 12"/>
          <p:cNvSpPr/>
          <p:nvPr/>
        </p:nvSpPr>
        <p:spPr>
          <a:xfrm>
            <a:off x="3136392" y="1719072"/>
            <a:ext cx="685800" cy="502920"/>
          </a:xfrm>
          <a:prstGeom prst="rect">
            <a:avLst/>
          </a:prstGeom>
          <a:solidFill>
            <a:srgbClr val="BBDEFB"/>
          </a:solidFill>
          <a:ln w="3810">
            <a:solidFill>
              <a:srgbClr val="BDBDBD"/>
            </a:solidFill>
            <a:prstDash val="solid"/>
          </a:ln>
        </p:spPr>
      </p:sp>
      <p:sp>
        <p:nvSpPr>
          <p:cNvPr id="15" name="Text 13"/>
          <p:cNvSpPr/>
          <p:nvPr/>
        </p:nvSpPr>
        <p:spPr>
          <a:xfrm>
            <a:off x="3136391" y="1719072"/>
            <a:ext cx="807453" cy="502920"/>
          </a:xfrm>
          <a:prstGeom prst="rect">
            <a:avLst/>
          </a:prstGeom>
          <a:noFill/>
          <a:ln/>
        </p:spPr>
        <p:txBody>
          <a:bodyPr wrap="square" rtlCol="0" anchor="ctr"/>
          <a:lstStyle/>
          <a:p>
            <a:pPr marL="0" indent="0" algn="ctr">
              <a:buNone/>
            </a:pPr>
            <a:r>
              <a:rPr lang="en-US" sz="1200" dirty="0">
                <a:solidFill>
                  <a:srgbClr val="212121"/>
                </a:solidFill>
                <a:latin typeface="Calibri" pitchFamily="34" charset="0"/>
                <a:ea typeface="Calibri" pitchFamily="34" charset="-122"/>
                <a:cs typeface="Calibri" pitchFamily="34" charset="-120"/>
              </a:rPr>
              <a:t>ECN (2b)</a:t>
            </a:r>
            <a:endParaRPr lang="en-US" sz="1200" dirty="0"/>
          </a:p>
        </p:txBody>
      </p:sp>
      <p:sp>
        <p:nvSpPr>
          <p:cNvPr id="16" name="Shape 14"/>
          <p:cNvSpPr/>
          <p:nvPr/>
        </p:nvSpPr>
        <p:spPr>
          <a:xfrm>
            <a:off x="3822192" y="1719072"/>
            <a:ext cx="1645920" cy="502920"/>
          </a:xfrm>
          <a:prstGeom prst="rect">
            <a:avLst/>
          </a:prstGeom>
          <a:solidFill>
            <a:srgbClr val="BBDEFB"/>
          </a:solidFill>
          <a:ln w="3810">
            <a:solidFill>
              <a:srgbClr val="BDBDBD"/>
            </a:solidFill>
            <a:prstDash val="solid"/>
          </a:ln>
        </p:spPr>
      </p:sp>
      <p:sp>
        <p:nvSpPr>
          <p:cNvPr id="17" name="Text 15"/>
          <p:cNvSpPr/>
          <p:nvPr/>
        </p:nvSpPr>
        <p:spPr>
          <a:xfrm>
            <a:off x="3943846" y="1719072"/>
            <a:ext cx="1524265" cy="502920"/>
          </a:xfrm>
          <a:prstGeom prst="rect">
            <a:avLst/>
          </a:prstGeom>
          <a:noFill/>
          <a:ln/>
        </p:spPr>
        <p:txBody>
          <a:bodyPr wrap="square" rtlCol="0" anchor="ctr"/>
          <a:lstStyle/>
          <a:p>
            <a:pPr marL="0" indent="0" algn="ctr">
              <a:buNone/>
            </a:pPr>
            <a:r>
              <a:rPr lang="en-US" sz="1200" dirty="0">
                <a:solidFill>
                  <a:srgbClr val="212121"/>
                </a:solidFill>
                <a:latin typeface="Calibri" pitchFamily="34" charset="0"/>
                <a:ea typeface="Calibri" pitchFamily="34" charset="-122"/>
                <a:cs typeface="Calibri" pitchFamily="34" charset="-120"/>
              </a:rPr>
              <a:t>Longueur totale (16b</a:t>
            </a:r>
            <a:r>
              <a:rPr lang="en-US" sz="850" dirty="0">
                <a:solidFill>
                  <a:srgbClr val="212121"/>
                </a:solidFill>
                <a:latin typeface="Calibri" pitchFamily="34" charset="0"/>
                <a:ea typeface="Calibri" pitchFamily="34" charset="-122"/>
                <a:cs typeface="Calibri" pitchFamily="34" charset="-120"/>
              </a:rPr>
              <a:t>)</a:t>
            </a:r>
            <a:endParaRPr lang="en-US" sz="850" dirty="0"/>
          </a:p>
        </p:txBody>
      </p:sp>
      <p:sp>
        <p:nvSpPr>
          <p:cNvPr id="18" name="Shape 16"/>
          <p:cNvSpPr/>
          <p:nvPr/>
        </p:nvSpPr>
        <p:spPr>
          <a:xfrm>
            <a:off x="5468112" y="1719072"/>
            <a:ext cx="3657600" cy="502920"/>
          </a:xfrm>
          <a:prstGeom prst="rect">
            <a:avLst/>
          </a:prstGeom>
          <a:solidFill>
            <a:srgbClr val="E0E0E0"/>
          </a:solidFill>
          <a:ln w="3810">
            <a:solidFill>
              <a:srgbClr val="BDBDBD"/>
            </a:solidFill>
            <a:prstDash val="solid"/>
          </a:ln>
        </p:spPr>
      </p:sp>
      <p:sp>
        <p:nvSpPr>
          <p:cNvPr id="19" name="Text 17"/>
          <p:cNvSpPr/>
          <p:nvPr/>
        </p:nvSpPr>
        <p:spPr>
          <a:xfrm>
            <a:off x="5468112" y="1719072"/>
            <a:ext cx="3657600" cy="502920"/>
          </a:xfrm>
          <a:prstGeom prst="rect">
            <a:avLst/>
          </a:prstGeom>
          <a:noFill/>
          <a:ln/>
        </p:spPr>
        <p:txBody>
          <a:bodyPr wrap="square" rtlCol="0" anchor="ctr"/>
          <a:lstStyle/>
          <a:p>
            <a:pPr marL="0" indent="0" algn="ctr">
              <a:buNone/>
            </a:pPr>
            <a:r>
              <a:rPr lang="en-US" sz="1200" dirty="0">
                <a:solidFill>
                  <a:srgbClr val="212121"/>
                </a:solidFill>
                <a:latin typeface="Calibri" pitchFamily="34" charset="0"/>
                <a:ea typeface="Calibri" pitchFamily="34" charset="-122"/>
                <a:cs typeface="Calibri" pitchFamily="34" charset="-120"/>
              </a:rPr>
              <a:t>... reste de l en-tete</a:t>
            </a:r>
            <a:endParaRPr lang="en-US" sz="1200" dirty="0"/>
          </a:p>
        </p:txBody>
      </p:sp>
      <p:sp>
        <p:nvSpPr>
          <p:cNvPr id="20" name="Text 18"/>
          <p:cNvSpPr/>
          <p:nvPr/>
        </p:nvSpPr>
        <p:spPr>
          <a:xfrm>
            <a:off x="256032" y="2331720"/>
            <a:ext cx="8631936" cy="32004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Les 3 classes de service DiffServ :</a:t>
            </a:r>
            <a:endParaRPr lang="en-US" sz="1300" dirty="0"/>
          </a:p>
        </p:txBody>
      </p:sp>
      <p:sp>
        <p:nvSpPr>
          <p:cNvPr id="21" name="Shape 19"/>
          <p:cNvSpPr/>
          <p:nvPr/>
        </p:nvSpPr>
        <p:spPr>
          <a:xfrm>
            <a:off x="256032" y="2724912"/>
            <a:ext cx="2788920" cy="2011680"/>
          </a:xfrm>
          <a:prstGeom prst="rect">
            <a:avLst/>
          </a:prstGeom>
          <a:solidFill>
            <a:srgbClr val="FFFFFF"/>
          </a:solidFill>
          <a:ln w="15240">
            <a:solidFill>
              <a:srgbClr val="C62828"/>
            </a:solidFill>
            <a:prstDash val="solid"/>
          </a:ln>
          <a:effectLst>
            <a:outerShdw blurRad="63500" dist="25400" dir="8100000" algn="bl" rotWithShape="0">
              <a:srgbClr val="000000">
                <a:alpha val="10000"/>
              </a:srgbClr>
            </a:outerShdw>
          </a:effectLst>
        </p:spPr>
      </p:sp>
      <p:sp>
        <p:nvSpPr>
          <p:cNvPr id="22" name="Shape 20"/>
          <p:cNvSpPr/>
          <p:nvPr/>
        </p:nvSpPr>
        <p:spPr>
          <a:xfrm>
            <a:off x="256032" y="2724912"/>
            <a:ext cx="2788920" cy="475488"/>
          </a:xfrm>
          <a:prstGeom prst="rect">
            <a:avLst/>
          </a:prstGeom>
          <a:solidFill>
            <a:srgbClr val="C62828"/>
          </a:solidFill>
          <a:ln/>
        </p:spPr>
      </p:sp>
      <p:sp>
        <p:nvSpPr>
          <p:cNvPr id="23" name="Text 21"/>
          <p:cNvSpPr/>
          <p:nvPr/>
        </p:nvSpPr>
        <p:spPr>
          <a:xfrm>
            <a:off x="329184" y="2724912"/>
            <a:ext cx="2633472"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EF — Expedited Forwarding</a:t>
            </a:r>
            <a:endParaRPr lang="en-US" sz="1100" dirty="0"/>
          </a:p>
        </p:txBody>
      </p:sp>
      <p:sp>
        <p:nvSpPr>
          <p:cNvPr id="24" name="Text 22"/>
          <p:cNvSpPr/>
          <p:nvPr/>
        </p:nvSpPr>
        <p:spPr>
          <a:xfrm>
            <a:off x="329184" y="3017520"/>
            <a:ext cx="2633472" cy="182880"/>
          </a:xfrm>
          <a:prstGeom prst="rect">
            <a:avLst/>
          </a:prstGeom>
          <a:noFill/>
          <a:ln/>
        </p:spPr>
        <p:txBody>
          <a:bodyPr wrap="square"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DSCP = 46</a:t>
            </a:r>
            <a:endParaRPr lang="en-US" sz="900" dirty="0"/>
          </a:p>
        </p:txBody>
      </p:sp>
      <p:sp>
        <p:nvSpPr>
          <p:cNvPr id="25" name="Text 23"/>
          <p:cNvSpPr/>
          <p:nvPr/>
        </p:nvSpPr>
        <p:spPr>
          <a:xfrm>
            <a:off x="347472" y="3246120"/>
            <a:ext cx="2606040" cy="960120"/>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Priorite ABSOLUE. Delai minimal, gigue quasi nulle, perte ~0. File dediee avec bande passante reservee. Trafic &lt; 30% du lien pour eviter la saturation.</a:t>
            </a:r>
            <a:endParaRPr lang="en-US" sz="1200" dirty="0"/>
          </a:p>
        </p:txBody>
      </p:sp>
      <p:sp>
        <p:nvSpPr>
          <p:cNvPr id="26" name="Text 24"/>
          <p:cNvSpPr/>
          <p:nvPr/>
        </p:nvSpPr>
        <p:spPr>
          <a:xfrm>
            <a:off x="347472" y="4251960"/>
            <a:ext cx="2606040" cy="384048"/>
          </a:xfrm>
          <a:prstGeom prst="rect">
            <a:avLst/>
          </a:prstGeom>
          <a:noFill/>
          <a:ln/>
        </p:spPr>
        <p:txBody>
          <a:bodyPr wrap="square" rtlCol="0" anchor="ctr"/>
          <a:lstStyle/>
          <a:p>
            <a:pPr marL="0" indent="0">
              <a:buNone/>
            </a:pPr>
            <a:r>
              <a:rPr lang="en-US" sz="1200" b="1" i="1" dirty="0">
                <a:solidFill>
                  <a:srgbClr val="C62828"/>
                </a:solidFill>
                <a:latin typeface="Calibri" pitchFamily="34" charset="0"/>
                <a:ea typeface="Calibri" pitchFamily="34" charset="-122"/>
                <a:cs typeface="Calibri" pitchFamily="34" charset="-120"/>
              </a:rPr>
              <a:t>Ex : VoIP, visioconf</a:t>
            </a:r>
            <a:r>
              <a:rPr lang="en-US" sz="950" b="1" i="1" dirty="0">
                <a:solidFill>
                  <a:srgbClr val="C62828"/>
                </a:solidFill>
                <a:latin typeface="Calibri" pitchFamily="34" charset="0"/>
                <a:ea typeface="Calibri" pitchFamily="34" charset="-122"/>
                <a:cs typeface="Calibri" pitchFamily="34" charset="-120"/>
              </a:rPr>
              <a:t>.</a:t>
            </a:r>
            <a:endParaRPr lang="en-US" sz="950" dirty="0"/>
          </a:p>
        </p:txBody>
      </p:sp>
      <p:sp>
        <p:nvSpPr>
          <p:cNvPr id="27" name="Shape 25"/>
          <p:cNvSpPr/>
          <p:nvPr/>
        </p:nvSpPr>
        <p:spPr>
          <a:xfrm>
            <a:off x="3200400" y="2724912"/>
            <a:ext cx="2788920" cy="2011680"/>
          </a:xfrm>
          <a:prstGeom prst="rect">
            <a:avLst/>
          </a:prstGeom>
          <a:solidFill>
            <a:srgbClr val="FFFFFF"/>
          </a:solidFill>
          <a:ln w="15240">
            <a:solidFill>
              <a:srgbClr val="E65100"/>
            </a:solidFill>
            <a:prstDash val="solid"/>
          </a:ln>
          <a:effectLst>
            <a:outerShdw blurRad="63500" dist="25400" dir="8100000" algn="bl" rotWithShape="0">
              <a:srgbClr val="000000">
                <a:alpha val="10000"/>
              </a:srgbClr>
            </a:outerShdw>
          </a:effectLst>
        </p:spPr>
      </p:sp>
      <p:sp>
        <p:nvSpPr>
          <p:cNvPr id="28" name="Shape 26"/>
          <p:cNvSpPr/>
          <p:nvPr/>
        </p:nvSpPr>
        <p:spPr>
          <a:xfrm>
            <a:off x="3200400" y="2724912"/>
            <a:ext cx="2788920" cy="475488"/>
          </a:xfrm>
          <a:prstGeom prst="rect">
            <a:avLst/>
          </a:prstGeom>
          <a:solidFill>
            <a:srgbClr val="E65100"/>
          </a:solidFill>
          <a:ln/>
        </p:spPr>
      </p:sp>
      <p:sp>
        <p:nvSpPr>
          <p:cNvPr id="29" name="Text 27"/>
          <p:cNvSpPr/>
          <p:nvPr/>
        </p:nvSpPr>
        <p:spPr>
          <a:xfrm>
            <a:off x="3273552" y="2724912"/>
            <a:ext cx="2633472"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AF — Assured Forwarding</a:t>
            </a:r>
            <a:endParaRPr lang="en-US" sz="1100" dirty="0"/>
          </a:p>
        </p:txBody>
      </p:sp>
      <p:sp>
        <p:nvSpPr>
          <p:cNvPr id="30" name="Text 28"/>
          <p:cNvSpPr/>
          <p:nvPr/>
        </p:nvSpPr>
        <p:spPr>
          <a:xfrm>
            <a:off x="3273552" y="3017520"/>
            <a:ext cx="2633472" cy="182880"/>
          </a:xfrm>
          <a:prstGeom prst="rect">
            <a:avLst/>
          </a:prstGeom>
          <a:noFill/>
          <a:ln/>
        </p:spPr>
        <p:txBody>
          <a:bodyPr wrap="square"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DSCP 10 a 42</a:t>
            </a:r>
            <a:endParaRPr lang="en-US" sz="900" dirty="0"/>
          </a:p>
        </p:txBody>
      </p:sp>
      <p:sp>
        <p:nvSpPr>
          <p:cNvPr id="31" name="Text 29"/>
          <p:cNvSpPr/>
          <p:nvPr/>
        </p:nvSpPr>
        <p:spPr>
          <a:xfrm>
            <a:off x="3291840" y="3246120"/>
            <a:ext cx="2606040" cy="960120"/>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4 </a:t>
            </a:r>
            <a:r>
              <a:rPr lang="en-US" sz="1200" dirty="0">
                <a:solidFill>
                  <a:srgbClr val="212121"/>
                </a:solidFill>
                <a:latin typeface="Calibri" pitchFamily="34" charset="0"/>
                <a:ea typeface="Calibri" pitchFamily="34" charset="-122"/>
                <a:cs typeface="Calibri" pitchFamily="34" charset="-120"/>
              </a:rPr>
              <a:t>classes (AF1x a AF4x) × 3 niveaux de rejet (Low/Medium/High Drop). Bande passante garantie par classe, mais reduisible si congestion.</a:t>
            </a:r>
            <a:endParaRPr lang="en-US" sz="950" dirty="0"/>
          </a:p>
        </p:txBody>
      </p:sp>
      <p:sp>
        <p:nvSpPr>
          <p:cNvPr id="32" name="Text 30"/>
          <p:cNvSpPr/>
          <p:nvPr/>
        </p:nvSpPr>
        <p:spPr>
          <a:xfrm>
            <a:off x="3291840" y="4251960"/>
            <a:ext cx="2606040" cy="384048"/>
          </a:xfrm>
          <a:prstGeom prst="rect">
            <a:avLst/>
          </a:prstGeom>
          <a:noFill/>
          <a:ln/>
        </p:spPr>
        <p:txBody>
          <a:bodyPr wrap="square" rtlCol="0" anchor="ctr"/>
          <a:lstStyle/>
          <a:p>
            <a:pPr marL="0" indent="0">
              <a:buNone/>
            </a:pPr>
            <a:r>
              <a:rPr lang="en-US" sz="1200" b="1" i="1" dirty="0">
                <a:solidFill>
                  <a:srgbClr val="E65100"/>
                </a:solidFill>
                <a:latin typeface="Calibri" pitchFamily="34" charset="0"/>
                <a:ea typeface="Calibri" pitchFamily="34" charset="-122"/>
                <a:cs typeface="Calibri" pitchFamily="34" charset="-120"/>
              </a:rPr>
              <a:t>Ex : Streaming, apps interactives</a:t>
            </a:r>
            <a:endParaRPr lang="en-US" sz="1200" dirty="0"/>
          </a:p>
        </p:txBody>
      </p:sp>
      <p:sp>
        <p:nvSpPr>
          <p:cNvPr id="33" name="Shape 31"/>
          <p:cNvSpPr/>
          <p:nvPr/>
        </p:nvSpPr>
        <p:spPr>
          <a:xfrm>
            <a:off x="6144768" y="2724912"/>
            <a:ext cx="2788920" cy="2011680"/>
          </a:xfrm>
          <a:prstGeom prst="rect">
            <a:avLst/>
          </a:prstGeom>
          <a:solidFill>
            <a:srgbClr val="FFFFFF"/>
          </a:solidFill>
          <a:ln w="15240">
            <a:solidFill>
              <a:srgbClr val="00796B"/>
            </a:solidFill>
            <a:prstDash val="solid"/>
          </a:ln>
          <a:effectLst>
            <a:outerShdw blurRad="63500" dist="25400" dir="8100000" algn="bl" rotWithShape="0">
              <a:srgbClr val="000000">
                <a:alpha val="10000"/>
              </a:srgbClr>
            </a:outerShdw>
          </a:effectLst>
        </p:spPr>
      </p:sp>
      <p:sp>
        <p:nvSpPr>
          <p:cNvPr id="34" name="Shape 32"/>
          <p:cNvSpPr/>
          <p:nvPr/>
        </p:nvSpPr>
        <p:spPr>
          <a:xfrm>
            <a:off x="6144768" y="2724912"/>
            <a:ext cx="2788920" cy="475488"/>
          </a:xfrm>
          <a:prstGeom prst="rect">
            <a:avLst/>
          </a:prstGeom>
          <a:solidFill>
            <a:srgbClr val="00796B"/>
          </a:solidFill>
          <a:ln/>
        </p:spPr>
      </p:sp>
      <p:sp>
        <p:nvSpPr>
          <p:cNvPr id="35" name="Text 33"/>
          <p:cNvSpPr/>
          <p:nvPr/>
        </p:nvSpPr>
        <p:spPr>
          <a:xfrm>
            <a:off x="6217920" y="2724912"/>
            <a:ext cx="2633472"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BE — Best Effort</a:t>
            </a:r>
            <a:endParaRPr lang="en-US" sz="1100" dirty="0"/>
          </a:p>
        </p:txBody>
      </p:sp>
      <p:sp>
        <p:nvSpPr>
          <p:cNvPr id="36" name="Text 34"/>
          <p:cNvSpPr/>
          <p:nvPr/>
        </p:nvSpPr>
        <p:spPr>
          <a:xfrm>
            <a:off x="6217920" y="3017520"/>
            <a:ext cx="2633472" cy="182880"/>
          </a:xfrm>
          <a:prstGeom prst="rect">
            <a:avLst/>
          </a:prstGeom>
          <a:noFill/>
          <a:ln/>
        </p:spPr>
        <p:txBody>
          <a:bodyPr wrap="square"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DSCP = 0</a:t>
            </a:r>
            <a:endParaRPr lang="en-US" sz="900" dirty="0"/>
          </a:p>
        </p:txBody>
      </p:sp>
      <p:sp>
        <p:nvSpPr>
          <p:cNvPr id="37" name="Text 35"/>
          <p:cNvSpPr/>
          <p:nvPr/>
        </p:nvSpPr>
        <p:spPr>
          <a:xfrm>
            <a:off x="6236208" y="3246120"/>
            <a:ext cx="2606040" cy="960120"/>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Traitement par defaut. Aucune garantie. Les paquets non marques tombent ici. Service identique a IP classique.</a:t>
            </a:r>
            <a:endParaRPr lang="en-US" sz="1200" dirty="0"/>
          </a:p>
        </p:txBody>
      </p:sp>
      <p:sp>
        <p:nvSpPr>
          <p:cNvPr id="38" name="Text 36"/>
          <p:cNvSpPr/>
          <p:nvPr/>
        </p:nvSpPr>
        <p:spPr>
          <a:xfrm>
            <a:off x="6236208" y="4251960"/>
            <a:ext cx="2606040" cy="384048"/>
          </a:xfrm>
          <a:prstGeom prst="rect">
            <a:avLst/>
          </a:prstGeom>
          <a:noFill/>
          <a:ln/>
        </p:spPr>
        <p:txBody>
          <a:bodyPr wrap="square" rtlCol="0" anchor="ctr"/>
          <a:lstStyle/>
          <a:p>
            <a:pPr marL="0" indent="0">
              <a:buNone/>
            </a:pPr>
            <a:r>
              <a:rPr lang="en-US" sz="1200" b="1" i="1" dirty="0">
                <a:solidFill>
                  <a:srgbClr val="00796B"/>
                </a:solidFill>
                <a:latin typeface="Calibri" pitchFamily="34" charset="0"/>
                <a:ea typeface="Calibri" pitchFamily="34" charset="-122"/>
                <a:cs typeface="Calibri" pitchFamily="34" charset="-120"/>
              </a:rPr>
              <a:t>Ex : HTTP, email, FTP</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796B"/>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MPLS — La voie express du reseau operateur</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256032" y="822960"/>
            <a:ext cx="8631936" cy="438912"/>
          </a:xfrm>
          <a:prstGeom prst="rect">
            <a:avLst/>
          </a:prstGeom>
          <a:solidFill>
            <a:srgbClr val="E0F2F1"/>
          </a:solidFill>
          <a:ln w="12700">
            <a:solidFill>
              <a:srgbClr val="00796B"/>
            </a:solidFill>
            <a:prstDash val="solid"/>
          </a:ln>
        </p:spPr>
      </p:sp>
      <p:sp>
        <p:nvSpPr>
          <p:cNvPr id="6" name="Text 4"/>
          <p:cNvSpPr/>
          <p:nvPr/>
        </p:nvSpPr>
        <p:spPr>
          <a:xfrm>
            <a:off x="384048" y="822960"/>
            <a:ext cx="8412480" cy="438912"/>
          </a:xfrm>
          <a:prstGeom prst="rect">
            <a:avLst/>
          </a:prstGeom>
          <a:noFill/>
          <a:ln/>
        </p:spPr>
        <p:txBody>
          <a:bodyPr wrap="square" rtlCol="0" anchor="ctr"/>
          <a:lstStyle/>
          <a:p>
            <a:pPr marL="0" indent="0">
              <a:buNone/>
            </a:pPr>
            <a:r>
              <a:rPr lang="en-US" sz="1200" b="1" dirty="0">
                <a:solidFill>
                  <a:srgbClr val="00796B"/>
                </a:solidFill>
                <a:latin typeface="Calibri" pitchFamily="34" charset="0"/>
                <a:ea typeface="Calibri" pitchFamily="34" charset="-122"/>
                <a:cs typeface="Calibri" pitchFamily="34" charset="-120"/>
              </a:rPr>
              <a:t>Analogie : MPLS = les voies express sur autoroute. Chemin predéfini et pre-calcule, sans reflechir a chaque carrefour.</a:t>
            </a:r>
            <a:endParaRPr lang="en-US" sz="1200" dirty="0"/>
          </a:p>
        </p:txBody>
      </p:sp>
      <p:sp>
        <p:nvSpPr>
          <p:cNvPr id="7" name="Shape 5"/>
          <p:cNvSpPr/>
          <p:nvPr/>
        </p:nvSpPr>
        <p:spPr>
          <a:xfrm>
            <a:off x="274320" y="2194560"/>
            <a:ext cx="914400" cy="868680"/>
          </a:xfrm>
          <a:prstGeom prst="ellipse">
            <a:avLst/>
          </a:prstGeom>
          <a:solidFill>
            <a:srgbClr val="0D1B2A"/>
          </a:solidFill>
          <a:ln/>
          <a:effectLst>
            <a:outerShdw blurRad="63500" dist="25400" dir="8100000" algn="bl" rotWithShape="0">
              <a:srgbClr val="000000">
                <a:alpha val="10000"/>
              </a:srgbClr>
            </a:outerShdw>
          </a:effectLst>
        </p:spPr>
      </p:sp>
      <p:sp>
        <p:nvSpPr>
          <p:cNvPr id="8" name="Text 6"/>
          <p:cNvSpPr/>
          <p:nvPr/>
        </p:nvSpPr>
        <p:spPr>
          <a:xfrm>
            <a:off x="274320" y="2267712"/>
            <a:ext cx="914400" cy="71323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p>
        </p:txBody>
      </p:sp>
      <p:sp>
        <p:nvSpPr>
          <p:cNvPr id="9" name="Shape 7"/>
          <p:cNvSpPr/>
          <p:nvPr/>
        </p:nvSpPr>
        <p:spPr>
          <a:xfrm>
            <a:off x="1207008" y="2587752"/>
            <a:ext cx="987552" cy="82296"/>
          </a:xfrm>
          <a:prstGeom prst="rect">
            <a:avLst/>
          </a:prstGeom>
          <a:solidFill>
            <a:srgbClr val="757575"/>
          </a:solidFill>
          <a:ln/>
        </p:spPr>
      </p:sp>
      <p:sp>
        <p:nvSpPr>
          <p:cNvPr id="10" name="Text 8"/>
          <p:cNvSpPr/>
          <p:nvPr/>
        </p:nvSpPr>
        <p:spPr>
          <a:xfrm>
            <a:off x="1234440" y="2331720"/>
            <a:ext cx="932688" cy="228600"/>
          </a:xfrm>
          <a:prstGeom prst="rect">
            <a:avLst/>
          </a:prstGeom>
          <a:noFill/>
          <a:ln/>
        </p:spPr>
        <p:txBody>
          <a:bodyPr wrap="square" rtlCol="0" anchor="ctr"/>
          <a:lstStyle/>
          <a:p>
            <a:pPr marL="0" indent="0" algn="ctr">
              <a:buNone/>
            </a:pPr>
            <a:r>
              <a:rPr lang="en-US" sz="1200" b="1" dirty="0">
                <a:solidFill>
                  <a:srgbClr val="00796B"/>
                </a:solidFill>
                <a:latin typeface="Calibri" pitchFamily="34" charset="0"/>
                <a:ea typeface="Calibri" pitchFamily="34" charset="-122"/>
                <a:cs typeface="Calibri" pitchFamily="34" charset="-120"/>
              </a:rPr>
              <a:t>IP</a:t>
            </a:r>
            <a:endParaRPr lang="en-US" sz="1200" dirty="0"/>
          </a:p>
        </p:txBody>
      </p:sp>
      <p:sp>
        <p:nvSpPr>
          <p:cNvPr id="11" name="Shape 9"/>
          <p:cNvSpPr/>
          <p:nvPr/>
        </p:nvSpPr>
        <p:spPr>
          <a:xfrm>
            <a:off x="1920240" y="2194560"/>
            <a:ext cx="914400" cy="868680"/>
          </a:xfrm>
          <a:prstGeom prst="ellipse">
            <a:avLst/>
          </a:prstGeom>
          <a:solidFill>
            <a:srgbClr val="E65100"/>
          </a:solidFill>
          <a:ln/>
          <a:effectLst>
            <a:outerShdw blurRad="63500" dist="25400" dir="8100000" algn="bl" rotWithShape="0">
              <a:srgbClr val="000000">
                <a:alpha val="10000"/>
              </a:srgbClr>
            </a:outerShdw>
          </a:effectLst>
        </p:spPr>
      </p:sp>
      <p:sp>
        <p:nvSpPr>
          <p:cNvPr id="12" name="Text 10"/>
          <p:cNvSpPr/>
          <p:nvPr/>
        </p:nvSpPr>
        <p:spPr>
          <a:xfrm>
            <a:off x="1920240" y="2267712"/>
            <a:ext cx="914400" cy="71323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(entree)</a:t>
            </a:r>
            <a:endParaRPr lang="en-US" sz="1200" dirty="0"/>
          </a:p>
        </p:txBody>
      </p:sp>
      <p:sp>
        <p:nvSpPr>
          <p:cNvPr id="13" name="Shape 11"/>
          <p:cNvSpPr/>
          <p:nvPr/>
        </p:nvSpPr>
        <p:spPr>
          <a:xfrm>
            <a:off x="2852928" y="2587752"/>
            <a:ext cx="987552" cy="82296"/>
          </a:xfrm>
          <a:prstGeom prst="rect">
            <a:avLst/>
          </a:prstGeom>
          <a:solidFill>
            <a:srgbClr val="757575"/>
          </a:solidFill>
          <a:ln/>
        </p:spPr>
      </p:sp>
      <p:sp>
        <p:nvSpPr>
          <p:cNvPr id="14" name="Text 12"/>
          <p:cNvSpPr/>
          <p:nvPr/>
        </p:nvSpPr>
        <p:spPr>
          <a:xfrm>
            <a:off x="2752344" y="2340864"/>
            <a:ext cx="932688" cy="228600"/>
          </a:xfrm>
          <a:prstGeom prst="rect">
            <a:avLst/>
          </a:prstGeom>
          <a:noFill/>
          <a:ln/>
        </p:spPr>
        <p:txBody>
          <a:bodyPr wrap="square" rtlCol="0" anchor="ctr"/>
          <a:lstStyle/>
          <a:p>
            <a:pPr marL="0" indent="0" algn="ctr">
              <a:buNone/>
            </a:pPr>
            <a:r>
              <a:rPr lang="en-US" sz="1200" b="1" dirty="0">
                <a:solidFill>
                  <a:srgbClr val="00796B"/>
                </a:solidFill>
                <a:latin typeface="Calibri" pitchFamily="34" charset="0"/>
                <a:ea typeface="Calibri" pitchFamily="34" charset="-122"/>
                <a:cs typeface="Calibri" pitchFamily="34" charset="-120"/>
              </a:rPr>
              <a:t>Label=42</a:t>
            </a:r>
            <a:endParaRPr lang="en-US" sz="1200" dirty="0"/>
          </a:p>
        </p:txBody>
      </p:sp>
      <p:sp>
        <p:nvSpPr>
          <p:cNvPr id="15" name="Shape 13"/>
          <p:cNvSpPr/>
          <p:nvPr/>
        </p:nvSpPr>
        <p:spPr>
          <a:xfrm>
            <a:off x="3566160" y="2194560"/>
            <a:ext cx="914400" cy="868680"/>
          </a:xfrm>
          <a:prstGeom prst="ellipse">
            <a:avLst/>
          </a:prstGeom>
          <a:solidFill>
            <a:srgbClr val="1565C0"/>
          </a:solidFill>
          <a:ln/>
          <a:effectLst>
            <a:outerShdw blurRad="63500" dist="25400" dir="8100000" algn="bl" rotWithShape="0">
              <a:srgbClr val="000000">
                <a:alpha val="10000"/>
              </a:srgbClr>
            </a:outerShdw>
          </a:effectLst>
        </p:spPr>
      </p:sp>
      <p:sp>
        <p:nvSpPr>
          <p:cNvPr id="16" name="Text 14"/>
          <p:cNvSpPr/>
          <p:nvPr/>
        </p:nvSpPr>
        <p:spPr>
          <a:xfrm>
            <a:off x="3566160" y="2267712"/>
            <a:ext cx="914400" cy="71323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LSR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(coeur)</a:t>
            </a:r>
            <a:endParaRPr lang="en-US" sz="1200" dirty="0"/>
          </a:p>
        </p:txBody>
      </p:sp>
      <p:sp>
        <p:nvSpPr>
          <p:cNvPr id="17" name="Shape 15"/>
          <p:cNvSpPr/>
          <p:nvPr/>
        </p:nvSpPr>
        <p:spPr>
          <a:xfrm>
            <a:off x="4498848" y="2587752"/>
            <a:ext cx="987552" cy="82296"/>
          </a:xfrm>
          <a:prstGeom prst="rect">
            <a:avLst/>
          </a:prstGeom>
          <a:solidFill>
            <a:srgbClr val="757575"/>
          </a:solidFill>
          <a:ln/>
        </p:spPr>
      </p:sp>
      <p:sp>
        <p:nvSpPr>
          <p:cNvPr id="18" name="Text 16"/>
          <p:cNvSpPr/>
          <p:nvPr/>
        </p:nvSpPr>
        <p:spPr>
          <a:xfrm>
            <a:off x="4526280" y="2331720"/>
            <a:ext cx="932688" cy="228600"/>
          </a:xfrm>
          <a:prstGeom prst="rect">
            <a:avLst/>
          </a:prstGeom>
          <a:noFill/>
          <a:ln/>
        </p:spPr>
        <p:txBody>
          <a:bodyPr wrap="square" rtlCol="0" anchor="ctr"/>
          <a:lstStyle/>
          <a:p>
            <a:pPr marL="0" indent="0" algn="ctr">
              <a:buNone/>
            </a:pPr>
            <a:r>
              <a:rPr lang="en-US" sz="1000" b="1" dirty="0">
                <a:solidFill>
                  <a:srgbClr val="00796B"/>
                </a:solidFill>
                <a:latin typeface="Calibri" pitchFamily="34" charset="0"/>
                <a:ea typeface="Calibri" pitchFamily="34" charset="-122"/>
                <a:cs typeface="Calibri" pitchFamily="34" charset="-120"/>
              </a:rPr>
              <a:t>Label=42</a:t>
            </a:r>
            <a:endParaRPr lang="en-US" sz="1000" dirty="0"/>
          </a:p>
        </p:txBody>
      </p:sp>
      <p:sp>
        <p:nvSpPr>
          <p:cNvPr id="19" name="Shape 17"/>
          <p:cNvSpPr/>
          <p:nvPr/>
        </p:nvSpPr>
        <p:spPr>
          <a:xfrm>
            <a:off x="5212080" y="2194560"/>
            <a:ext cx="914400" cy="868680"/>
          </a:xfrm>
          <a:prstGeom prst="ellipse">
            <a:avLst/>
          </a:prstGeom>
          <a:solidFill>
            <a:srgbClr val="1565C0"/>
          </a:solidFill>
          <a:ln/>
          <a:effectLst>
            <a:outerShdw blurRad="63500" dist="25400" dir="8100000" algn="bl" rotWithShape="0">
              <a:srgbClr val="000000">
                <a:alpha val="10000"/>
              </a:srgbClr>
            </a:outerShdw>
          </a:effectLst>
        </p:spPr>
      </p:sp>
      <p:sp>
        <p:nvSpPr>
          <p:cNvPr id="20" name="Text 18"/>
          <p:cNvSpPr/>
          <p:nvPr/>
        </p:nvSpPr>
        <p:spPr>
          <a:xfrm>
            <a:off x="5212080" y="2267712"/>
            <a:ext cx="914400" cy="71323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LSR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(coeur)</a:t>
            </a:r>
            <a:endParaRPr lang="en-US" sz="1200" dirty="0"/>
          </a:p>
        </p:txBody>
      </p:sp>
      <p:sp>
        <p:nvSpPr>
          <p:cNvPr id="21" name="Shape 19"/>
          <p:cNvSpPr/>
          <p:nvPr/>
        </p:nvSpPr>
        <p:spPr>
          <a:xfrm>
            <a:off x="6144768" y="2587752"/>
            <a:ext cx="987552" cy="82296"/>
          </a:xfrm>
          <a:prstGeom prst="rect">
            <a:avLst/>
          </a:prstGeom>
          <a:solidFill>
            <a:srgbClr val="757575"/>
          </a:solidFill>
          <a:ln/>
        </p:spPr>
      </p:sp>
      <p:sp>
        <p:nvSpPr>
          <p:cNvPr id="22" name="Text 20"/>
          <p:cNvSpPr/>
          <p:nvPr/>
        </p:nvSpPr>
        <p:spPr>
          <a:xfrm>
            <a:off x="6025896" y="2331720"/>
            <a:ext cx="932688" cy="228600"/>
          </a:xfrm>
          <a:prstGeom prst="rect">
            <a:avLst/>
          </a:prstGeom>
          <a:noFill/>
          <a:ln/>
        </p:spPr>
        <p:txBody>
          <a:bodyPr wrap="square" rtlCol="0" anchor="ctr"/>
          <a:lstStyle/>
          <a:p>
            <a:pPr marL="0" indent="0" algn="ctr">
              <a:buNone/>
            </a:pPr>
            <a:r>
              <a:rPr lang="en-US" sz="1000" b="1" dirty="0">
                <a:solidFill>
                  <a:srgbClr val="00796B"/>
                </a:solidFill>
                <a:latin typeface="Calibri" pitchFamily="34" charset="0"/>
                <a:ea typeface="Calibri" pitchFamily="34" charset="-122"/>
                <a:cs typeface="Calibri" pitchFamily="34" charset="-120"/>
              </a:rPr>
              <a:t>Label </a:t>
            </a:r>
            <a:r>
              <a:rPr lang="en-US" sz="1400" b="1" dirty="0">
                <a:solidFill>
                  <a:srgbClr val="00796B"/>
                </a:solidFill>
                <a:latin typeface="Calibri" pitchFamily="34" charset="0"/>
                <a:ea typeface="Calibri" pitchFamily="34" charset="-122"/>
                <a:cs typeface="Calibri" pitchFamily="34" charset="-120"/>
              </a:rPr>
              <a:t>retire</a:t>
            </a:r>
            <a:endParaRPr lang="en-US" sz="1000" dirty="0"/>
          </a:p>
        </p:txBody>
      </p:sp>
      <p:sp>
        <p:nvSpPr>
          <p:cNvPr id="23" name="Shape 21"/>
          <p:cNvSpPr/>
          <p:nvPr/>
        </p:nvSpPr>
        <p:spPr>
          <a:xfrm>
            <a:off x="6858000" y="2194560"/>
            <a:ext cx="914400" cy="868680"/>
          </a:xfrm>
          <a:prstGeom prst="ellipse">
            <a:avLst/>
          </a:prstGeom>
          <a:solidFill>
            <a:srgbClr val="E65100"/>
          </a:solidFill>
          <a:ln/>
          <a:effectLst>
            <a:outerShdw blurRad="63500" dist="25400" dir="8100000" algn="bl" rotWithShape="0">
              <a:srgbClr val="000000">
                <a:alpha val="10000"/>
              </a:srgbClr>
            </a:outerShdw>
          </a:effectLst>
        </p:spPr>
      </p:sp>
      <p:sp>
        <p:nvSpPr>
          <p:cNvPr id="24" name="Text 22"/>
          <p:cNvSpPr/>
          <p:nvPr/>
        </p:nvSpPr>
        <p:spPr>
          <a:xfrm>
            <a:off x="6858000" y="2267712"/>
            <a:ext cx="914400" cy="71323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(sortie)</a:t>
            </a:r>
            <a:endParaRPr lang="en-US" sz="1200" dirty="0"/>
          </a:p>
        </p:txBody>
      </p:sp>
      <p:sp>
        <p:nvSpPr>
          <p:cNvPr id="25" name="Shape 23"/>
          <p:cNvSpPr/>
          <p:nvPr/>
        </p:nvSpPr>
        <p:spPr>
          <a:xfrm>
            <a:off x="7790688" y="2587752"/>
            <a:ext cx="987552" cy="82296"/>
          </a:xfrm>
          <a:prstGeom prst="rect">
            <a:avLst/>
          </a:prstGeom>
          <a:solidFill>
            <a:srgbClr val="757575"/>
          </a:solidFill>
          <a:ln/>
        </p:spPr>
      </p:sp>
      <p:sp>
        <p:nvSpPr>
          <p:cNvPr id="26" name="Text 24"/>
          <p:cNvSpPr/>
          <p:nvPr/>
        </p:nvSpPr>
        <p:spPr>
          <a:xfrm>
            <a:off x="7818120" y="2331720"/>
            <a:ext cx="932688" cy="228600"/>
          </a:xfrm>
          <a:prstGeom prst="rect">
            <a:avLst/>
          </a:prstGeom>
          <a:noFill/>
          <a:ln/>
        </p:spPr>
        <p:txBody>
          <a:bodyPr wrap="square" rtlCol="0" anchor="ctr"/>
          <a:lstStyle/>
          <a:p>
            <a:pPr marL="0" indent="0" algn="ctr">
              <a:buNone/>
            </a:pPr>
            <a:r>
              <a:rPr lang="en-US" sz="1200" b="1" dirty="0">
                <a:solidFill>
                  <a:srgbClr val="00796B"/>
                </a:solidFill>
                <a:latin typeface="Calibri" pitchFamily="34" charset="0"/>
                <a:ea typeface="Calibri" pitchFamily="34" charset="-122"/>
                <a:cs typeface="Calibri" pitchFamily="34" charset="-120"/>
              </a:rPr>
              <a:t>IP</a:t>
            </a:r>
            <a:endParaRPr lang="en-US" sz="1200" dirty="0"/>
          </a:p>
        </p:txBody>
      </p:sp>
      <p:sp>
        <p:nvSpPr>
          <p:cNvPr id="27" name="Shape 25"/>
          <p:cNvSpPr/>
          <p:nvPr/>
        </p:nvSpPr>
        <p:spPr>
          <a:xfrm>
            <a:off x="8412480" y="2194560"/>
            <a:ext cx="914400" cy="868680"/>
          </a:xfrm>
          <a:prstGeom prst="ellipse">
            <a:avLst/>
          </a:prstGeom>
          <a:solidFill>
            <a:srgbClr val="0D1B2A"/>
          </a:solidFill>
          <a:ln/>
          <a:effectLst>
            <a:outerShdw blurRad="63500" dist="25400" dir="8100000" algn="bl" rotWithShape="0">
              <a:srgbClr val="000000">
                <a:alpha val="10000"/>
              </a:srgbClr>
            </a:outerShdw>
          </a:effectLst>
        </p:spPr>
      </p:sp>
      <p:sp>
        <p:nvSpPr>
          <p:cNvPr id="28" name="Text 26"/>
          <p:cNvSpPr/>
          <p:nvPr/>
        </p:nvSpPr>
        <p:spPr>
          <a:xfrm>
            <a:off x="8412480" y="2267712"/>
            <a:ext cx="914400" cy="71323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Destin.</a:t>
            </a:r>
            <a:endParaRPr lang="en-US" sz="1200" dirty="0"/>
          </a:p>
        </p:txBody>
      </p:sp>
      <p:sp>
        <p:nvSpPr>
          <p:cNvPr id="29" name="Shape 27"/>
          <p:cNvSpPr/>
          <p:nvPr/>
        </p:nvSpPr>
        <p:spPr>
          <a:xfrm>
            <a:off x="256032" y="3291840"/>
            <a:ext cx="4206240" cy="713232"/>
          </a:xfrm>
          <a:prstGeom prst="rect">
            <a:avLst/>
          </a:prstGeom>
          <a:solidFill>
            <a:srgbClr val="F5F5F5"/>
          </a:solidFill>
          <a:ln w="12700">
            <a:solidFill>
              <a:srgbClr val="E65100"/>
            </a:solidFill>
            <a:prstDash val="solid"/>
          </a:ln>
        </p:spPr>
      </p:sp>
      <p:sp>
        <p:nvSpPr>
          <p:cNvPr id="30" name="Shape 28"/>
          <p:cNvSpPr/>
          <p:nvPr/>
        </p:nvSpPr>
        <p:spPr>
          <a:xfrm>
            <a:off x="256032" y="3291840"/>
            <a:ext cx="64008" cy="713232"/>
          </a:xfrm>
          <a:prstGeom prst="rect">
            <a:avLst/>
          </a:prstGeom>
          <a:solidFill>
            <a:srgbClr val="E65100"/>
          </a:solidFill>
          <a:ln/>
        </p:spPr>
      </p:sp>
      <p:sp>
        <p:nvSpPr>
          <p:cNvPr id="31" name="Text 29"/>
          <p:cNvSpPr/>
          <p:nvPr/>
        </p:nvSpPr>
        <p:spPr>
          <a:xfrm>
            <a:off x="393192" y="3328416"/>
            <a:ext cx="4005072" cy="274320"/>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LER — Label Edge Router</a:t>
            </a:r>
            <a:endParaRPr lang="en-US" sz="1100" dirty="0"/>
          </a:p>
        </p:txBody>
      </p:sp>
      <p:sp>
        <p:nvSpPr>
          <p:cNvPr id="32" name="Text 30"/>
          <p:cNvSpPr/>
          <p:nvPr/>
        </p:nvSpPr>
        <p:spPr>
          <a:xfrm>
            <a:off x="393192" y="3621024"/>
            <a:ext cx="4005072" cy="347472"/>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Routeur de BORDURE. Ajoute l etiquette (label) a l entree du reseau MPLS. La retire a la sortie.</a:t>
            </a:r>
            <a:endParaRPr lang="en-US" sz="1200" dirty="0"/>
          </a:p>
        </p:txBody>
      </p:sp>
      <p:sp>
        <p:nvSpPr>
          <p:cNvPr id="33" name="Shape 31"/>
          <p:cNvSpPr/>
          <p:nvPr/>
        </p:nvSpPr>
        <p:spPr>
          <a:xfrm>
            <a:off x="4718304" y="3291840"/>
            <a:ext cx="4206240" cy="713232"/>
          </a:xfrm>
          <a:prstGeom prst="rect">
            <a:avLst/>
          </a:prstGeom>
          <a:solidFill>
            <a:srgbClr val="F5F5F5"/>
          </a:solidFill>
          <a:ln w="12700">
            <a:solidFill>
              <a:srgbClr val="1565C0"/>
            </a:solidFill>
            <a:prstDash val="solid"/>
          </a:ln>
        </p:spPr>
      </p:sp>
      <p:sp>
        <p:nvSpPr>
          <p:cNvPr id="34" name="Shape 32"/>
          <p:cNvSpPr/>
          <p:nvPr/>
        </p:nvSpPr>
        <p:spPr>
          <a:xfrm>
            <a:off x="4718304" y="3291840"/>
            <a:ext cx="64008" cy="713232"/>
          </a:xfrm>
          <a:prstGeom prst="rect">
            <a:avLst/>
          </a:prstGeom>
          <a:solidFill>
            <a:srgbClr val="1565C0"/>
          </a:solidFill>
          <a:ln/>
        </p:spPr>
      </p:sp>
      <p:sp>
        <p:nvSpPr>
          <p:cNvPr id="35" name="Text 33"/>
          <p:cNvSpPr/>
          <p:nvPr/>
        </p:nvSpPr>
        <p:spPr>
          <a:xfrm>
            <a:off x="4855464" y="3328416"/>
            <a:ext cx="4005072" cy="274320"/>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LSR — Label Switching Router</a:t>
            </a:r>
            <a:endParaRPr lang="en-US" sz="1100" dirty="0"/>
          </a:p>
        </p:txBody>
      </p:sp>
      <p:sp>
        <p:nvSpPr>
          <p:cNvPr id="36" name="Text 34"/>
          <p:cNvSpPr/>
          <p:nvPr/>
        </p:nvSpPr>
        <p:spPr>
          <a:xfrm>
            <a:off x="4855464" y="3621024"/>
            <a:ext cx="4005072" cy="347472"/>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Routeur INTERNE. Commute les paquets en lisant UNIQUEMENT l etiquette. Ultra-rapide, pas besoin de lire l IP.</a:t>
            </a:r>
            <a:endParaRPr lang="en-US" sz="1200" dirty="0"/>
          </a:p>
        </p:txBody>
      </p:sp>
      <p:sp>
        <p:nvSpPr>
          <p:cNvPr id="37" name="Shape 35"/>
          <p:cNvSpPr/>
          <p:nvPr/>
        </p:nvSpPr>
        <p:spPr>
          <a:xfrm>
            <a:off x="256032" y="4096512"/>
            <a:ext cx="4206240" cy="713232"/>
          </a:xfrm>
          <a:prstGeom prst="rect">
            <a:avLst/>
          </a:prstGeom>
          <a:solidFill>
            <a:srgbClr val="F5F5F5"/>
          </a:solidFill>
          <a:ln w="12700">
            <a:solidFill>
              <a:srgbClr val="00796B"/>
            </a:solidFill>
            <a:prstDash val="solid"/>
          </a:ln>
        </p:spPr>
      </p:sp>
      <p:sp>
        <p:nvSpPr>
          <p:cNvPr id="38" name="Shape 36"/>
          <p:cNvSpPr/>
          <p:nvPr/>
        </p:nvSpPr>
        <p:spPr>
          <a:xfrm>
            <a:off x="256032" y="4096512"/>
            <a:ext cx="64008" cy="713232"/>
          </a:xfrm>
          <a:prstGeom prst="rect">
            <a:avLst/>
          </a:prstGeom>
          <a:solidFill>
            <a:srgbClr val="00796B"/>
          </a:solidFill>
          <a:ln/>
        </p:spPr>
      </p:sp>
      <p:sp>
        <p:nvSpPr>
          <p:cNvPr id="39" name="Text 37"/>
          <p:cNvSpPr/>
          <p:nvPr/>
        </p:nvSpPr>
        <p:spPr>
          <a:xfrm>
            <a:off x="393192" y="4133088"/>
            <a:ext cx="4005072" cy="274320"/>
          </a:xfrm>
          <a:prstGeom prst="rect">
            <a:avLst/>
          </a:prstGeom>
          <a:noFill/>
          <a:ln/>
        </p:spPr>
        <p:txBody>
          <a:bodyPr wrap="square" rtlCol="0" anchor="ctr"/>
          <a:lstStyle/>
          <a:p>
            <a:pPr marL="0" indent="0">
              <a:buNone/>
            </a:pPr>
            <a:r>
              <a:rPr lang="en-US" sz="1100" b="1" dirty="0">
                <a:solidFill>
                  <a:srgbClr val="00796B"/>
                </a:solidFill>
                <a:latin typeface="Calibri" pitchFamily="34" charset="0"/>
                <a:ea typeface="Calibri" pitchFamily="34" charset="-122"/>
                <a:cs typeface="Calibri" pitchFamily="34" charset="-120"/>
              </a:rPr>
              <a:t>LSP — Label Switched Path</a:t>
            </a:r>
            <a:endParaRPr lang="en-US" sz="1100" dirty="0"/>
          </a:p>
        </p:txBody>
      </p:sp>
      <p:sp>
        <p:nvSpPr>
          <p:cNvPr id="40" name="Text 38"/>
          <p:cNvSpPr/>
          <p:nvPr/>
        </p:nvSpPr>
        <p:spPr>
          <a:xfrm>
            <a:off x="393192" y="4425696"/>
            <a:ext cx="4005072" cy="347472"/>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Chemin predéfini de bout en bout. Comme une voie express reservee pour ce flux.</a:t>
            </a:r>
            <a:endParaRPr lang="en-US" sz="1200" dirty="0"/>
          </a:p>
        </p:txBody>
      </p:sp>
      <p:sp>
        <p:nvSpPr>
          <p:cNvPr id="41" name="Shape 39"/>
          <p:cNvSpPr/>
          <p:nvPr/>
        </p:nvSpPr>
        <p:spPr>
          <a:xfrm>
            <a:off x="4718304" y="4096512"/>
            <a:ext cx="4206240" cy="713232"/>
          </a:xfrm>
          <a:prstGeom prst="rect">
            <a:avLst/>
          </a:prstGeom>
          <a:solidFill>
            <a:srgbClr val="F5F5F5"/>
          </a:solidFill>
          <a:ln w="12700">
            <a:solidFill>
              <a:srgbClr val="2E7D32"/>
            </a:solidFill>
            <a:prstDash val="solid"/>
          </a:ln>
        </p:spPr>
      </p:sp>
      <p:sp>
        <p:nvSpPr>
          <p:cNvPr id="42" name="Shape 40"/>
          <p:cNvSpPr/>
          <p:nvPr/>
        </p:nvSpPr>
        <p:spPr>
          <a:xfrm>
            <a:off x="4718304" y="4096512"/>
            <a:ext cx="64008" cy="713232"/>
          </a:xfrm>
          <a:prstGeom prst="rect">
            <a:avLst/>
          </a:prstGeom>
          <a:solidFill>
            <a:srgbClr val="2E7D32"/>
          </a:solidFill>
          <a:ln/>
        </p:spPr>
      </p:sp>
      <p:sp>
        <p:nvSpPr>
          <p:cNvPr id="43" name="Text 41"/>
          <p:cNvSpPr/>
          <p:nvPr/>
        </p:nvSpPr>
        <p:spPr>
          <a:xfrm>
            <a:off x="4855464" y="4133088"/>
            <a:ext cx="4005072" cy="274320"/>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MPLS-TE — Traffic Engineering</a:t>
            </a:r>
            <a:endParaRPr lang="en-US" sz="1100" dirty="0"/>
          </a:p>
        </p:txBody>
      </p:sp>
      <p:sp>
        <p:nvSpPr>
          <p:cNvPr id="44" name="Text 42"/>
          <p:cNvSpPr/>
          <p:nvPr/>
        </p:nvSpPr>
        <p:spPr>
          <a:xfrm>
            <a:off x="4855464" y="4425696"/>
            <a:ext cx="4005072" cy="347472"/>
          </a:xfrm>
          <a:prstGeom prst="rect">
            <a:avLst/>
          </a:prstGeom>
          <a:noFill/>
          <a:ln/>
        </p:spPr>
        <p:txBody>
          <a:bodyPr wrap="square" rtlCol="0" anchor="ctr"/>
          <a:lstStyle/>
          <a:p>
            <a:pPr marL="0" indent="0">
              <a:buNone/>
            </a:pPr>
            <a:r>
              <a:rPr lang="en-US" sz="1200" dirty="0">
                <a:solidFill>
                  <a:srgbClr val="212121"/>
                </a:solidFill>
                <a:latin typeface="Calibri" pitchFamily="34" charset="0"/>
                <a:ea typeface="Calibri" pitchFamily="34" charset="-122"/>
                <a:cs typeface="Calibri" pitchFamily="34" charset="-120"/>
              </a:rPr>
              <a:t>Ingenierie de trafic MPLS. Permet de reserver des ressources sur le LSP via RSVP-TE. Fast Reroute &lt; 50 ms.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Comparaison des approches QoS — Quelle solution pour quel besoin ?</a:t>
            </a:r>
            <a:endParaRPr lang="en-US" sz="2000" dirty="0"/>
          </a:p>
        </p:txBody>
      </p:sp>
      <p:sp>
        <p:nvSpPr>
          <p:cNvPr id="4" name="Shape 2"/>
          <p:cNvSpPr/>
          <p:nvPr/>
        </p:nvSpPr>
        <p:spPr>
          <a:xfrm>
            <a:off x="0" y="4919472"/>
            <a:ext cx="9144000" cy="228600"/>
          </a:xfrm>
          <a:prstGeom prst="rect">
            <a:avLst/>
          </a:prstGeom>
          <a:solidFill>
            <a:srgbClr val="00796B"/>
          </a:solidFill>
          <a:ln/>
        </p:spPr>
      </p:sp>
      <p:graphicFrame>
        <p:nvGraphicFramePr>
          <p:cNvPr id="16" name="Table 0"/>
          <p:cNvGraphicFramePr>
            <a:graphicFrameLocks noGrp="1"/>
          </p:cNvGraphicFramePr>
          <p:nvPr>
            <p:extLst>
              <p:ext uri="{D42A27DB-BD31-4B8C-83A1-F6EECF244321}">
                <p14:modId xmlns:p14="http://schemas.microsoft.com/office/powerpoint/2010/main" val="3038217809"/>
              </p:ext>
            </p:extLst>
          </p:nvPr>
        </p:nvGraphicFramePr>
        <p:xfrm>
          <a:off x="256032" y="868680"/>
          <a:ext cx="8366760" cy="3858771"/>
        </p:xfrm>
        <a:graphic>
          <a:graphicData uri="http://schemas.openxmlformats.org/drawingml/2006/table">
            <a:tbl>
              <a:tblPr/>
              <a:tblGrid>
                <a:gridCol w="15087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98448">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901952">
                  <a:extLst>
                    <a:ext uri="{9D8B030D-6E8A-4147-A177-3AD203B41FA5}">
                      <a16:colId xmlns:a16="http://schemas.microsoft.com/office/drawing/2014/main" val="20005"/>
                    </a:ext>
                  </a:extLst>
                </a:gridCol>
              </a:tblGrid>
              <a:tr h="551253">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Approche</a:t>
                      </a:r>
                      <a:endParaRPr lang="en-US" sz="16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Granularite</a:t>
                      </a:r>
                      <a:endParaRPr lang="en-US" sz="16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Reservation</a:t>
                      </a:r>
                      <a:endParaRPr lang="en-US" sz="16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Garantie</a:t>
                      </a:r>
                      <a:endParaRPr lang="en-US" sz="16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Scalabilite</a:t>
                      </a:r>
                      <a:endParaRPr lang="en-US" sz="16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Ou l utiliser ?</a:t>
                      </a:r>
                      <a:endParaRPr lang="en-US" sz="16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551253">
                <a:tc>
                  <a:txBody>
                    <a:bodyPr/>
                    <a:lstStyle/>
                    <a:p>
                      <a:pPr marL="0" indent="0" algn="l">
                        <a:buNone/>
                      </a:pPr>
                      <a:r>
                        <a:rPr lang="en-US" sz="1400" b="1" dirty="0">
                          <a:solidFill>
                            <a:srgbClr val="0D1B2A"/>
                          </a:solidFill>
                          <a:latin typeface="Calibri" pitchFamily="34" charset="0"/>
                          <a:ea typeface="Calibri" pitchFamily="34" charset="-122"/>
                          <a:cs typeface="Calibri" pitchFamily="34" charset="-120"/>
                        </a:rPr>
                        <a:t>Best Effort</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Aucune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Aucune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Aucune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Maximale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Internet grand public</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253">
                <a:tc>
                  <a:txBody>
                    <a:bodyPr/>
                    <a:lstStyle/>
                    <a:p>
                      <a:pPr marL="0" indent="0" algn="l">
                        <a:buNone/>
                      </a:pPr>
                      <a:r>
                        <a:rPr lang="en-US" sz="1400" b="1" dirty="0">
                          <a:solidFill>
                            <a:srgbClr val="0D1B2A"/>
                          </a:solidFill>
                          <a:latin typeface="Calibri" pitchFamily="34" charset="0"/>
                          <a:ea typeface="Calibri" pitchFamily="34" charset="-122"/>
                          <a:cs typeface="Calibri" pitchFamily="34" charset="-120"/>
                        </a:rPr>
                        <a:t>IntServ / RSVP</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Par flux (fine)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Oui, par flux</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Deterministe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Faible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Reseau prive, entreprise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51253">
                <a:tc>
                  <a:txBody>
                    <a:bodyPr/>
                    <a:lstStyle/>
                    <a:p>
                      <a:pPr marL="0" indent="0" algn="l">
                        <a:buNone/>
                      </a:pPr>
                      <a:r>
                        <a:rPr lang="en-US" sz="1400" b="1" dirty="0">
                          <a:solidFill>
                            <a:srgbClr val="0D1B2A"/>
                          </a:solidFill>
                          <a:latin typeface="Calibri" pitchFamily="34" charset="0"/>
                          <a:ea typeface="Calibri" pitchFamily="34" charset="-122"/>
                          <a:cs typeface="Calibri" pitchFamily="34" charset="-120"/>
                        </a:rPr>
                        <a:t>DiffServ</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Par classe (large)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Differenciee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Elevee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Internet, FAI, WAN</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253">
                <a:tc>
                  <a:txBody>
                    <a:bodyPr/>
                    <a:lstStyle/>
                    <a:p>
                      <a:pPr marL="0" indent="0" algn="l">
                        <a:buNone/>
                      </a:pPr>
                      <a:r>
                        <a:rPr lang="en-US" sz="1400" b="1" dirty="0">
                          <a:solidFill>
                            <a:srgbClr val="0D1B2A"/>
                          </a:solidFill>
                          <a:latin typeface="Calibri" pitchFamily="34" charset="0"/>
                          <a:ea typeface="Calibri" pitchFamily="34" charset="-122"/>
                          <a:cs typeface="Calibri" pitchFamily="34" charset="-120"/>
                        </a:rPr>
                        <a:t>MPLS / MPLS-TE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Par LSP</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Sur le LSP</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Garantie LSP</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Elevee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Coeur reseau operateur</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51253">
                <a:tc>
                  <a:txBody>
                    <a:bodyPr/>
                    <a:lstStyle/>
                    <a:p>
                      <a:pPr marL="0" indent="0" algn="l">
                        <a:buNone/>
                      </a:pPr>
                      <a:r>
                        <a:rPr lang="en-US" sz="1400" b="1" dirty="0">
                          <a:solidFill>
                            <a:srgbClr val="0D1B2A"/>
                          </a:solidFill>
                          <a:latin typeface="Calibri" pitchFamily="34" charset="0"/>
                          <a:ea typeface="Calibri" pitchFamily="34" charset="-122"/>
                          <a:cs typeface="Calibri" pitchFamily="34" charset="-120"/>
                        </a:rPr>
                        <a:t>5G Slicing</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Par slice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Par slice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Deterministe/slice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Moderee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Reseau mobile 5G</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51253">
                <a:tc>
                  <a:txBody>
                    <a:bodyPr/>
                    <a:lstStyle/>
                    <a:p>
                      <a:pPr marL="0" indent="0" algn="l">
                        <a:buNone/>
                      </a:pPr>
                      <a:r>
                        <a:rPr lang="en-US" sz="1400" b="1" dirty="0">
                          <a:solidFill>
                            <a:srgbClr val="0D1B2A"/>
                          </a:solidFill>
                          <a:latin typeface="Calibri" pitchFamily="34" charset="0"/>
                          <a:ea typeface="Calibri" pitchFamily="34" charset="-122"/>
                          <a:cs typeface="Calibri" pitchFamily="34" charset="-120"/>
                        </a:rPr>
                        <a:t>SDN / NFV</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Dynamique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Programmable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Flexible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Elevee</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1400" dirty="0">
                          <a:solidFill>
                            <a:srgbClr val="212121"/>
                          </a:solidFill>
                          <a:latin typeface="Calibri" pitchFamily="34" charset="0"/>
                          <a:ea typeface="Calibri" pitchFamily="34" charset="-122"/>
                          <a:cs typeface="Calibri" pitchFamily="34" charset="-120"/>
                        </a:rPr>
                        <a:t>Cloud, datacenter</a:t>
                      </a:r>
                      <a:endParaRPr lang="en-US" sz="14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
        <p:nvSpPr>
          <p:cNvPr id="6" name="Shape 3"/>
          <p:cNvSpPr/>
          <p:nvPr/>
        </p:nvSpPr>
        <p:spPr>
          <a:xfrm>
            <a:off x="256032" y="4754880"/>
            <a:ext cx="8631936" cy="256032"/>
          </a:xfrm>
          <a:prstGeom prst="rect">
            <a:avLst/>
          </a:prstGeom>
          <a:solidFill>
            <a:srgbClr val="0D1B2A"/>
          </a:solidFill>
          <a:ln/>
        </p:spPr>
      </p:sp>
      <p:sp>
        <p:nvSpPr>
          <p:cNvPr id="7" name="Text 4"/>
          <p:cNvSpPr/>
          <p:nvPr/>
        </p:nvSpPr>
        <p:spPr>
          <a:xfrm>
            <a:off x="365760" y="4754880"/>
            <a:ext cx="8412480" cy="25603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Conseil pratique : DiffServ pour classifier + MPLS pour garantir les chemins + TWAMP pour superviser = solution complete d un operateur moderne.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2E7D32"/>
          </a:solidFill>
          <a:ln/>
        </p:spPr>
      </p:sp>
      <p:sp>
        <p:nvSpPr>
          <p:cNvPr id="3" name="Text 1"/>
          <p:cNvSpPr/>
          <p:nvPr/>
        </p:nvSpPr>
        <p:spPr>
          <a:xfrm>
            <a:off x="502920" y="548640"/>
            <a:ext cx="2286000" cy="1371600"/>
          </a:xfrm>
          <a:prstGeom prst="rect">
            <a:avLst/>
          </a:prstGeom>
          <a:noFill/>
          <a:ln/>
        </p:spPr>
        <p:txBody>
          <a:bodyPr wrap="square" rtlCol="0" anchor="ctr"/>
          <a:lstStyle/>
          <a:p>
            <a:pPr marL="0" indent="0">
              <a:buNone/>
            </a:pPr>
            <a:r>
              <a:rPr lang="en-US" sz="7200" b="1" dirty="0">
                <a:solidFill>
                  <a:srgbClr val="2E7D32">
                    <a:alpha val="75000"/>
                  </a:srgbClr>
                </a:solidFill>
                <a:latin typeface="Calibri" pitchFamily="34" charset="0"/>
                <a:ea typeface="Calibri" pitchFamily="34" charset="-122"/>
                <a:cs typeface="Calibri" pitchFamily="34" charset="-120"/>
              </a:rPr>
              <a:t>04</a:t>
            </a:r>
            <a:endParaRPr lang="en-US" sz="7200" dirty="0"/>
          </a:p>
        </p:txBody>
      </p:sp>
      <p:sp>
        <p:nvSpPr>
          <p:cNvPr id="4" name="Text 2"/>
          <p:cNvSpPr/>
          <p:nvPr/>
        </p:nvSpPr>
        <p:spPr>
          <a:xfrm>
            <a:off x="502920" y="1828800"/>
            <a:ext cx="8321040" cy="8229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QoS et couches OSI</a:t>
            </a:r>
            <a:endParaRPr lang="en-US" sz="3400" dirty="0"/>
          </a:p>
        </p:txBody>
      </p:sp>
      <p:sp>
        <p:nvSpPr>
          <p:cNvPr id="5" name="Text 3"/>
          <p:cNvSpPr/>
          <p:nvPr/>
        </p:nvSpPr>
        <p:spPr>
          <a:xfrm>
            <a:off x="502920" y="2697480"/>
            <a:ext cx="8229600" cy="457200"/>
          </a:xfrm>
          <a:prstGeom prst="rect">
            <a:avLst/>
          </a:prstGeom>
          <a:noFill/>
          <a:ln/>
        </p:spPr>
        <p:txBody>
          <a:bodyPr wrap="square" rtlCol="0" anchor="ctr"/>
          <a:lstStyle/>
          <a:p>
            <a:pPr marL="0" indent="0">
              <a:buNone/>
            </a:pPr>
            <a:r>
              <a:rPr lang="en-US" sz="1400" i="1" dirty="0">
                <a:solidFill>
                  <a:srgbClr val="BDBDBD"/>
                </a:solidFill>
                <a:latin typeface="Calibri" pitchFamily="34" charset="0"/>
                <a:ea typeface="Calibri" pitchFamily="34" charset="-122"/>
                <a:cs typeface="Calibri" pitchFamily="34" charset="-120"/>
              </a:rPr>
              <a:t>Mecanismes par couche · SLA · Signalisation</a:t>
            </a:r>
            <a:endParaRPr lang="en-US" sz="1400" dirty="0"/>
          </a:p>
        </p:txBody>
      </p:sp>
      <p:sp>
        <p:nvSpPr>
          <p:cNvPr id="6" name="Shape 4"/>
          <p:cNvSpPr/>
          <p:nvPr/>
        </p:nvSpPr>
        <p:spPr>
          <a:xfrm>
            <a:off x="0" y="4919472"/>
            <a:ext cx="9144000" cy="228600"/>
          </a:xfrm>
          <a:prstGeom prst="rect">
            <a:avLst/>
          </a:prstGeom>
          <a:solidFill>
            <a:srgbClr val="2E7D32"/>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2E7D32"/>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QoS a travers les 7 couches du modele OSI</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04672"/>
            <a:ext cx="8595360" cy="274320"/>
          </a:xfrm>
          <a:prstGeom prst="rect">
            <a:avLst/>
          </a:prstGeom>
          <a:noFill/>
          <a:ln/>
        </p:spPr>
        <p:txBody>
          <a:bodyPr wrap="square" rtlCol="0" anchor="ctr"/>
          <a:lstStyle/>
          <a:p>
            <a:pPr marL="0" indent="0">
              <a:buNone/>
            </a:pPr>
            <a:r>
              <a:rPr lang="en-US" sz="1600" i="1" dirty="0">
                <a:latin typeface="Calibri" pitchFamily="34" charset="0"/>
                <a:ea typeface="Calibri" pitchFamily="34" charset="-122"/>
                <a:cs typeface="Calibri" pitchFamily="34" charset="-120"/>
              </a:rPr>
              <a:t>Chaque couche contribue a la QoS globale. La QoS de bout en bout necessite leur coordination.</a:t>
            </a:r>
            <a:endParaRPr lang="en-US" sz="1600" dirty="0"/>
          </a:p>
        </p:txBody>
      </p:sp>
      <p:sp>
        <p:nvSpPr>
          <p:cNvPr id="6" name="Shape 4"/>
          <p:cNvSpPr/>
          <p:nvPr/>
        </p:nvSpPr>
        <p:spPr>
          <a:xfrm>
            <a:off x="256032" y="1143000"/>
            <a:ext cx="1920240" cy="475488"/>
          </a:xfrm>
          <a:prstGeom prst="rect">
            <a:avLst/>
          </a:prstGeom>
          <a:solidFill>
            <a:srgbClr val="1565C0"/>
          </a:solidFill>
          <a:ln/>
        </p:spPr>
      </p:sp>
      <p:sp>
        <p:nvSpPr>
          <p:cNvPr id="7" name="Text 5"/>
          <p:cNvSpPr/>
          <p:nvPr/>
        </p:nvSpPr>
        <p:spPr>
          <a:xfrm>
            <a:off x="256032" y="1143000"/>
            <a:ext cx="1920240"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 — Application</a:t>
            </a:r>
            <a:endParaRPr lang="en-US" sz="1200" dirty="0"/>
          </a:p>
        </p:txBody>
      </p:sp>
      <p:sp>
        <p:nvSpPr>
          <p:cNvPr id="8" name="Shape 6"/>
          <p:cNvSpPr/>
          <p:nvPr/>
        </p:nvSpPr>
        <p:spPr>
          <a:xfrm>
            <a:off x="2240280" y="1143000"/>
            <a:ext cx="6647688" cy="475488"/>
          </a:xfrm>
          <a:prstGeom prst="rect">
            <a:avLst/>
          </a:prstGeom>
          <a:solidFill>
            <a:srgbClr val="E3F2FD"/>
          </a:solidFill>
          <a:ln w="3810">
            <a:solidFill>
              <a:srgbClr val="BDBDBD"/>
            </a:solidFill>
            <a:prstDash val="solid"/>
          </a:ln>
        </p:spPr>
      </p:sp>
      <p:sp>
        <p:nvSpPr>
          <p:cNvPr id="9" name="Text 7"/>
          <p:cNvSpPr/>
          <p:nvPr/>
        </p:nvSpPr>
        <p:spPr>
          <a:xfrm>
            <a:off x="2304287" y="1152144"/>
            <a:ext cx="5138134" cy="237744"/>
          </a:xfrm>
          <a:prstGeom prst="rect">
            <a:avLst/>
          </a:prstGeom>
          <a:noFill/>
          <a:ln/>
        </p:spPr>
        <p:txBody>
          <a:bodyPr wrap="square" rtlCol="0" anchor="ctr"/>
          <a:lstStyle/>
          <a:p>
            <a:pPr marL="0" indent="0">
              <a:buNone/>
            </a:pPr>
            <a:r>
              <a:rPr lang="en-US" sz="1000" b="1" dirty="0">
                <a:latin typeface="Calibri" pitchFamily="34" charset="0"/>
                <a:ea typeface="Calibri" pitchFamily="34" charset="-122"/>
                <a:cs typeface="Calibri" pitchFamily="34" charset="-120"/>
              </a:rPr>
              <a:t>Codecs adaptatifs (H.264/H.265/Opus), RTP/RTCP, jitter buffer, ABR Streaming (DASH/HLS)</a:t>
            </a:r>
            <a:endParaRPr lang="en-US" sz="1000" dirty="0"/>
          </a:p>
        </p:txBody>
      </p:sp>
      <p:sp>
        <p:nvSpPr>
          <p:cNvPr id="10" name="Text 8"/>
          <p:cNvSpPr/>
          <p:nvPr/>
        </p:nvSpPr>
        <p:spPr>
          <a:xfrm>
            <a:off x="2304288" y="1389888"/>
            <a:ext cx="6492240" cy="210312"/>
          </a:xfrm>
          <a:prstGeom prst="rect">
            <a:avLst/>
          </a:prstGeom>
          <a:noFill/>
          <a:ln/>
        </p:spPr>
        <p:txBody>
          <a:bodyPr wrap="square" rtlCol="0" anchor="ctr"/>
          <a:lstStyle/>
          <a:p>
            <a:pPr marL="0" indent="0">
              <a:buNone/>
            </a:pPr>
            <a:r>
              <a:rPr lang="en-US" sz="1100" i="1" dirty="0">
                <a:latin typeface="Calibri" pitchFamily="34" charset="0"/>
                <a:ea typeface="Calibri" pitchFamily="34" charset="-122"/>
                <a:cs typeface="Calibri" pitchFamily="34" charset="-120"/>
              </a:rPr>
              <a:t>Ex : Skype adapte sa qualite video </a:t>
            </a:r>
            <a:r>
              <a:rPr lang="en-US" sz="1100" i="1" dirty="0" err="1">
                <a:latin typeface="Calibri" pitchFamily="34" charset="0"/>
                <a:ea typeface="Calibri" pitchFamily="34" charset="-122"/>
                <a:cs typeface="Calibri" pitchFamily="34" charset="-120"/>
              </a:rPr>
              <a:t>automatiquement</a:t>
            </a:r>
            <a:r>
              <a:rPr lang="en-US" sz="1100" i="1" dirty="0">
                <a:latin typeface="Calibri" pitchFamily="34" charset="0"/>
                <a:ea typeface="Calibri" pitchFamily="34" charset="-122"/>
                <a:cs typeface="Calibri" pitchFamily="34" charset="-120"/>
              </a:rPr>
              <a:t> </a:t>
            </a:r>
            <a:r>
              <a:rPr lang="en-US" sz="1100" i="1" dirty="0">
                <a:latin typeface="Calibri" pitchFamily="34" charset="0"/>
                <a:cs typeface="Calibri" pitchFamily="34" charset="-120"/>
              </a:rPr>
              <a:t>selon la </a:t>
            </a:r>
            <a:r>
              <a:rPr lang="en-US" sz="1100" i="1" dirty="0" err="1">
                <a:latin typeface="Calibri" pitchFamily="34" charset="0"/>
                <a:cs typeface="Calibri" pitchFamily="34" charset="-120"/>
              </a:rPr>
              <a:t>bande</a:t>
            </a:r>
            <a:r>
              <a:rPr lang="en-US" sz="1100" i="1" dirty="0">
                <a:latin typeface="Calibri" pitchFamily="34" charset="0"/>
                <a:cs typeface="Calibri" pitchFamily="34" charset="-120"/>
              </a:rPr>
              <a:t> </a:t>
            </a:r>
            <a:r>
              <a:rPr lang="en-US" sz="1100" i="1" dirty="0" err="1">
                <a:latin typeface="Calibri" pitchFamily="34" charset="0"/>
                <a:ea typeface="Calibri" pitchFamily="34" charset="-122"/>
                <a:cs typeface="Calibri" pitchFamily="34" charset="-120"/>
              </a:rPr>
              <a:t>passante</a:t>
            </a:r>
            <a:endParaRPr lang="en-US" sz="1100" dirty="0"/>
          </a:p>
        </p:txBody>
      </p:sp>
      <p:sp>
        <p:nvSpPr>
          <p:cNvPr id="11" name="Shape 9"/>
          <p:cNvSpPr/>
          <p:nvPr/>
        </p:nvSpPr>
        <p:spPr>
          <a:xfrm>
            <a:off x="256032" y="1664208"/>
            <a:ext cx="1920240" cy="475488"/>
          </a:xfrm>
          <a:prstGeom prst="rect">
            <a:avLst/>
          </a:prstGeom>
          <a:solidFill>
            <a:srgbClr val="1976D2"/>
          </a:solidFill>
          <a:ln/>
        </p:spPr>
      </p:sp>
      <p:sp>
        <p:nvSpPr>
          <p:cNvPr id="12" name="Text 10"/>
          <p:cNvSpPr/>
          <p:nvPr/>
        </p:nvSpPr>
        <p:spPr>
          <a:xfrm>
            <a:off x="256032" y="1664208"/>
            <a:ext cx="1920240"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 — Presentation</a:t>
            </a:r>
            <a:endParaRPr lang="en-US" sz="1200" dirty="0"/>
          </a:p>
        </p:txBody>
      </p:sp>
      <p:sp>
        <p:nvSpPr>
          <p:cNvPr id="13" name="Shape 11"/>
          <p:cNvSpPr/>
          <p:nvPr/>
        </p:nvSpPr>
        <p:spPr>
          <a:xfrm>
            <a:off x="2240280" y="1664208"/>
            <a:ext cx="6647688" cy="475488"/>
          </a:xfrm>
          <a:prstGeom prst="rect">
            <a:avLst/>
          </a:prstGeom>
          <a:solidFill>
            <a:srgbClr val="E8EAF6"/>
          </a:solidFill>
          <a:ln w="3810">
            <a:solidFill>
              <a:srgbClr val="BDBDBD"/>
            </a:solidFill>
            <a:prstDash val="solid"/>
          </a:ln>
        </p:spPr>
      </p:sp>
      <p:sp>
        <p:nvSpPr>
          <p:cNvPr id="14" name="Text 12"/>
          <p:cNvSpPr/>
          <p:nvPr/>
        </p:nvSpPr>
        <p:spPr>
          <a:xfrm>
            <a:off x="2304288" y="1673352"/>
            <a:ext cx="5853750" cy="237744"/>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Compression (MPEG-4, H.265 = -50% vs H.264), chiffrement TLS/IPSec (+10-30% overhead)</a:t>
            </a:r>
            <a:endParaRPr lang="en-US" sz="1100" dirty="0"/>
          </a:p>
        </p:txBody>
      </p:sp>
      <p:sp>
        <p:nvSpPr>
          <p:cNvPr id="15" name="Text 13"/>
          <p:cNvSpPr/>
          <p:nvPr/>
        </p:nvSpPr>
        <p:spPr>
          <a:xfrm>
            <a:off x="2304288" y="1911096"/>
            <a:ext cx="6492240" cy="210312"/>
          </a:xfrm>
          <a:prstGeom prst="rect">
            <a:avLst/>
          </a:prstGeom>
          <a:noFill/>
          <a:ln/>
        </p:spPr>
        <p:txBody>
          <a:bodyPr wrap="square" rtlCol="0" anchor="ctr"/>
          <a:lstStyle/>
          <a:p>
            <a:pPr marL="0" indent="0">
              <a:buNone/>
            </a:pPr>
            <a:r>
              <a:rPr lang="en-US" sz="1100" i="1" dirty="0">
                <a:latin typeface="Calibri" pitchFamily="34" charset="0"/>
                <a:ea typeface="Calibri" pitchFamily="34" charset="-122"/>
                <a:cs typeface="Calibri" pitchFamily="34" charset="-120"/>
              </a:rPr>
              <a:t>Ex : H.265 permet de diffuser la meme qualite en consommant 2x moins de debit</a:t>
            </a:r>
            <a:endParaRPr lang="en-US" sz="1100" dirty="0"/>
          </a:p>
        </p:txBody>
      </p:sp>
      <p:sp>
        <p:nvSpPr>
          <p:cNvPr id="16" name="Shape 14"/>
          <p:cNvSpPr/>
          <p:nvPr/>
        </p:nvSpPr>
        <p:spPr>
          <a:xfrm>
            <a:off x="256032" y="2185416"/>
            <a:ext cx="1920240" cy="475488"/>
          </a:xfrm>
          <a:prstGeom prst="rect">
            <a:avLst/>
          </a:prstGeom>
          <a:solidFill>
            <a:srgbClr val="0288D1"/>
          </a:solidFill>
          <a:ln/>
        </p:spPr>
      </p:sp>
      <p:sp>
        <p:nvSpPr>
          <p:cNvPr id="17" name="Text 15"/>
          <p:cNvSpPr/>
          <p:nvPr/>
        </p:nvSpPr>
        <p:spPr>
          <a:xfrm>
            <a:off x="256032" y="2185416"/>
            <a:ext cx="1920240"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 — Session</a:t>
            </a:r>
            <a:endParaRPr lang="en-US" sz="1200" dirty="0"/>
          </a:p>
        </p:txBody>
      </p:sp>
      <p:sp>
        <p:nvSpPr>
          <p:cNvPr id="18" name="Shape 16"/>
          <p:cNvSpPr/>
          <p:nvPr/>
        </p:nvSpPr>
        <p:spPr>
          <a:xfrm>
            <a:off x="2240280" y="2185416"/>
            <a:ext cx="6647688" cy="475488"/>
          </a:xfrm>
          <a:prstGeom prst="rect">
            <a:avLst/>
          </a:prstGeom>
          <a:solidFill>
            <a:srgbClr val="E1F5FE"/>
          </a:solidFill>
          <a:ln w="3810">
            <a:solidFill>
              <a:srgbClr val="BDBDBD"/>
            </a:solidFill>
            <a:prstDash val="solid"/>
          </a:ln>
        </p:spPr>
      </p:sp>
      <p:sp>
        <p:nvSpPr>
          <p:cNvPr id="19" name="Text 17"/>
          <p:cNvSpPr/>
          <p:nvPr/>
        </p:nvSpPr>
        <p:spPr>
          <a:xfrm>
            <a:off x="2304288" y="2194560"/>
            <a:ext cx="5217646" cy="237744"/>
          </a:xfrm>
          <a:prstGeom prst="rect">
            <a:avLst/>
          </a:prstGeom>
          <a:noFill/>
          <a:ln/>
        </p:spPr>
        <p:txBody>
          <a:bodyPr wrap="square" rtlCol="0" anchor="ctr"/>
          <a:lstStyle/>
          <a:p>
            <a:pPr marL="0" indent="0">
              <a:buNone/>
            </a:pPr>
            <a:r>
              <a:rPr lang="en-US" sz="1100" b="1" dirty="0">
                <a:latin typeface="Calibri" pitchFamily="34" charset="0"/>
                <a:ea typeface="Calibri" pitchFamily="34" charset="-122"/>
                <a:cs typeface="Calibri" pitchFamily="34" charset="-120"/>
              </a:rPr>
              <a:t>Synchronisation flux audio+video, signalisation SIP (VoIP), H.323 (visioconference)</a:t>
            </a:r>
            <a:endParaRPr lang="en-US" sz="1100" dirty="0"/>
          </a:p>
        </p:txBody>
      </p:sp>
      <p:sp>
        <p:nvSpPr>
          <p:cNvPr id="20" name="Text 18"/>
          <p:cNvSpPr/>
          <p:nvPr/>
        </p:nvSpPr>
        <p:spPr>
          <a:xfrm>
            <a:off x="2304288" y="2432304"/>
            <a:ext cx="6492240" cy="210312"/>
          </a:xfrm>
          <a:prstGeom prst="rect">
            <a:avLst/>
          </a:prstGeom>
          <a:noFill/>
          <a:ln/>
        </p:spPr>
        <p:txBody>
          <a:bodyPr wrap="square" rtlCol="0" anchor="ctr"/>
          <a:lstStyle/>
          <a:p>
            <a:pPr marL="0" indent="0">
              <a:buNone/>
            </a:pPr>
            <a:r>
              <a:rPr lang="en-US" sz="1100" i="1" dirty="0">
                <a:latin typeface="Calibri" pitchFamily="34" charset="0"/>
                <a:ea typeface="Calibri" pitchFamily="34" charset="-122"/>
                <a:cs typeface="Calibri" pitchFamily="34" charset="-120"/>
              </a:rPr>
              <a:t>Ex : SIP negocie le codec et les ports AVANT l envoi de la voix — ca prend 0.5-2s</a:t>
            </a:r>
            <a:endParaRPr lang="en-US" sz="1100" dirty="0"/>
          </a:p>
        </p:txBody>
      </p:sp>
      <p:sp>
        <p:nvSpPr>
          <p:cNvPr id="21" name="Shape 19"/>
          <p:cNvSpPr/>
          <p:nvPr/>
        </p:nvSpPr>
        <p:spPr>
          <a:xfrm>
            <a:off x="256032" y="2706624"/>
            <a:ext cx="1920240" cy="475488"/>
          </a:xfrm>
          <a:prstGeom prst="rect">
            <a:avLst/>
          </a:prstGeom>
          <a:solidFill>
            <a:srgbClr val="00796B"/>
          </a:solidFill>
          <a:ln/>
        </p:spPr>
      </p:sp>
      <p:sp>
        <p:nvSpPr>
          <p:cNvPr id="22" name="Text 20"/>
          <p:cNvSpPr/>
          <p:nvPr/>
        </p:nvSpPr>
        <p:spPr>
          <a:xfrm>
            <a:off x="256032" y="2706624"/>
            <a:ext cx="1920240"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 — Transport</a:t>
            </a:r>
            <a:endParaRPr lang="en-US" sz="1200" dirty="0"/>
          </a:p>
        </p:txBody>
      </p:sp>
      <p:sp>
        <p:nvSpPr>
          <p:cNvPr id="23" name="Shape 21"/>
          <p:cNvSpPr/>
          <p:nvPr/>
        </p:nvSpPr>
        <p:spPr>
          <a:xfrm>
            <a:off x="2240280" y="2706624"/>
            <a:ext cx="6647688" cy="475488"/>
          </a:xfrm>
          <a:prstGeom prst="rect">
            <a:avLst/>
          </a:prstGeom>
          <a:solidFill>
            <a:srgbClr val="E0F2F1"/>
          </a:solidFill>
          <a:ln w="3810">
            <a:solidFill>
              <a:srgbClr val="BDBDBD"/>
            </a:solidFill>
            <a:prstDash val="solid"/>
          </a:ln>
        </p:spPr>
      </p:sp>
      <p:sp>
        <p:nvSpPr>
          <p:cNvPr id="24" name="Text 22"/>
          <p:cNvSpPr/>
          <p:nvPr/>
        </p:nvSpPr>
        <p:spPr>
          <a:xfrm>
            <a:off x="2304287" y="2715768"/>
            <a:ext cx="6283122" cy="237744"/>
          </a:xfrm>
          <a:prstGeom prst="rect">
            <a:avLst/>
          </a:prstGeom>
          <a:noFill/>
          <a:ln/>
        </p:spPr>
        <p:txBody>
          <a:bodyPr wrap="square" rtlCol="0" anchor="ctr"/>
          <a:lstStyle/>
          <a:p>
            <a:pPr marL="0" indent="0">
              <a:buNone/>
            </a:pPr>
            <a:r>
              <a:rPr lang="en-US" sz="1100" b="1" dirty="0">
                <a:latin typeface="Calibri" pitchFamily="34" charset="0"/>
                <a:ea typeface="Calibri" pitchFamily="34" charset="-122"/>
                <a:cs typeface="Calibri" pitchFamily="34" charset="-120"/>
              </a:rPr>
              <a:t>TCP (controle congestion + retransmission) | UDP (temps reel, pas de retransmission) | RTP sur UDP</a:t>
            </a:r>
            <a:endParaRPr lang="en-US" sz="1100" dirty="0"/>
          </a:p>
        </p:txBody>
      </p:sp>
      <p:sp>
        <p:nvSpPr>
          <p:cNvPr id="25" name="Text 23"/>
          <p:cNvSpPr/>
          <p:nvPr/>
        </p:nvSpPr>
        <p:spPr>
          <a:xfrm>
            <a:off x="2304288" y="2953512"/>
            <a:ext cx="6492240" cy="210312"/>
          </a:xfrm>
          <a:prstGeom prst="rect">
            <a:avLst/>
          </a:prstGeom>
          <a:noFill/>
          <a:ln/>
        </p:spPr>
        <p:txBody>
          <a:bodyPr wrap="square" rtlCol="0" anchor="ctr"/>
          <a:lstStyle/>
          <a:p>
            <a:pPr marL="0" indent="0">
              <a:buNone/>
            </a:pPr>
            <a:r>
              <a:rPr lang="en-US" sz="1100" i="1" dirty="0">
                <a:latin typeface="Calibri" pitchFamily="34" charset="0"/>
                <a:ea typeface="Calibri" pitchFamily="34" charset="-122"/>
                <a:cs typeface="Calibri" pitchFamily="34" charset="-120"/>
              </a:rPr>
              <a:t>Ex : VoIP = UDP (perte acceptable) vs FTP = TCP (pas de perte toleree)</a:t>
            </a:r>
            <a:endParaRPr lang="en-US" sz="1100" dirty="0"/>
          </a:p>
        </p:txBody>
      </p:sp>
      <p:sp>
        <p:nvSpPr>
          <p:cNvPr id="26" name="Shape 24"/>
          <p:cNvSpPr/>
          <p:nvPr/>
        </p:nvSpPr>
        <p:spPr>
          <a:xfrm>
            <a:off x="256032" y="3227832"/>
            <a:ext cx="1920240" cy="475488"/>
          </a:xfrm>
          <a:prstGeom prst="rect">
            <a:avLst/>
          </a:prstGeom>
          <a:solidFill>
            <a:srgbClr val="388E3C"/>
          </a:solidFill>
          <a:ln/>
        </p:spPr>
      </p:sp>
      <p:sp>
        <p:nvSpPr>
          <p:cNvPr id="27" name="Text 25"/>
          <p:cNvSpPr/>
          <p:nvPr/>
        </p:nvSpPr>
        <p:spPr>
          <a:xfrm>
            <a:off x="256032" y="3227832"/>
            <a:ext cx="1920240"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 — Reseau</a:t>
            </a:r>
            <a:endParaRPr lang="en-US" sz="1200" dirty="0"/>
          </a:p>
        </p:txBody>
      </p:sp>
      <p:sp>
        <p:nvSpPr>
          <p:cNvPr id="28" name="Shape 26"/>
          <p:cNvSpPr/>
          <p:nvPr/>
        </p:nvSpPr>
        <p:spPr>
          <a:xfrm>
            <a:off x="2240280" y="3227832"/>
            <a:ext cx="6647688" cy="475488"/>
          </a:xfrm>
          <a:prstGeom prst="rect">
            <a:avLst/>
          </a:prstGeom>
          <a:solidFill>
            <a:srgbClr val="E8F5E9"/>
          </a:solidFill>
          <a:ln w="3810">
            <a:solidFill>
              <a:srgbClr val="BDBDBD"/>
            </a:solidFill>
            <a:prstDash val="solid"/>
          </a:ln>
        </p:spPr>
      </p:sp>
      <p:sp>
        <p:nvSpPr>
          <p:cNvPr id="29" name="Text 27"/>
          <p:cNvSpPr/>
          <p:nvPr/>
        </p:nvSpPr>
        <p:spPr>
          <a:xfrm>
            <a:off x="2304287" y="3236976"/>
            <a:ext cx="5432331" cy="237744"/>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Marquage DSCP/DiffServ, IntServ/RSVP, MPLS/LSP, routage QoS, RED/WRED</a:t>
            </a:r>
            <a:endParaRPr lang="en-US" sz="1100" dirty="0"/>
          </a:p>
        </p:txBody>
      </p:sp>
      <p:sp>
        <p:nvSpPr>
          <p:cNvPr id="30" name="Text 28"/>
          <p:cNvSpPr/>
          <p:nvPr/>
        </p:nvSpPr>
        <p:spPr>
          <a:xfrm>
            <a:off x="2304288" y="3474720"/>
            <a:ext cx="6492240" cy="210312"/>
          </a:xfrm>
          <a:prstGeom prst="rect">
            <a:avLst/>
          </a:prstGeom>
          <a:noFill/>
          <a:ln/>
        </p:spPr>
        <p:txBody>
          <a:bodyPr wrap="square" rtlCol="0" anchor="ctr"/>
          <a:lstStyle/>
          <a:p>
            <a:pPr marL="0" indent="0">
              <a:buNone/>
            </a:pPr>
            <a:r>
              <a:rPr lang="en-US" sz="1100" i="1" dirty="0">
                <a:latin typeface="Calibri" pitchFamily="34" charset="0"/>
                <a:ea typeface="Calibri" pitchFamily="34" charset="-122"/>
                <a:cs typeface="Calibri" pitchFamily="34" charset="-120"/>
              </a:rPr>
              <a:t>Ex : Le routeur lit le DSCP=46 et met le paquet VoIP dans la file EF prioritaire</a:t>
            </a:r>
            <a:endParaRPr lang="en-US" sz="1100" dirty="0"/>
          </a:p>
        </p:txBody>
      </p:sp>
      <p:sp>
        <p:nvSpPr>
          <p:cNvPr id="31" name="Shape 29"/>
          <p:cNvSpPr/>
          <p:nvPr/>
        </p:nvSpPr>
        <p:spPr>
          <a:xfrm>
            <a:off x="256032" y="3749040"/>
            <a:ext cx="1920240" cy="475488"/>
          </a:xfrm>
          <a:prstGeom prst="rect">
            <a:avLst/>
          </a:prstGeom>
          <a:solidFill>
            <a:srgbClr val="F57F17"/>
          </a:solidFill>
          <a:ln/>
        </p:spPr>
      </p:sp>
      <p:sp>
        <p:nvSpPr>
          <p:cNvPr id="32" name="Text 30"/>
          <p:cNvSpPr/>
          <p:nvPr/>
        </p:nvSpPr>
        <p:spPr>
          <a:xfrm>
            <a:off x="256032" y="3749040"/>
            <a:ext cx="1920240"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 — Liaison</a:t>
            </a:r>
            <a:endParaRPr lang="en-US" sz="1200" dirty="0"/>
          </a:p>
        </p:txBody>
      </p:sp>
      <p:sp>
        <p:nvSpPr>
          <p:cNvPr id="33" name="Shape 31"/>
          <p:cNvSpPr/>
          <p:nvPr/>
        </p:nvSpPr>
        <p:spPr>
          <a:xfrm>
            <a:off x="2240280" y="3749040"/>
            <a:ext cx="6647688" cy="475488"/>
          </a:xfrm>
          <a:prstGeom prst="rect">
            <a:avLst/>
          </a:prstGeom>
          <a:solidFill>
            <a:srgbClr val="FFF8E1"/>
          </a:solidFill>
          <a:ln w="3810">
            <a:solidFill>
              <a:srgbClr val="BDBDBD"/>
            </a:solidFill>
            <a:prstDash val="solid"/>
          </a:ln>
        </p:spPr>
      </p:sp>
      <p:sp>
        <p:nvSpPr>
          <p:cNvPr id="34" name="Text 32"/>
          <p:cNvSpPr/>
          <p:nvPr/>
        </p:nvSpPr>
        <p:spPr>
          <a:xfrm>
            <a:off x="2304287" y="3758184"/>
            <a:ext cx="5138133" cy="237744"/>
          </a:xfrm>
          <a:prstGeom prst="rect">
            <a:avLst/>
          </a:prstGeom>
          <a:noFill/>
          <a:ln/>
        </p:spPr>
        <p:txBody>
          <a:bodyPr wrap="square" rtlCol="0" anchor="ctr"/>
          <a:lstStyle/>
          <a:p>
            <a:pPr marL="0" indent="0">
              <a:buNone/>
            </a:pPr>
            <a:r>
              <a:rPr lang="en-US" sz="1100" b="1" dirty="0">
                <a:latin typeface="Calibri" pitchFamily="34" charset="0"/>
                <a:ea typeface="Calibri" pitchFamily="34" charset="-122"/>
                <a:cs typeface="Calibri" pitchFamily="34" charset="-120"/>
              </a:rPr>
              <a:t>IEEE 802.1p (8 niveaux de priorite), VLAN 802.1Q, ATM, Frame Relay</a:t>
            </a:r>
            <a:endParaRPr lang="en-US" sz="1100" dirty="0"/>
          </a:p>
        </p:txBody>
      </p:sp>
      <p:sp>
        <p:nvSpPr>
          <p:cNvPr id="35" name="Text 33"/>
          <p:cNvSpPr/>
          <p:nvPr/>
        </p:nvSpPr>
        <p:spPr>
          <a:xfrm>
            <a:off x="2304288" y="3995928"/>
            <a:ext cx="6492240" cy="210312"/>
          </a:xfrm>
          <a:prstGeom prst="rect">
            <a:avLst/>
          </a:prstGeom>
          <a:noFill/>
          <a:ln/>
        </p:spPr>
        <p:txBody>
          <a:bodyPr wrap="square" rtlCol="0" anchor="ctr"/>
          <a:lstStyle/>
          <a:p>
            <a:pPr marL="0" indent="0">
              <a:buNone/>
            </a:pPr>
            <a:r>
              <a:rPr lang="en-US" sz="1100" i="1" dirty="0">
                <a:solidFill>
                  <a:srgbClr val="F57F17"/>
                </a:solidFill>
                <a:latin typeface="Calibri" pitchFamily="34" charset="0"/>
                <a:ea typeface="Calibri" pitchFamily="34" charset="-122"/>
                <a:cs typeface="Calibri" pitchFamily="34" charset="-120"/>
              </a:rPr>
              <a:t>Ex : 802.1p : priorite 5=voix, 4=video, 0=best effort — sur Ethernet/Wi-Fi</a:t>
            </a:r>
            <a:endParaRPr lang="en-US" sz="1100" dirty="0"/>
          </a:p>
        </p:txBody>
      </p:sp>
      <p:sp>
        <p:nvSpPr>
          <p:cNvPr id="36" name="Shape 34"/>
          <p:cNvSpPr/>
          <p:nvPr/>
        </p:nvSpPr>
        <p:spPr>
          <a:xfrm>
            <a:off x="256032" y="4270248"/>
            <a:ext cx="1920240" cy="475488"/>
          </a:xfrm>
          <a:prstGeom prst="rect">
            <a:avLst/>
          </a:prstGeom>
          <a:solidFill>
            <a:srgbClr val="E65100"/>
          </a:solidFill>
          <a:ln/>
        </p:spPr>
      </p:sp>
      <p:sp>
        <p:nvSpPr>
          <p:cNvPr id="37" name="Text 35"/>
          <p:cNvSpPr/>
          <p:nvPr/>
        </p:nvSpPr>
        <p:spPr>
          <a:xfrm>
            <a:off x="256032" y="4270248"/>
            <a:ext cx="1920240"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 — Physique</a:t>
            </a:r>
            <a:endParaRPr lang="en-US" sz="1200" dirty="0"/>
          </a:p>
        </p:txBody>
      </p:sp>
      <p:sp>
        <p:nvSpPr>
          <p:cNvPr id="38" name="Shape 36"/>
          <p:cNvSpPr/>
          <p:nvPr/>
        </p:nvSpPr>
        <p:spPr>
          <a:xfrm>
            <a:off x="2240280" y="4270248"/>
            <a:ext cx="6647688" cy="475488"/>
          </a:xfrm>
          <a:prstGeom prst="rect">
            <a:avLst/>
          </a:prstGeom>
          <a:solidFill>
            <a:srgbClr val="FBE9E7"/>
          </a:solidFill>
          <a:ln w="3810">
            <a:solidFill>
              <a:srgbClr val="BDBDBD"/>
            </a:solidFill>
            <a:prstDash val="solid"/>
          </a:ln>
        </p:spPr>
      </p:sp>
      <p:sp>
        <p:nvSpPr>
          <p:cNvPr id="39" name="Text 37"/>
          <p:cNvSpPr/>
          <p:nvPr/>
        </p:nvSpPr>
        <p:spPr>
          <a:xfrm>
            <a:off x="2304287" y="4279392"/>
            <a:ext cx="5177889" cy="237744"/>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Debit maximal du lien, fiabilite, codage numerique, fibres vs cuivre vs radio</a:t>
            </a:r>
            <a:endParaRPr lang="en-US" sz="1100" dirty="0"/>
          </a:p>
        </p:txBody>
      </p:sp>
      <p:sp>
        <p:nvSpPr>
          <p:cNvPr id="40" name="Text 38"/>
          <p:cNvSpPr/>
          <p:nvPr/>
        </p:nvSpPr>
        <p:spPr>
          <a:xfrm>
            <a:off x="2304288" y="4517136"/>
            <a:ext cx="6492240" cy="210312"/>
          </a:xfrm>
          <a:prstGeom prst="rect">
            <a:avLst/>
          </a:prstGeom>
          <a:noFill/>
          <a:ln/>
        </p:spPr>
        <p:txBody>
          <a:bodyPr wrap="square" rtlCol="0" anchor="ctr"/>
          <a:lstStyle/>
          <a:p>
            <a:pPr marL="0" indent="0">
              <a:buNone/>
            </a:pPr>
            <a:r>
              <a:rPr lang="en-US" sz="1100" i="1" dirty="0">
                <a:solidFill>
                  <a:srgbClr val="E65100"/>
                </a:solidFill>
                <a:latin typeface="Calibri" pitchFamily="34" charset="0"/>
                <a:ea typeface="Calibri" pitchFamily="34" charset="-122"/>
                <a:cs typeface="Calibri" pitchFamily="34" charset="-120"/>
              </a:rPr>
              <a:t>Ex : Fibre optique : 0.001% d erreurs vs cuivre : 0.01% → base QoS meilleure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2E7D32"/>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Le SLA — Le contrat de qualite entre client et operateur</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256032" y="822960"/>
            <a:ext cx="4206240" cy="2971800"/>
          </a:xfrm>
          <a:prstGeom prst="rect">
            <a:avLst/>
          </a:prstGeom>
          <a:solidFill>
            <a:srgbClr val="F3E5F5"/>
          </a:solidFill>
          <a:ln w="19050">
            <a:solidFill>
              <a:srgbClr val="7B1FA2"/>
            </a:solidFill>
            <a:prstDash val="solid"/>
          </a:ln>
          <a:effectLst>
            <a:outerShdw blurRad="63500" dist="25400" dir="8100000" algn="bl" rotWithShape="0">
              <a:srgbClr val="000000">
                <a:alpha val="10000"/>
              </a:srgbClr>
            </a:outerShdw>
          </a:effectLst>
        </p:spPr>
      </p:sp>
      <p:sp>
        <p:nvSpPr>
          <p:cNvPr id="6" name="Shape 4"/>
          <p:cNvSpPr/>
          <p:nvPr/>
        </p:nvSpPr>
        <p:spPr>
          <a:xfrm>
            <a:off x="256032" y="822960"/>
            <a:ext cx="4206240" cy="438912"/>
          </a:xfrm>
          <a:prstGeom prst="rect">
            <a:avLst/>
          </a:prstGeom>
          <a:solidFill>
            <a:srgbClr val="7B1FA2"/>
          </a:solidFill>
          <a:ln/>
        </p:spPr>
      </p:sp>
      <p:sp>
        <p:nvSpPr>
          <p:cNvPr id="7" name="Text 5"/>
          <p:cNvSpPr/>
          <p:nvPr/>
        </p:nvSpPr>
        <p:spPr>
          <a:xfrm>
            <a:off x="256032" y="822960"/>
            <a:ext cx="4206240"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Exemple de SLA — Service VoIP Entreprise</a:t>
            </a:r>
            <a:endParaRPr lang="en-US" sz="1200" dirty="0"/>
          </a:p>
        </p:txBody>
      </p:sp>
      <p:sp>
        <p:nvSpPr>
          <p:cNvPr id="8" name="Shape 6"/>
          <p:cNvSpPr/>
          <p:nvPr/>
        </p:nvSpPr>
        <p:spPr>
          <a:xfrm>
            <a:off x="347472" y="1335024"/>
            <a:ext cx="4005072" cy="402336"/>
          </a:xfrm>
          <a:prstGeom prst="rect">
            <a:avLst/>
          </a:prstGeom>
          <a:solidFill>
            <a:srgbClr val="FFFFFF"/>
          </a:solidFill>
          <a:ln w="3810">
            <a:solidFill>
              <a:srgbClr val="BDBDBD"/>
            </a:solidFill>
            <a:prstDash val="solid"/>
          </a:ln>
        </p:spPr>
      </p:sp>
      <p:sp>
        <p:nvSpPr>
          <p:cNvPr id="9" name="Text 7"/>
          <p:cNvSpPr/>
          <p:nvPr/>
        </p:nvSpPr>
        <p:spPr>
          <a:xfrm>
            <a:off x="438912" y="1353312"/>
            <a:ext cx="1828800" cy="347472"/>
          </a:xfrm>
          <a:prstGeom prst="rect">
            <a:avLst/>
          </a:prstGeom>
          <a:noFill/>
          <a:ln/>
        </p:spPr>
        <p:txBody>
          <a:bodyPr wrap="square" rtlCol="0" anchor="ctr"/>
          <a:lstStyle/>
          <a:p>
            <a:pPr marL="0" indent="0">
              <a:buNone/>
            </a:pPr>
            <a:r>
              <a:rPr lang="en-US" sz="1200" b="1" dirty="0">
                <a:solidFill>
                  <a:srgbClr val="4A148C"/>
                </a:solidFill>
                <a:latin typeface="Calibri" pitchFamily="34" charset="0"/>
                <a:ea typeface="Calibri" pitchFamily="34" charset="-122"/>
                <a:cs typeface="Calibri" pitchFamily="34" charset="-120"/>
              </a:rPr>
              <a:t>Delai de bout en bout</a:t>
            </a:r>
            <a:endParaRPr lang="en-US" sz="1200" dirty="0"/>
          </a:p>
        </p:txBody>
      </p:sp>
      <p:sp>
        <p:nvSpPr>
          <p:cNvPr id="10" name="Text 8"/>
          <p:cNvSpPr/>
          <p:nvPr/>
        </p:nvSpPr>
        <p:spPr>
          <a:xfrm>
            <a:off x="2331720" y="1353312"/>
            <a:ext cx="192024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&lt;= 150 ms pour 99% des paquets</a:t>
            </a:r>
            <a:endParaRPr lang="en-US" sz="1100" dirty="0"/>
          </a:p>
        </p:txBody>
      </p:sp>
      <p:sp>
        <p:nvSpPr>
          <p:cNvPr id="11" name="Shape 9"/>
          <p:cNvSpPr/>
          <p:nvPr/>
        </p:nvSpPr>
        <p:spPr>
          <a:xfrm>
            <a:off x="347472" y="1792224"/>
            <a:ext cx="4005072" cy="402336"/>
          </a:xfrm>
          <a:prstGeom prst="rect">
            <a:avLst/>
          </a:prstGeom>
          <a:solidFill>
            <a:srgbClr val="F5F5F5"/>
          </a:solidFill>
          <a:ln w="3810">
            <a:solidFill>
              <a:srgbClr val="BDBDBD"/>
            </a:solidFill>
            <a:prstDash val="solid"/>
          </a:ln>
        </p:spPr>
      </p:sp>
      <p:sp>
        <p:nvSpPr>
          <p:cNvPr id="12" name="Text 10"/>
          <p:cNvSpPr/>
          <p:nvPr/>
        </p:nvSpPr>
        <p:spPr>
          <a:xfrm>
            <a:off x="438912" y="1810512"/>
            <a:ext cx="1828800" cy="347472"/>
          </a:xfrm>
          <a:prstGeom prst="rect">
            <a:avLst/>
          </a:prstGeom>
          <a:noFill/>
          <a:ln/>
        </p:spPr>
        <p:txBody>
          <a:bodyPr wrap="square" rtlCol="0" anchor="ctr"/>
          <a:lstStyle/>
          <a:p>
            <a:pPr marL="0" indent="0">
              <a:buNone/>
            </a:pPr>
            <a:r>
              <a:rPr lang="en-US" sz="1200" b="1" dirty="0">
                <a:solidFill>
                  <a:srgbClr val="4A148C"/>
                </a:solidFill>
                <a:latin typeface="Calibri" pitchFamily="34" charset="0"/>
                <a:ea typeface="Calibri" pitchFamily="34" charset="-122"/>
                <a:cs typeface="Calibri" pitchFamily="34" charset="-120"/>
              </a:rPr>
              <a:t>Taux de perte</a:t>
            </a:r>
            <a:endParaRPr lang="en-US" sz="1200" dirty="0"/>
          </a:p>
        </p:txBody>
      </p:sp>
      <p:sp>
        <p:nvSpPr>
          <p:cNvPr id="13" name="Text 11"/>
          <p:cNvSpPr/>
          <p:nvPr/>
        </p:nvSpPr>
        <p:spPr>
          <a:xfrm>
            <a:off x="2331720" y="1810512"/>
            <a:ext cx="192024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&lt;= 0.5%</a:t>
            </a:r>
            <a:endParaRPr lang="en-US" sz="1100" dirty="0"/>
          </a:p>
        </p:txBody>
      </p:sp>
      <p:sp>
        <p:nvSpPr>
          <p:cNvPr id="14" name="Shape 12"/>
          <p:cNvSpPr/>
          <p:nvPr/>
        </p:nvSpPr>
        <p:spPr>
          <a:xfrm>
            <a:off x="347472" y="2249424"/>
            <a:ext cx="4005072" cy="402336"/>
          </a:xfrm>
          <a:prstGeom prst="rect">
            <a:avLst/>
          </a:prstGeom>
          <a:solidFill>
            <a:srgbClr val="FFFFFF"/>
          </a:solidFill>
          <a:ln w="3810">
            <a:solidFill>
              <a:srgbClr val="BDBDBD"/>
            </a:solidFill>
            <a:prstDash val="solid"/>
          </a:ln>
        </p:spPr>
      </p:sp>
      <p:sp>
        <p:nvSpPr>
          <p:cNvPr id="15" name="Text 13"/>
          <p:cNvSpPr/>
          <p:nvPr/>
        </p:nvSpPr>
        <p:spPr>
          <a:xfrm>
            <a:off x="438912" y="2267712"/>
            <a:ext cx="1828800" cy="347472"/>
          </a:xfrm>
          <a:prstGeom prst="rect">
            <a:avLst/>
          </a:prstGeom>
          <a:noFill/>
          <a:ln/>
        </p:spPr>
        <p:txBody>
          <a:bodyPr wrap="square" rtlCol="0" anchor="ctr"/>
          <a:lstStyle/>
          <a:p>
            <a:pPr marL="0" indent="0">
              <a:buNone/>
            </a:pPr>
            <a:r>
              <a:rPr lang="en-US" sz="1200" b="1" dirty="0">
                <a:solidFill>
                  <a:srgbClr val="4A148C"/>
                </a:solidFill>
                <a:latin typeface="Calibri" pitchFamily="34" charset="0"/>
                <a:ea typeface="Calibri" pitchFamily="34" charset="-122"/>
                <a:cs typeface="Calibri" pitchFamily="34" charset="-120"/>
              </a:rPr>
              <a:t>Gigue</a:t>
            </a:r>
            <a:endParaRPr lang="en-US" sz="1200" dirty="0"/>
          </a:p>
        </p:txBody>
      </p:sp>
      <p:sp>
        <p:nvSpPr>
          <p:cNvPr id="16" name="Text 14"/>
          <p:cNvSpPr/>
          <p:nvPr/>
        </p:nvSpPr>
        <p:spPr>
          <a:xfrm>
            <a:off x="2331720" y="2267712"/>
            <a:ext cx="192024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&lt;= 30 ms</a:t>
            </a:r>
            <a:endParaRPr lang="en-US" sz="1100" dirty="0"/>
          </a:p>
        </p:txBody>
      </p:sp>
      <p:sp>
        <p:nvSpPr>
          <p:cNvPr id="17" name="Shape 15"/>
          <p:cNvSpPr/>
          <p:nvPr/>
        </p:nvSpPr>
        <p:spPr>
          <a:xfrm>
            <a:off x="347472" y="2706624"/>
            <a:ext cx="4005072" cy="402336"/>
          </a:xfrm>
          <a:prstGeom prst="rect">
            <a:avLst/>
          </a:prstGeom>
          <a:solidFill>
            <a:srgbClr val="F5F5F5"/>
          </a:solidFill>
          <a:ln w="3810">
            <a:solidFill>
              <a:srgbClr val="BDBDBD"/>
            </a:solidFill>
            <a:prstDash val="solid"/>
          </a:ln>
        </p:spPr>
      </p:sp>
      <p:sp>
        <p:nvSpPr>
          <p:cNvPr id="18" name="Text 16"/>
          <p:cNvSpPr/>
          <p:nvPr/>
        </p:nvSpPr>
        <p:spPr>
          <a:xfrm>
            <a:off x="438912" y="2724912"/>
            <a:ext cx="1828800" cy="347472"/>
          </a:xfrm>
          <a:prstGeom prst="rect">
            <a:avLst/>
          </a:prstGeom>
          <a:noFill/>
          <a:ln/>
        </p:spPr>
        <p:txBody>
          <a:bodyPr wrap="square" rtlCol="0" anchor="ctr"/>
          <a:lstStyle/>
          <a:p>
            <a:pPr marL="0" indent="0">
              <a:buNone/>
            </a:pPr>
            <a:r>
              <a:rPr lang="en-US" sz="1200" b="1" dirty="0">
                <a:solidFill>
                  <a:srgbClr val="4A148C"/>
                </a:solidFill>
                <a:latin typeface="Calibri" pitchFamily="34" charset="0"/>
                <a:ea typeface="Calibri" pitchFamily="34" charset="-122"/>
                <a:cs typeface="Calibri" pitchFamily="34" charset="-120"/>
              </a:rPr>
              <a:t>Disponibilite</a:t>
            </a:r>
            <a:endParaRPr lang="en-US" sz="1200" dirty="0"/>
          </a:p>
        </p:txBody>
      </p:sp>
      <p:sp>
        <p:nvSpPr>
          <p:cNvPr id="19" name="Text 17"/>
          <p:cNvSpPr/>
          <p:nvPr/>
        </p:nvSpPr>
        <p:spPr>
          <a:xfrm>
            <a:off x="2331720" y="2724912"/>
            <a:ext cx="205740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&gt;=99.9% = 8.76h maxi d interruption/an</a:t>
            </a:r>
            <a:endParaRPr lang="en-US" sz="1100" dirty="0"/>
          </a:p>
        </p:txBody>
      </p:sp>
      <p:sp>
        <p:nvSpPr>
          <p:cNvPr id="20" name="Shape 18"/>
          <p:cNvSpPr/>
          <p:nvPr/>
        </p:nvSpPr>
        <p:spPr>
          <a:xfrm>
            <a:off x="347472" y="3163824"/>
            <a:ext cx="4005072" cy="402336"/>
          </a:xfrm>
          <a:prstGeom prst="rect">
            <a:avLst/>
          </a:prstGeom>
          <a:solidFill>
            <a:srgbClr val="FFFFFF"/>
          </a:solidFill>
          <a:ln w="3810">
            <a:solidFill>
              <a:srgbClr val="BDBDBD"/>
            </a:solidFill>
            <a:prstDash val="solid"/>
          </a:ln>
        </p:spPr>
      </p:sp>
      <p:sp>
        <p:nvSpPr>
          <p:cNvPr id="21" name="Text 19"/>
          <p:cNvSpPr/>
          <p:nvPr/>
        </p:nvSpPr>
        <p:spPr>
          <a:xfrm>
            <a:off x="438912" y="3182112"/>
            <a:ext cx="1828800" cy="347472"/>
          </a:xfrm>
          <a:prstGeom prst="rect">
            <a:avLst/>
          </a:prstGeom>
          <a:noFill/>
          <a:ln/>
        </p:spPr>
        <p:txBody>
          <a:bodyPr wrap="square" rtlCol="0" anchor="ctr"/>
          <a:lstStyle/>
          <a:p>
            <a:pPr marL="0" indent="0">
              <a:buNone/>
            </a:pPr>
            <a:r>
              <a:rPr lang="en-US" sz="1200" b="1" dirty="0">
                <a:solidFill>
                  <a:srgbClr val="4A148C"/>
                </a:solidFill>
                <a:latin typeface="Calibri" pitchFamily="34" charset="0"/>
                <a:ea typeface="Calibri" pitchFamily="34" charset="-122"/>
                <a:cs typeface="Calibri" pitchFamily="34" charset="-120"/>
              </a:rPr>
              <a:t>Temps de retablissement</a:t>
            </a:r>
            <a:endParaRPr lang="en-US" sz="1200" dirty="0"/>
          </a:p>
        </p:txBody>
      </p:sp>
      <p:sp>
        <p:nvSpPr>
          <p:cNvPr id="22" name="Text 20"/>
          <p:cNvSpPr/>
          <p:nvPr/>
        </p:nvSpPr>
        <p:spPr>
          <a:xfrm>
            <a:off x="2331720" y="3182112"/>
            <a:ext cx="1920240" cy="34747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&lt;= 4h en cas de panne</a:t>
            </a:r>
            <a:endParaRPr lang="en-US" sz="1100" dirty="0"/>
          </a:p>
        </p:txBody>
      </p:sp>
      <p:sp>
        <p:nvSpPr>
          <p:cNvPr id="23" name="Text 21"/>
          <p:cNvSpPr/>
          <p:nvPr/>
        </p:nvSpPr>
        <p:spPr>
          <a:xfrm>
            <a:off x="347472" y="3822192"/>
            <a:ext cx="4005072" cy="292608"/>
          </a:xfrm>
          <a:prstGeom prst="rect">
            <a:avLst/>
          </a:prstGeom>
          <a:noFill/>
          <a:ln/>
        </p:spPr>
        <p:txBody>
          <a:bodyPr wrap="square" rtlCol="0" anchor="ctr"/>
          <a:lstStyle/>
          <a:p>
            <a:pPr marL="0" indent="0">
              <a:buNone/>
            </a:pPr>
            <a:r>
              <a:rPr lang="en-US" sz="900" i="1" dirty="0">
                <a:solidFill>
                  <a:srgbClr val="757575"/>
                </a:solidFill>
                <a:latin typeface="Calibri" pitchFamily="34" charset="0"/>
                <a:ea typeface="Calibri" pitchFamily="34" charset="-122"/>
                <a:cs typeface="Calibri" pitchFamily="34" charset="-120"/>
              </a:rPr>
              <a:t>SLS = Service Level Spec. = partie technique du SLA</a:t>
            </a:r>
            <a:endParaRPr lang="en-US" sz="900" dirty="0"/>
          </a:p>
          <a:p>
            <a:pPr marL="0" indent="0">
              <a:buNone/>
            </a:pPr>
            <a:r>
              <a:rPr lang="en-US" sz="900" i="1" dirty="0">
                <a:solidFill>
                  <a:srgbClr val="757575"/>
                </a:solidFill>
                <a:latin typeface="Calibri" pitchFamily="34" charset="0"/>
                <a:ea typeface="Calibri" pitchFamily="34" charset="-122"/>
                <a:cs typeface="Calibri" pitchFamily="34" charset="-120"/>
              </a:rPr>
              <a:t>CIR = Committed Information Rate = debit minimal garanti</a:t>
            </a:r>
            <a:endParaRPr lang="en-US" sz="900" dirty="0"/>
          </a:p>
        </p:txBody>
      </p:sp>
      <p:sp>
        <p:nvSpPr>
          <p:cNvPr id="24" name="Text 22"/>
          <p:cNvSpPr/>
          <p:nvPr/>
        </p:nvSpPr>
        <p:spPr>
          <a:xfrm>
            <a:off x="4709160" y="804672"/>
            <a:ext cx="4160520" cy="36576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Le cycle de gestion QoS :</a:t>
            </a:r>
            <a:endParaRPr lang="en-US" sz="1300" dirty="0"/>
          </a:p>
        </p:txBody>
      </p:sp>
      <p:sp>
        <p:nvSpPr>
          <p:cNvPr id="25" name="Shape 23"/>
          <p:cNvSpPr/>
          <p:nvPr/>
        </p:nvSpPr>
        <p:spPr>
          <a:xfrm>
            <a:off x="4709160" y="1325880"/>
            <a:ext cx="502920" cy="502920"/>
          </a:xfrm>
          <a:prstGeom prst="ellipse">
            <a:avLst/>
          </a:prstGeom>
          <a:solidFill>
            <a:srgbClr val="1565C0"/>
          </a:solidFill>
          <a:ln/>
        </p:spPr>
      </p:sp>
      <p:sp>
        <p:nvSpPr>
          <p:cNvPr id="26" name="Text 24"/>
          <p:cNvSpPr/>
          <p:nvPr/>
        </p:nvSpPr>
        <p:spPr>
          <a:xfrm>
            <a:off x="4709160" y="13258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7" name="Shape 25"/>
          <p:cNvSpPr/>
          <p:nvPr/>
        </p:nvSpPr>
        <p:spPr>
          <a:xfrm>
            <a:off x="5285232" y="1234440"/>
            <a:ext cx="3602736" cy="804672"/>
          </a:xfrm>
          <a:prstGeom prst="rect">
            <a:avLst/>
          </a:prstGeom>
          <a:solidFill>
            <a:srgbClr val="F5F5F5"/>
          </a:solidFill>
          <a:ln w="12700">
            <a:solidFill>
              <a:srgbClr val="1565C0"/>
            </a:solidFill>
            <a:prstDash val="solid"/>
          </a:ln>
        </p:spPr>
      </p:sp>
      <p:sp>
        <p:nvSpPr>
          <p:cNvPr id="28" name="Text 26"/>
          <p:cNvSpPr/>
          <p:nvPr/>
        </p:nvSpPr>
        <p:spPr>
          <a:xfrm>
            <a:off x="5376672" y="1271016"/>
            <a:ext cx="3456432" cy="274320"/>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Specification</a:t>
            </a:r>
            <a:endParaRPr lang="en-US" sz="1200" dirty="0"/>
          </a:p>
        </p:txBody>
      </p:sp>
      <p:sp>
        <p:nvSpPr>
          <p:cNvPr id="29" name="Text 27"/>
          <p:cNvSpPr/>
          <p:nvPr/>
        </p:nvSpPr>
        <p:spPr>
          <a:xfrm>
            <a:off x="5376672" y="1554480"/>
            <a:ext cx="3456432" cy="43891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Definir les parametres du SLA</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(delai, perte, debit, disponibilite)</a:t>
            </a:r>
            <a:endParaRPr lang="en-US" sz="1100" dirty="0"/>
          </a:p>
        </p:txBody>
      </p:sp>
      <p:sp>
        <p:nvSpPr>
          <p:cNvPr id="30" name="Shape 28"/>
          <p:cNvSpPr/>
          <p:nvPr/>
        </p:nvSpPr>
        <p:spPr>
          <a:xfrm>
            <a:off x="4892040" y="1874520"/>
            <a:ext cx="73152" cy="274320"/>
          </a:xfrm>
          <a:prstGeom prst="rect">
            <a:avLst/>
          </a:prstGeom>
          <a:solidFill>
            <a:srgbClr val="BDBDBD"/>
          </a:solidFill>
          <a:ln/>
        </p:spPr>
      </p:sp>
      <p:sp>
        <p:nvSpPr>
          <p:cNvPr id="31" name="Shape 29"/>
          <p:cNvSpPr/>
          <p:nvPr/>
        </p:nvSpPr>
        <p:spPr>
          <a:xfrm>
            <a:off x="4709160" y="2240280"/>
            <a:ext cx="502920" cy="502920"/>
          </a:xfrm>
          <a:prstGeom prst="ellipse">
            <a:avLst/>
          </a:prstGeom>
          <a:solidFill>
            <a:srgbClr val="00796B"/>
          </a:solidFill>
          <a:ln/>
        </p:spPr>
      </p:sp>
      <p:sp>
        <p:nvSpPr>
          <p:cNvPr id="32" name="Text 30"/>
          <p:cNvSpPr/>
          <p:nvPr/>
        </p:nvSpPr>
        <p:spPr>
          <a:xfrm>
            <a:off x="4709160" y="22402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3" name="Shape 31"/>
          <p:cNvSpPr/>
          <p:nvPr/>
        </p:nvSpPr>
        <p:spPr>
          <a:xfrm>
            <a:off x="5285232" y="2148840"/>
            <a:ext cx="3602736" cy="804672"/>
          </a:xfrm>
          <a:prstGeom prst="rect">
            <a:avLst/>
          </a:prstGeom>
          <a:solidFill>
            <a:srgbClr val="F5F5F5"/>
          </a:solidFill>
          <a:ln w="12700">
            <a:solidFill>
              <a:srgbClr val="00796B"/>
            </a:solidFill>
            <a:prstDash val="solid"/>
          </a:ln>
        </p:spPr>
      </p:sp>
      <p:sp>
        <p:nvSpPr>
          <p:cNvPr id="34" name="Text 32"/>
          <p:cNvSpPr/>
          <p:nvPr/>
        </p:nvSpPr>
        <p:spPr>
          <a:xfrm>
            <a:off x="5376672" y="2185416"/>
            <a:ext cx="3456432" cy="274320"/>
          </a:xfrm>
          <a:prstGeom prst="rect">
            <a:avLst/>
          </a:prstGeom>
          <a:noFill/>
          <a:ln/>
        </p:spPr>
        <p:txBody>
          <a:bodyPr wrap="square" rtlCol="0" anchor="ctr"/>
          <a:lstStyle/>
          <a:p>
            <a:pPr marL="0" indent="0">
              <a:buNone/>
            </a:pPr>
            <a:r>
              <a:rPr lang="en-US" sz="1200" b="1" dirty="0">
                <a:solidFill>
                  <a:srgbClr val="00796B"/>
                </a:solidFill>
                <a:latin typeface="Calibri" pitchFamily="34" charset="0"/>
                <a:ea typeface="Calibri" pitchFamily="34" charset="-122"/>
                <a:cs typeface="Calibri" pitchFamily="34" charset="-120"/>
              </a:rPr>
              <a:t>Controle d admission</a:t>
            </a:r>
            <a:endParaRPr lang="en-US" sz="1200" dirty="0"/>
          </a:p>
        </p:txBody>
      </p:sp>
      <p:sp>
        <p:nvSpPr>
          <p:cNvPr id="35" name="Text 33"/>
          <p:cNvSpPr/>
          <p:nvPr/>
        </p:nvSpPr>
        <p:spPr>
          <a:xfrm>
            <a:off x="5376672" y="2468880"/>
            <a:ext cx="3456432" cy="43891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Le reseau peut-il accepter</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ce nouveau flux ? (CAC)</a:t>
            </a:r>
            <a:endParaRPr lang="en-US" sz="1100" dirty="0"/>
          </a:p>
        </p:txBody>
      </p:sp>
      <p:sp>
        <p:nvSpPr>
          <p:cNvPr id="36" name="Shape 34"/>
          <p:cNvSpPr/>
          <p:nvPr/>
        </p:nvSpPr>
        <p:spPr>
          <a:xfrm>
            <a:off x="4892040" y="2788920"/>
            <a:ext cx="73152" cy="274320"/>
          </a:xfrm>
          <a:prstGeom prst="rect">
            <a:avLst/>
          </a:prstGeom>
          <a:solidFill>
            <a:srgbClr val="BDBDBD"/>
          </a:solidFill>
          <a:ln/>
        </p:spPr>
      </p:sp>
      <p:sp>
        <p:nvSpPr>
          <p:cNvPr id="37" name="Shape 35"/>
          <p:cNvSpPr/>
          <p:nvPr/>
        </p:nvSpPr>
        <p:spPr>
          <a:xfrm>
            <a:off x="4709160" y="3154680"/>
            <a:ext cx="502920" cy="502920"/>
          </a:xfrm>
          <a:prstGeom prst="ellipse">
            <a:avLst/>
          </a:prstGeom>
          <a:solidFill>
            <a:srgbClr val="E65100"/>
          </a:solidFill>
          <a:ln/>
        </p:spPr>
      </p:sp>
      <p:sp>
        <p:nvSpPr>
          <p:cNvPr id="38" name="Text 36"/>
          <p:cNvSpPr/>
          <p:nvPr/>
        </p:nvSpPr>
        <p:spPr>
          <a:xfrm>
            <a:off x="4709160" y="31546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9" name="Shape 37"/>
          <p:cNvSpPr/>
          <p:nvPr/>
        </p:nvSpPr>
        <p:spPr>
          <a:xfrm>
            <a:off x="5285232" y="3063240"/>
            <a:ext cx="3602736" cy="804672"/>
          </a:xfrm>
          <a:prstGeom prst="rect">
            <a:avLst/>
          </a:prstGeom>
          <a:solidFill>
            <a:srgbClr val="F5F5F5"/>
          </a:solidFill>
          <a:ln w="12700">
            <a:solidFill>
              <a:srgbClr val="E65100"/>
            </a:solidFill>
            <a:prstDash val="solid"/>
          </a:ln>
        </p:spPr>
      </p:sp>
      <p:sp>
        <p:nvSpPr>
          <p:cNvPr id="40" name="Text 38"/>
          <p:cNvSpPr/>
          <p:nvPr/>
        </p:nvSpPr>
        <p:spPr>
          <a:xfrm>
            <a:off x="5376672" y="3099816"/>
            <a:ext cx="3456432" cy="274320"/>
          </a:xfrm>
          <a:prstGeom prst="rect">
            <a:avLst/>
          </a:prstGeom>
          <a:noFill/>
          <a:ln/>
        </p:spPr>
        <p:txBody>
          <a:bodyPr wrap="square" rtlCol="0" anchor="ctr"/>
          <a:lstStyle/>
          <a:p>
            <a:pPr marL="0" indent="0">
              <a:buNone/>
            </a:pPr>
            <a:r>
              <a:rPr lang="en-US" sz="1200" b="1" dirty="0">
                <a:solidFill>
                  <a:srgbClr val="E65100"/>
                </a:solidFill>
                <a:latin typeface="Calibri" pitchFamily="34" charset="0"/>
                <a:ea typeface="Calibri" pitchFamily="34" charset="-122"/>
                <a:cs typeface="Calibri" pitchFamily="34" charset="-120"/>
              </a:rPr>
              <a:t>Surveillance</a:t>
            </a:r>
            <a:endParaRPr lang="en-US" sz="1200" dirty="0"/>
          </a:p>
        </p:txBody>
      </p:sp>
      <p:sp>
        <p:nvSpPr>
          <p:cNvPr id="41" name="Text 39"/>
          <p:cNvSpPr/>
          <p:nvPr/>
        </p:nvSpPr>
        <p:spPr>
          <a:xfrm>
            <a:off x="5376672" y="3383280"/>
            <a:ext cx="3456432" cy="43891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Monitorer en continu</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(SNMP, TWAMP, NetFlow)</a:t>
            </a:r>
            <a:endParaRPr lang="en-US" sz="1100" dirty="0"/>
          </a:p>
        </p:txBody>
      </p:sp>
      <p:sp>
        <p:nvSpPr>
          <p:cNvPr id="42" name="Shape 40"/>
          <p:cNvSpPr/>
          <p:nvPr/>
        </p:nvSpPr>
        <p:spPr>
          <a:xfrm>
            <a:off x="4892040" y="3703320"/>
            <a:ext cx="73152" cy="274320"/>
          </a:xfrm>
          <a:prstGeom prst="rect">
            <a:avLst/>
          </a:prstGeom>
          <a:solidFill>
            <a:srgbClr val="BDBDBD"/>
          </a:solidFill>
          <a:ln/>
        </p:spPr>
      </p:sp>
      <p:sp>
        <p:nvSpPr>
          <p:cNvPr id="43" name="Shape 41"/>
          <p:cNvSpPr/>
          <p:nvPr/>
        </p:nvSpPr>
        <p:spPr>
          <a:xfrm>
            <a:off x="4709160" y="4069080"/>
            <a:ext cx="502920" cy="502920"/>
          </a:xfrm>
          <a:prstGeom prst="ellipse">
            <a:avLst/>
          </a:prstGeom>
          <a:solidFill>
            <a:srgbClr val="C62828"/>
          </a:solidFill>
          <a:ln/>
        </p:spPr>
      </p:sp>
      <p:sp>
        <p:nvSpPr>
          <p:cNvPr id="44" name="Text 42"/>
          <p:cNvSpPr/>
          <p:nvPr/>
        </p:nvSpPr>
        <p:spPr>
          <a:xfrm>
            <a:off x="4709160" y="4069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5" name="Shape 43"/>
          <p:cNvSpPr/>
          <p:nvPr/>
        </p:nvSpPr>
        <p:spPr>
          <a:xfrm>
            <a:off x="5285232" y="3977640"/>
            <a:ext cx="3602736" cy="804672"/>
          </a:xfrm>
          <a:prstGeom prst="rect">
            <a:avLst/>
          </a:prstGeom>
          <a:solidFill>
            <a:srgbClr val="F5F5F5"/>
          </a:solidFill>
          <a:ln w="12700">
            <a:solidFill>
              <a:srgbClr val="C62828"/>
            </a:solidFill>
            <a:prstDash val="solid"/>
          </a:ln>
        </p:spPr>
      </p:sp>
      <p:sp>
        <p:nvSpPr>
          <p:cNvPr id="46" name="Text 44"/>
          <p:cNvSpPr/>
          <p:nvPr/>
        </p:nvSpPr>
        <p:spPr>
          <a:xfrm>
            <a:off x="5376672" y="4014216"/>
            <a:ext cx="3456432" cy="274320"/>
          </a:xfrm>
          <a:prstGeom prst="rect">
            <a:avLst/>
          </a:prstGeom>
          <a:noFill/>
          <a:ln/>
        </p:spPr>
        <p:txBody>
          <a:bodyPr wrap="square" rtlCol="0" anchor="ctr"/>
          <a:lstStyle/>
          <a:p>
            <a:pPr marL="0" indent="0">
              <a:buNone/>
            </a:pPr>
            <a:r>
              <a:rPr lang="en-US" sz="1200" b="1" dirty="0">
                <a:solidFill>
                  <a:srgbClr val="C62828"/>
                </a:solidFill>
                <a:latin typeface="Calibri" pitchFamily="34" charset="0"/>
                <a:ea typeface="Calibri" pitchFamily="34" charset="-122"/>
                <a:cs typeface="Calibri" pitchFamily="34" charset="-120"/>
              </a:rPr>
              <a:t>Renégociation</a:t>
            </a:r>
            <a:endParaRPr lang="en-US" sz="1200" dirty="0"/>
          </a:p>
        </p:txBody>
      </p:sp>
      <p:sp>
        <p:nvSpPr>
          <p:cNvPr id="47" name="Text 45"/>
          <p:cNvSpPr/>
          <p:nvPr/>
        </p:nvSpPr>
        <p:spPr>
          <a:xfrm>
            <a:off x="5376672" y="4297680"/>
            <a:ext cx="3456432" cy="43891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Si SLA non respecté :</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adjuster ou investir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4527A0"/>
          </a:solidFill>
          <a:ln/>
        </p:spPr>
      </p:sp>
      <p:sp>
        <p:nvSpPr>
          <p:cNvPr id="3" name="Text 1"/>
          <p:cNvSpPr/>
          <p:nvPr/>
        </p:nvSpPr>
        <p:spPr>
          <a:xfrm>
            <a:off x="502920" y="548640"/>
            <a:ext cx="2286000" cy="1371600"/>
          </a:xfrm>
          <a:prstGeom prst="rect">
            <a:avLst/>
          </a:prstGeom>
          <a:noFill/>
          <a:ln/>
        </p:spPr>
        <p:txBody>
          <a:bodyPr wrap="square" rtlCol="0" anchor="ctr"/>
          <a:lstStyle/>
          <a:p>
            <a:pPr marL="0" indent="0">
              <a:buNone/>
            </a:pPr>
            <a:r>
              <a:rPr lang="en-US" sz="7200" b="1" dirty="0">
                <a:solidFill>
                  <a:srgbClr val="4527A0">
                    <a:alpha val="75000"/>
                  </a:srgbClr>
                </a:solidFill>
                <a:latin typeface="Calibri" pitchFamily="34" charset="0"/>
                <a:ea typeface="Calibri" pitchFamily="34" charset="-122"/>
                <a:cs typeface="Calibri" pitchFamily="34" charset="-120"/>
              </a:rPr>
              <a:t>05</a:t>
            </a:r>
            <a:endParaRPr lang="en-US" sz="7200" dirty="0"/>
          </a:p>
        </p:txBody>
      </p:sp>
      <p:sp>
        <p:nvSpPr>
          <p:cNvPr id="4" name="Text 2"/>
          <p:cNvSpPr/>
          <p:nvPr/>
        </p:nvSpPr>
        <p:spPr>
          <a:xfrm>
            <a:off x="502920" y="1828800"/>
            <a:ext cx="8321040" cy="8229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Token Bucket &amp; Leaky Bucket</a:t>
            </a:r>
            <a:endParaRPr lang="en-US" sz="3400" dirty="0"/>
          </a:p>
        </p:txBody>
      </p:sp>
      <p:sp>
        <p:nvSpPr>
          <p:cNvPr id="5" name="Text 3"/>
          <p:cNvSpPr/>
          <p:nvPr/>
        </p:nvSpPr>
        <p:spPr>
          <a:xfrm>
            <a:off x="502920" y="2697480"/>
            <a:ext cx="8229600" cy="457200"/>
          </a:xfrm>
          <a:prstGeom prst="rect">
            <a:avLst/>
          </a:prstGeom>
          <a:noFill/>
          <a:ln/>
        </p:spPr>
        <p:txBody>
          <a:bodyPr wrap="square" rtlCol="0" anchor="ctr"/>
          <a:lstStyle/>
          <a:p>
            <a:pPr marL="0" indent="0">
              <a:buNone/>
            </a:pPr>
            <a:r>
              <a:rPr lang="en-US" sz="1400" i="1" dirty="0">
                <a:solidFill>
                  <a:srgbClr val="BDBDBD"/>
                </a:solidFill>
                <a:latin typeface="Calibri" pitchFamily="34" charset="0"/>
                <a:ea typeface="Calibri" pitchFamily="34" charset="-122"/>
                <a:cs typeface="Calibri" pitchFamily="34" charset="-120"/>
              </a:rPr>
              <a:t>Controler le trafic entrant · Policing · Shaping</a:t>
            </a:r>
            <a:endParaRPr lang="en-US" sz="1400" dirty="0"/>
          </a:p>
        </p:txBody>
      </p:sp>
      <p:sp>
        <p:nvSpPr>
          <p:cNvPr id="6" name="Shape 4"/>
          <p:cNvSpPr/>
          <p:nvPr/>
        </p:nvSpPr>
        <p:spPr>
          <a:xfrm>
            <a:off x="0" y="4919472"/>
            <a:ext cx="9144000" cy="228600"/>
          </a:xfrm>
          <a:prstGeom prst="rect">
            <a:avLst/>
          </a:prstGeom>
          <a:solidFill>
            <a:srgbClr val="4527A0"/>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4527A0"/>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Leaky Bucket — Le seau perce : sortie toujours reguliere</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256032" y="822960"/>
            <a:ext cx="8631936" cy="411480"/>
          </a:xfrm>
          <a:prstGeom prst="rect">
            <a:avLst/>
          </a:prstGeom>
          <a:solidFill>
            <a:srgbClr val="EDE7F6"/>
          </a:solidFill>
          <a:ln w="12700">
            <a:solidFill>
              <a:srgbClr val="4527A0"/>
            </a:solidFill>
            <a:prstDash val="solid"/>
          </a:ln>
        </p:spPr>
      </p:sp>
      <p:sp>
        <p:nvSpPr>
          <p:cNvPr id="6" name="Text 4"/>
          <p:cNvSpPr/>
          <p:nvPr/>
        </p:nvSpPr>
        <p:spPr>
          <a:xfrm>
            <a:off x="365760" y="822960"/>
            <a:ext cx="8412480" cy="411480"/>
          </a:xfrm>
          <a:prstGeom prst="rect">
            <a:avLst/>
          </a:prstGeom>
          <a:noFill/>
          <a:ln/>
        </p:spPr>
        <p:txBody>
          <a:bodyPr wrap="square" rtlCol="0" anchor="ctr"/>
          <a:lstStyle/>
          <a:p>
            <a:pPr marL="0" indent="0">
              <a:buNone/>
            </a:pPr>
            <a:r>
              <a:rPr lang="en-US" sz="1200" b="1" dirty="0">
                <a:solidFill>
                  <a:srgbClr val="4527A0"/>
                </a:solidFill>
                <a:latin typeface="Calibri" pitchFamily="34" charset="0"/>
                <a:ea typeface="Calibri" pitchFamily="34" charset="-122"/>
                <a:cs typeface="Calibri" pitchFamily="34" charset="-120"/>
              </a:rPr>
              <a:t>Analogie : un seau avec un trou de taille fixe. Peu importe a quelle vitesse on verse l eau (trafic), elle sort toujours au meme rythme.</a:t>
            </a:r>
            <a:endParaRPr lang="en-US" sz="1200" dirty="0"/>
          </a:p>
        </p:txBody>
      </p:sp>
      <p:sp>
        <p:nvSpPr>
          <p:cNvPr id="7" name="Shape 5"/>
          <p:cNvSpPr/>
          <p:nvPr/>
        </p:nvSpPr>
        <p:spPr>
          <a:xfrm>
            <a:off x="1371600" y="1389888"/>
            <a:ext cx="1828800" cy="2011680"/>
          </a:xfrm>
          <a:prstGeom prst="rect">
            <a:avLst/>
          </a:prstGeom>
          <a:solidFill>
            <a:srgbClr val="BBDEFB"/>
          </a:solidFill>
          <a:ln w="25400">
            <a:solidFill>
              <a:srgbClr val="1565C0"/>
            </a:solidFill>
            <a:prstDash val="solid"/>
          </a:ln>
        </p:spPr>
      </p:sp>
      <p:sp>
        <p:nvSpPr>
          <p:cNvPr id="8" name="Text 6"/>
          <p:cNvSpPr/>
          <p:nvPr/>
        </p:nvSpPr>
        <p:spPr>
          <a:xfrm>
            <a:off x="1371600" y="1463040"/>
            <a:ext cx="1828800" cy="1645920"/>
          </a:xfrm>
          <a:prstGeom prst="rect">
            <a:avLst/>
          </a:prstGeom>
          <a:noFill/>
          <a:ln/>
        </p:spPr>
        <p:txBody>
          <a:bodyPr wrap="square" rtlCol="0" anchor="ctr"/>
          <a:lstStyle/>
          <a:p>
            <a:pPr marL="0" indent="0" algn="ctr">
              <a:buNone/>
            </a:pPr>
            <a:r>
              <a:rPr lang="en-US" sz="1050" dirty="0">
                <a:solidFill>
                  <a:srgbClr val="1565C0"/>
                </a:solidFill>
                <a:latin typeface="Calibri" pitchFamily="34" charset="0"/>
                <a:ea typeface="Calibri" pitchFamily="34" charset="-122"/>
                <a:cs typeface="Calibri" pitchFamily="34" charset="-120"/>
              </a:rPr>
              <a:t>Trafic entrant</a:t>
            </a:r>
            <a:endParaRPr lang="en-US" sz="1050" dirty="0"/>
          </a:p>
          <a:p>
            <a:pPr marL="0" indent="0" algn="ctr">
              <a:buNone/>
            </a:pPr>
            <a:r>
              <a:rPr lang="en-US" sz="1050" dirty="0">
                <a:solidFill>
                  <a:srgbClr val="1565C0"/>
                </a:solidFill>
                <a:latin typeface="Calibri" pitchFamily="34" charset="0"/>
                <a:ea typeface="Calibri" pitchFamily="34" charset="-122"/>
                <a:cs typeface="Calibri" pitchFamily="34" charset="-120"/>
              </a:rPr>
              <a:t>(variable,</a:t>
            </a:r>
            <a:endParaRPr lang="en-US" sz="1050" dirty="0"/>
          </a:p>
          <a:p>
            <a:pPr marL="0" indent="0" algn="ctr">
              <a:buNone/>
            </a:pPr>
            <a:r>
              <a:rPr lang="en-US" sz="1050" dirty="0">
                <a:solidFill>
                  <a:srgbClr val="1565C0"/>
                </a:solidFill>
                <a:latin typeface="Calibri" pitchFamily="34" charset="0"/>
                <a:ea typeface="Calibri" pitchFamily="34" charset="-122"/>
                <a:cs typeface="Calibri" pitchFamily="34" charset="-120"/>
              </a:rPr>
              <a:t>rafales</a:t>
            </a:r>
            <a:endParaRPr lang="en-US" sz="1050" dirty="0"/>
          </a:p>
          <a:p>
            <a:pPr marL="0" indent="0" algn="ctr">
              <a:buNone/>
            </a:pPr>
            <a:r>
              <a:rPr lang="en-US" sz="1050" dirty="0">
                <a:solidFill>
                  <a:srgbClr val="1565C0"/>
                </a:solidFill>
                <a:latin typeface="Calibri" pitchFamily="34" charset="0"/>
                <a:ea typeface="Calibri" pitchFamily="34" charset="-122"/>
                <a:cs typeface="Calibri" pitchFamily="34" charset="-120"/>
              </a:rPr>
              <a:t>possibles)</a:t>
            </a:r>
            <a:endParaRPr lang="en-US" sz="1050" dirty="0"/>
          </a:p>
        </p:txBody>
      </p:sp>
      <p:sp>
        <p:nvSpPr>
          <p:cNvPr id="9" name="Shape 7"/>
          <p:cNvSpPr/>
          <p:nvPr/>
        </p:nvSpPr>
        <p:spPr>
          <a:xfrm>
            <a:off x="1920240" y="3337560"/>
            <a:ext cx="685800" cy="228600"/>
          </a:xfrm>
          <a:prstGeom prst="ellipse">
            <a:avLst/>
          </a:prstGeom>
          <a:solidFill>
            <a:srgbClr val="FFFFFF"/>
          </a:solidFill>
          <a:ln w="19050">
            <a:solidFill>
              <a:srgbClr val="1565C0"/>
            </a:solidFill>
            <a:prstDash val="solid"/>
          </a:ln>
        </p:spPr>
      </p:sp>
      <p:sp>
        <p:nvSpPr>
          <p:cNvPr id="10" name="Text 8"/>
          <p:cNvSpPr/>
          <p:nvPr/>
        </p:nvSpPr>
        <p:spPr>
          <a:xfrm>
            <a:off x="1097280" y="3621024"/>
            <a:ext cx="2359152" cy="320040"/>
          </a:xfrm>
          <a:prstGeom prst="rect">
            <a:avLst/>
          </a:prstGeom>
          <a:noFill/>
          <a:ln/>
        </p:spPr>
        <p:txBody>
          <a:bodyPr wrap="square" rtlCol="0" anchor="ctr"/>
          <a:lstStyle/>
          <a:p>
            <a:pPr marL="0" indent="0" algn="ctr">
              <a:buNone/>
            </a:pPr>
            <a:r>
              <a:rPr lang="en-US" sz="1050" b="1" dirty="0">
                <a:solidFill>
                  <a:srgbClr val="1565C0"/>
                </a:solidFill>
                <a:latin typeface="Calibri" pitchFamily="34" charset="0"/>
                <a:ea typeface="Calibri" pitchFamily="34" charset="-122"/>
                <a:cs typeface="Calibri" pitchFamily="34" charset="-120"/>
              </a:rPr>
              <a:t>Debit de sortie CONSTANT R</a:t>
            </a:r>
            <a:endParaRPr lang="en-US" sz="1050" dirty="0"/>
          </a:p>
        </p:txBody>
      </p:sp>
      <p:sp>
        <p:nvSpPr>
          <p:cNvPr id="11" name="Shape 9"/>
          <p:cNvSpPr/>
          <p:nvPr/>
        </p:nvSpPr>
        <p:spPr>
          <a:xfrm>
            <a:off x="3383280" y="1645920"/>
            <a:ext cx="1828800" cy="804672"/>
          </a:xfrm>
          <a:prstGeom prst="rect">
            <a:avLst/>
          </a:prstGeom>
          <a:solidFill>
            <a:srgbClr val="FFEBEE"/>
          </a:solidFill>
          <a:ln w="12700">
            <a:solidFill>
              <a:srgbClr val="C62828"/>
            </a:solidFill>
            <a:prstDash val="solid"/>
          </a:ln>
        </p:spPr>
      </p:sp>
      <p:sp>
        <p:nvSpPr>
          <p:cNvPr id="12" name="Text 10"/>
          <p:cNvSpPr/>
          <p:nvPr/>
        </p:nvSpPr>
        <p:spPr>
          <a:xfrm>
            <a:off x="3383280" y="1691640"/>
            <a:ext cx="1828800" cy="685800"/>
          </a:xfrm>
          <a:prstGeom prst="rect">
            <a:avLst/>
          </a:prstGeom>
          <a:noFill/>
          <a:ln/>
        </p:spPr>
        <p:txBody>
          <a:bodyPr wrap="square" rtlCol="0" anchor="ctr"/>
          <a:lstStyle/>
          <a:p>
            <a:pPr marL="0" indent="0" algn="ctr">
              <a:buNone/>
            </a:pPr>
            <a:r>
              <a:rPr lang="en-US" sz="1050" b="1" dirty="0">
                <a:solidFill>
                  <a:srgbClr val="C62828"/>
                </a:solidFill>
                <a:latin typeface="Calibri" pitchFamily="34" charset="0"/>
                <a:ea typeface="Calibri" pitchFamily="34" charset="-122"/>
                <a:cs typeface="Calibri" pitchFamily="34" charset="-120"/>
              </a:rPr>
              <a:t>Seau PLEIN :</a:t>
            </a:r>
            <a:endParaRPr lang="en-US" sz="1050" dirty="0"/>
          </a:p>
          <a:p>
            <a:pPr marL="0" indent="0" algn="ctr">
              <a:buNone/>
            </a:pPr>
            <a:r>
              <a:rPr lang="en-US" sz="1050" b="1" dirty="0">
                <a:solidFill>
                  <a:srgbClr val="C62828"/>
                </a:solidFill>
                <a:latin typeface="Calibri" pitchFamily="34" charset="0"/>
                <a:ea typeface="Calibri" pitchFamily="34" charset="-122"/>
                <a:cs typeface="Calibri" pitchFamily="34" charset="-120"/>
              </a:rPr>
              <a:t>paquets rejetes !</a:t>
            </a:r>
            <a:endParaRPr lang="en-US" sz="1050" dirty="0"/>
          </a:p>
        </p:txBody>
      </p:sp>
      <p:sp>
        <p:nvSpPr>
          <p:cNvPr id="13" name="Text 11"/>
          <p:cNvSpPr/>
          <p:nvPr/>
        </p:nvSpPr>
        <p:spPr>
          <a:xfrm>
            <a:off x="5394960" y="1371600"/>
            <a:ext cx="3474720" cy="34747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Proprietes du Leaky Bucket :</a:t>
            </a:r>
            <a:endParaRPr lang="en-US" sz="1300" dirty="0"/>
          </a:p>
        </p:txBody>
      </p:sp>
      <p:sp>
        <p:nvSpPr>
          <p:cNvPr id="14" name="Shape 12"/>
          <p:cNvSpPr/>
          <p:nvPr/>
        </p:nvSpPr>
        <p:spPr>
          <a:xfrm>
            <a:off x="5394960" y="1783080"/>
            <a:ext cx="3474720" cy="658368"/>
          </a:xfrm>
          <a:prstGeom prst="rect">
            <a:avLst/>
          </a:prstGeom>
          <a:solidFill>
            <a:srgbClr val="FFFFFF"/>
          </a:solidFill>
          <a:ln w="6350">
            <a:solidFill>
              <a:srgbClr val="4527A0"/>
            </a:solidFill>
            <a:prstDash val="solid"/>
          </a:ln>
        </p:spPr>
      </p:sp>
      <p:sp>
        <p:nvSpPr>
          <p:cNvPr id="15" name="Text 13"/>
          <p:cNvSpPr/>
          <p:nvPr/>
        </p:nvSpPr>
        <p:spPr>
          <a:xfrm>
            <a:off x="5504688" y="1801368"/>
            <a:ext cx="3291840" cy="256032"/>
          </a:xfrm>
          <a:prstGeom prst="rect">
            <a:avLst/>
          </a:prstGeom>
          <a:noFill/>
          <a:ln/>
        </p:spPr>
        <p:txBody>
          <a:bodyPr wrap="square" rtlCol="0" anchor="ctr"/>
          <a:lstStyle/>
          <a:p>
            <a:pPr marL="0" indent="0">
              <a:buNone/>
            </a:pPr>
            <a:r>
              <a:rPr lang="en-US" sz="1100" b="1" dirty="0">
                <a:solidFill>
                  <a:srgbClr val="4527A0"/>
                </a:solidFill>
                <a:latin typeface="Calibri" pitchFamily="34" charset="0"/>
                <a:ea typeface="Calibri" pitchFamily="34" charset="-122"/>
                <a:cs typeface="Calibri" pitchFamily="34" charset="-120"/>
              </a:rPr>
              <a:t>Sortie constante</a:t>
            </a:r>
            <a:endParaRPr lang="en-US" sz="1100" dirty="0"/>
          </a:p>
        </p:txBody>
      </p:sp>
      <p:sp>
        <p:nvSpPr>
          <p:cNvPr id="16" name="Text 14"/>
          <p:cNvSpPr/>
          <p:nvPr/>
        </p:nvSpPr>
        <p:spPr>
          <a:xfrm>
            <a:off x="5504688" y="2075688"/>
            <a:ext cx="3291840" cy="320040"/>
          </a:xfrm>
          <a:prstGeom prst="rect">
            <a:avLst/>
          </a:prstGeom>
          <a:noFill/>
          <a:ln/>
        </p:spPr>
        <p:txBody>
          <a:bodyPr wrap="square" rtlCol="0" anchor="ctr"/>
          <a:lstStyle/>
          <a:p>
            <a:pPr marL="0" indent="0">
              <a:buNone/>
            </a:pPr>
            <a:r>
              <a:rPr lang="en-US" sz="1050" dirty="0">
                <a:solidFill>
                  <a:srgbClr val="212121"/>
                </a:solidFill>
                <a:latin typeface="Calibri" pitchFamily="34" charset="0"/>
                <a:ea typeface="Calibri" pitchFamily="34" charset="-122"/>
                <a:cs typeface="Calibri" pitchFamily="34" charset="-120"/>
              </a:rPr>
              <a:t>Le trafic sortant est TOUJOURS a debit R, quels que soient les pics d entree.</a:t>
            </a:r>
            <a:endParaRPr lang="en-US" sz="1050" dirty="0"/>
          </a:p>
        </p:txBody>
      </p:sp>
      <p:sp>
        <p:nvSpPr>
          <p:cNvPr id="17" name="Shape 15"/>
          <p:cNvSpPr/>
          <p:nvPr/>
        </p:nvSpPr>
        <p:spPr>
          <a:xfrm>
            <a:off x="5394960" y="2496312"/>
            <a:ext cx="3474720" cy="658368"/>
          </a:xfrm>
          <a:prstGeom prst="rect">
            <a:avLst/>
          </a:prstGeom>
          <a:solidFill>
            <a:srgbClr val="FFFFFF"/>
          </a:solidFill>
          <a:ln w="6350">
            <a:solidFill>
              <a:srgbClr val="4527A0"/>
            </a:solidFill>
            <a:prstDash val="solid"/>
          </a:ln>
        </p:spPr>
      </p:sp>
      <p:sp>
        <p:nvSpPr>
          <p:cNvPr id="18" name="Text 16"/>
          <p:cNvSpPr/>
          <p:nvPr/>
        </p:nvSpPr>
        <p:spPr>
          <a:xfrm>
            <a:off x="5504688" y="2514600"/>
            <a:ext cx="3291840" cy="256032"/>
          </a:xfrm>
          <a:prstGeom prst="rect">
            <a:avLst/>
          </a:prstGeom>
          <a:noFill/>
          <a:ln/>
        </p:spPr>
        <p:txBody>
          <a:bodyPr wrap="square" rtlCol="0" anchor="ctr"/>
          <a:lstStyle/>
          <a:p>
            <a:pPr marL="0" indent="0">
              <a:buNone/>
            </a:pPr>
            <a:r>
              <a:rPr lang="en-US" sz="1100" b="1" dirty="0">
                <a:solidFill>
                  <a:srgbClr val="4527A0"/>
                </a:solidFill>
                <a:latin typeface="Calibri" pitchFamily="34" charset="0"/>
                <a:ea typeface="Calibri" pitchFamily="34" charset="-122"/>
                <a:cs typeface="Calibri" pitchFamily="34" charset="-120"/>
              </a:rPr>
              <a:t>Rejet des debordements</a:t>
            </a:r>
            <a:endParaRPr lang="en-US" sz="1100" dirty="0"/>
          </a:p>
        </p:txBody>
      </p:sp>
      <p:sp>
        <p:nvSpPr>
          <p:cNvPr id="19" name="Text 17"/>
          <p:cNvSpPr/>
          <p:nvPr/>
        </p:nvSpPr>
        <p:spPr>
          <a:xfrm>
            <a:off x="5504688" y="2788920"/>
            <a:ext cx="3291840" cy="320040"/>
          </a:xfrm>
          <a:prstGeom prst="rect">
            <a:avLst/>
          </a:prstGeom>
          <a:noFill/>
          <a:ln/>
        </p:spPr>
        <p:txBody>
          <a:bodyPr wrap="square" rtlCol="0" anchor="ctr"/>
          <a:lstStyle/>
          <a:p>
            <a:pPr marL="0" indent="0">
              <a:buNone/>
            </a:pPr>
            <a:r>
              <a:rPr lang="en-US" sz="1050" dirty="0">
                <a:solidFill>
                  <a:srgbClr val="212121"/>
                </a:solidFill>
                <a:latin typeface="Calibri" pitchFamily="34" charset="0"/>
                <a:ea typeface="Calibri" pitchFamily="34" charset="-122"/>
                <a:cs typeface="Calibri" pitchFamily="34" charset="-120"/>
              </a:rPr>
              <a:t>Si les paquets arrivent plus vite que R et que le seau est plein → rejetes.</a:t>
            </a:r>
            <a:endParaRPr lang="en-US" sz="1050" dirty="0"/>
          </a:p>
        </p:txBody>
      </p:sp>
      <p:sp>
        <p:nvSpPr>
          <p:cNvPr id="20" name="Shape 18"/>
          <p:cNvSpPr/>
          <p:nvPr/>
        </p:nvSpPr>
        <p:spPr>
          <a:xfrm>
            <a:off x="5394960" y="3209544"/>
            <a:ext cx="3474720" cy="658368"/>
          </a:xfrm>
          <a:prstGeom prst="rect">
            <a:avLst/>
          </a:prstGeom>
          <a:solidFill>
            <a:srgbClr val="FFFFFF"/>
          </a:solidFill>
          <a:ln w="6350">
            <a:solidFill>
              <a:srgbClr val="4527A0"/>
            </a:solidFill>
            <a:prstDash val="solid"/>
          </a:ln>
        </p:spPr>
      </p:sp>
      <p:sp>
        <p:nvSpPr>
          <p:cNvPr id="21" name="Text 19"/>
          <p:cNvSpPr/>
          <p:nvPr/>
        </p:nvSpPr>
        <p:spPr>
          <a:xfrm>
            <a:off x="5504688" y="3227832"/>
            <a:ext cx="3291840" cy="256032"/>
          </a:xfrm>
          <a:prstGeom prst="rect">
            <a:avLst/>
          </a:prstGeom>
          <a:noFill/>
          <a:ln/>
        </p:spPr>
        <p:txBody>
          <a:bodyPr wrap="square" rtlCol="0" anchor="ctr"/>
          <a:lstStyle/>
          <a:p>
            <a:pPr marL="0" indent="0">
              <a:buNone/>
            </a:pPr>
            <a:r>
              <a:rPr lang="en-US" sz="1100" b="1" dirty="0">
                <a:solidFill>
                  <a:srgbClr val="4527A0"/>
                </a:solidFill>
                <a:latin typeface="Calibri" pitchFamily="34" charset="0"/>
                <a:ea typeface="Calibri" pitchFamily="34" charset="-122"/>
                <a:cs typeface="Calibri" pitchFamily="34" charset="-120"/>
              </a:rPr>
              <a:t>Pas de tolerance aux rafales</a:t>
            </a:r>
            <a:endParaRPr lang="en-US" sz="1100" dirty="0"/>
          </a:p>
        </p:txBody>
      </p:sp>
      <p:sp>
        <p:nvSpPr>
          <p:cNvPr id="22" name="Text 20"/>
          <p:cNvSpPr/>
          <p:nvPr/>
        </p:nvSpPr>
        <p:spPr>
          <a:xfrm>
            <a:off x="5504688" y="3502152"/>
            <a:ext cx="3291840" cy="320040"/>
          </a:xfrm>
          <a:prstGeom prst="rect">
            <a:avLst/>
          </a:prstGeom>
          <a:noFill/>
          <a:ln/>
        </p:spPr>
        <p:txBody>
          <a:bodyPr wrap="square" rtlCol="0" anchor="ctr"/>
          <a:lstStyle/>
          <a:p>
            <a:pPr marL="0" indent="0">
              <a:buNone/>
            </a:pPr>
            <a:r>
              <a:rPr lang="en-US" sz="1050" dirty="0">
                <a:solidFill>
                  <a:srgbClr val="212121"/>
                </a:solidFill>
                <a:latin typeface="Calibri" pitchFamily="34" charset="0"/>
                <a:ea typeface="Calibri" pitchFamily="34" charset="-122"/>
                <a:cs typeface="Calibri" pitchFamily="34" charset="-120"/>
              </a:rPr>
              <a:t>Un burst de donnees ne peut pas etre absorbe : il est ecrete.</a:t>
            </a:r>
            <a:endParaRPr lang="en-US" sz="1050" dirty="0"/>
          </a:p>
        </p:txBody>
      </p:sp>
      <p:sp>
        <p:nvSpPr>
          <p:cNvPr id="23" name="Shape 21"/>
          <p:cNvSpPr/>
          <p:nvPr/>
        </p:nvSpPr>
        <p:spPr>
          <a:xfrm>
            <a:off x="5394960" y="3922776"/>
            <a:ext cx="3474720" cy="658368"/>
          </a:xfrm>
          <a:prstGeom prst="rect">
            <a:avLst/>
          </a:prstGeom>
          <a:solidFill>
            <a:srgbClr val="FFFFFF"/>
          </a:solidFill>
          <a:ln w="6350">
            <a:solidFill>
              <a:srgbClr val="4527A0"/>
            </a:solidFill>
            <a:prstDash val="solid"/>
          </a:ln>
        </p:spPr>
      </p:sp>
      <p:sp>
        <p:nvSpPr>
          <p:cNvPr id="24" name="Text 22"/>
          <p:cNvSpPr/>
          <p:nvPr/>
        </p:nvSpPr>
        <p:spPr>
          <a:xfrm>
            <a:off x="5504688" y="3941064"/>
            <a:ext cx="3291840" cy="256032"/>
          </a:xfrm>
          <a:prstGeom prst="rect">
            <a:avLst/>
          </a:prstGeom>
          <a:noFill/>
          <a:ln/>
        </p:spPr>
        <p:txBody>
          <a:bodyPr wrap="square" rtlCol="0" anchor="ctr"/>
          <a:lstStyle/>
          <a:p>
            <a:pPr marL="0" indent="0">
              <a:buNone/>
            </a:pPr>
            <a:r>
              <a:rPr lang="en-US" sz="1100" b="1" dirty="0">
                <a:solidFill>
                  <a:srgbClr val="4527A0"/>
                </a:solidFill>
                <a:latin typeface="Calibri" pitchFamily="34" charset="0"/>
                <a:ea typeface="Calibri" pitchFamily="34" charset="-122"/>
                <a:cs typeface="Calibri" pitchFamily="34" charset="-120"/>
              </a:rPr>
              <a:t>Utilisation</a:t>
            </a:r>
            <a:endParaRPr lang="en-US" sz="1100" dirty="0"/>
          </a:p>
        </p:txBody>
      </p:sp>
      <p:sp>
        <p:nvSpPr>
          <p:cNvPr id="25" name="Text 23"/>
          <p:cNvSpPr/>
          <p:nvPr/>
        </p:nvSpPr>
        <p:spPr>
          <a:xfrm>
            <a:off x="5504688" y="4143825"/>
            <a:ext cx="3291840" cy="3200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Garantit un debit de sortie strict. Utilise pour la mise en forme (shaping).</a:t>
            </a:r>
            <a:endParaRPr lang="en-US" sz="1000" dirty="0"/>
          </a:p>
        </p:txBody>
      </p:sp>
      <p:sp>
        <p:nvSpPr>
          <p:cNvPr id="26" name="Shape 24"/>
          <p:cNvSpPr/>
          <p:nvPr/>
        </p:nvSpPr>
        <p:spPr>
          <a:xfrm>
            <a:off x="256032" y="4462272"/>
            <a:ext cx="8631936" cy="411480"/>
          </a:xfrm>
          <a:prstGeom prst="rect">
            <a:avLst/>
          </a:prstGeom>
          <a:solidFill>
            <a:srgbClr val="F5F5F5"/>
          </a:solidFill>
          <a:ln w="12700">
            <a:solidFill>
              <a:srgbClr val="4527A0"/>
            </a:solidFill>
            <a:prstDash val="solid"/>
          </a:ln>
        </p:spPr>
      </p:sp>
      <p:sp>
        <p:nvSpPr>
          <p:cNvPr id="27" name="Text 25"/>
          <p:cNvSpPr/>
          <p:nvPr/>
        </p:nvSpPr>
        <p:spPr>
          <a:xfrm>
            <a:off x="365760" y="4462272"/>
            <a:ext cx="8412480" cy="411480"/>
          </a:xfrm>
          <a:prstGeom prst="rect">
            <a:avLst/>
          </a:prstGeom>
          <a:noFill/>
          <a:ln/>
        </p:spPr>
        <p:txBody>
          <a:bodyPr wrap="square" rtlCol="0" anchor="ctr"/>
          <a:lstStyle/>
          <a:p>
            <a:pPr marL="0" indent="0">
              <a:buNone/>
            </a:pPr>
            <a:r>
              <a:rPr lang="en-US" sz="1100" b="1" dirty="0">
                <a:solidFill>
                  <a:srgbClr val="4527A0"/>
                </a:solidFill>
                <a:latin typeface="Calibri" pitchFamily="34" charset="0"/>
                <a:ea typeface="Calibri" pitchFamily="34" charset="-122"/>
                <a:cs typeface="Calibri" pitchFamily="34" charset="-120"/>
              </a:rPr>
              <a:t>Limite : rigide — ne tolere AUCUNE rafale meme legitime. Solution plus flexible = Token Bucket.</a:t>
            </a:r>
            <a:endParaRPr lang="en-US" sz="1100" dirty="0"/>
          </a:p>
        </p:txBody>
      </p:sp>
    </p:spTree>
    <p:extLst>
      <p:ext uri="{BB962C8B-B14F-4D97-AF65-F5344CB8AC3E}">
        <p14:creationId xmlns:p14="http://schemas.microsoft.com/office/powerpoint/2010/main" val="2971275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4527A0"/>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Token Bucket — Des jetons pour autoriser les rafales</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256032" y="822960"/>
            <a:ext cx="8631936" cy="411480"/>
          </a:xfrm>
          <a:prstGeom prst="rect">
            <a:avLst/>
          </a:prstGeom>
          <a:solidFill>
            <a:srgbClr val="EDE7F6"/>
          </a:solidFill>
          <a:ln w="12700">
            <a:solidFill>
              <a:srgbClr val="4527A0"/>
            </a:solidFill>
            <a:prstDash val="solid"/>
          </a:ln>
        </p:spPr>
      </p:sp>
      <p:sp>
        <p:nvSpPr>
          <p:cNvPr id="6" name="Text 4"/>
          <p:cNvSpPr/>
          <p:nvPr/>
        </p:nvSpPr>
        <p:spPr>
          <a:xfrm>
            <a:off x="365760" y="822960"/>
            <a:ext cx="8412480" cy="411480"/>
          </a:xfrm>
          <a:prstGeom prst="rect">
            <a:avLst/>
          </a:prstGeom>
          <a:noFill/>
          <a:ln/>
        </p:spPr>
        <p:txBody>
          <a:bodyPr wrap="square" rtlCol="0" anchor="ctr"/>
          <a:lstStyle/>
          <a:p>
            <a:pPr marL="0" indent="0">
              <a:buNone/>
            </a:pPr>
            <a:r>
              <a:rPr lang="en-US" sz="1200" b="1" dirty="0">
                <a:solidFill>
                  <a:srgbClr val="4527A0"/>
                </a:solidFill>
                <a:latin typeface="Calibri" pitchFamily="34" charset="0"/>
                <a:ea typeface="Calibri" pitchFamily="34" charset="-122"/>
                <a:cs typeface="Calibri" pitchFamily="34" charset="-120"/>
              </a:rPr>
              <a:t>Analogie : un distributeur de tickets de metro. Tu peux accumuler des tickets et les utiliser en rafale, mais tu ne peux pas en avoir plus de b a la fois.</a:t>
            </a:r>
            <a:endParaRPr lang="en-US" sz="1200" dirty="0"/>
          </a:p>
        </p:txBody>
      </p:sp>
      <p:sp>
        <p:nvSpPr>
          <p:cNvPr id="7" name="Shape 5"/>
          <p:cNvSpPr/>
          <p:nvPr/>
        </p:nvSpPr>
        <p:spPr>
          <a:xfrm>
            <a:off x="731520" y="1389888"/>
            <a:ext cx="1645920" cy="2011680"/>
          </a:xfrm>
          <a:prstGeom prst="rect">
            <a:avLst/>
          </a:prstGeom>
          <a:solidFill>
            <a:srgbClr val="EDE7F6"/>
          </a:solidFill>
          <a:ln w="25400">
            <a:solidFill>
              <a:srgbClr val="4527A0"/>
            </a:solidFill>
            <a:prstDash val="solid"/>
          </a:ln>
        </p:spPr>
      </p:sp>
      <p:sp>
        <p:nvSpPr>
          <p:cNvPr id="8" name="Text 6"/>
          <p:cNvSpPr/>
          <p:nvPr/>
        </p:nvSpPr>
        <p:spPr>
          <a:xfrm>
            <a:off x="731520" y="1554480"/>
            <a:ext cx="1645920" cy="731520"/>
          </a:xfrm>
          <a:prstGeom prst="rect">
            <a:avLst/>
          </a:prstGeom>
          <a:noFill/>
          <a:ln/>
        </p:spPr>
        <p:txBody>
          <a:bodyPr wrap="square" rtlCol="0" anchor="ctr"/>
          <a:lstStyle/>
          <a:p>
            <a:pPr marL="0" indent="0" algn="ctr">
              <a:buNone/>
            </a:pPr>
            <a:r>
              <a:rPr lang="en-US" sz="1050" b="1" dirty="0">
                <a:solidFill>
                  <a:srgbClr val="4527A0"/>
                </a:solidFill>
                <a:latin typeface="Calibri" pitchFamily="34" charset="0"/>
                <a:ea typeface="Calibri" pitchFamily="34" charset="-122"/>
                <a:cs typeface="Calibri" pitchFamily="34" charset="-120"/>
              </a:rPr>
              <a:t>Jetons</a:t>
            </a:r>
            <a:endParaRPr lang="en-US" sz="1050" dirty="0"/>
          </a:p>
          <a:p>
            <a:pPr marL="0" indent="0" algn="ctr">
              <a:buNone/>
            </a:pPr>
            <a:r>
              <a:rPr lang="en-US" sz="1050" b="1" dirty="0">
                <a:solidFill>
                  <a:srgbClr val="4527A0"/>
                </a:solidFill>
                <a:latin typeface="Calibri" pitchFamily="34" charset="0"/>
                <a:ea typeface="Calibri" pitchFamily="34" charset="-122"/>
                <a:cs typeface="Calibri" pitchFamily="34" charset="-120"/>
              </a:rPr>
              <a:t>max b jetons</a:t>
            </a:r>
            <a:endParaRPr lang="en-US" sz="1050" dirty="0"/>
          </a:p>
        </p:txBody>
      </p:sp>
      <p:sp>
        <p:nvSpPr>
          <p:cNvPr id="9" name="Text 7"/>
          <p:cNvSpPr/>
          <p:nvPr/>
        </p:nvSpPr>
        <p:spPr>
          <a:xfrm>
            <a:off x="365760" y="1280160"/>
            <a:ext cx="2331720" cy="347472"/>
          </a:xfrm>
          <a:prstGeom prst="rect">
            <a:avLst/>
          </a:prstGeom>
          <a:noFill/>
          <a:ln/>
        </p:spPr>
        <p:txBody>
          <a:bodyPr wrap="square" rtlCol="0" anchor="ctr"/>
          <a:lstStyle/>
          <a:p>
            <a:pPr marL="0" indent="0" algn="ctr">
              <a:buNone/>
            </a:pPr>
            <a:r>
              <a:rPr lang="en-US" sz="1000" b="1" dirty="0">
                <a:solidFill>
                  <a:srgbClr val="00796B"/>
                </a:solidFill>
                <a:latin typeface="Calibri" pitchFamily="34" charset="0"/>
                <a:ea typeface="Calibri" pitchFamily="34" charset="-122"/>
                <a:cs typeface="Calibri" pitchFamily="34" charset="-120"/>
              </a:rPr>
              <a:t>+r jetons/s</a:t>
            </a:r>
            <a:endParaRPr lang="en-US" sz="1000" dirty="0"/>
          </a:p>
          <a:p>
            <a:pPr marL="0" indent="0" algn="ctr">
              <a:buNone/>
            </a:pPr>
            <a:r>
              <a:rPr lang="en-US" sz="1000" b="1" dirty="0">
                <a:solidFill>
                  <a:srgbClr val="00796B"/>
                </a:solidFill>
                <a:latin typeface="Calibri" pitchFamily="34" charset="0"/>
                <a:ea typeface="Calibri" pitchFamily="34" charset="-122"/>
                <a:cs typeface="Calibri" pitchFamily="34" charset="-120"/>
              </a:rPr>
              <a:t>(regeneration)</a:t>
            </a:r>
            <a:endParaRPr lang="en-US" sz="1000" dirty="0"/>
          </a:p>
        </p:txBody>
      </p:sp>
      <p:sp>
        <p:nvSpPr>
          <p:cNvPr id="10" name="Shape 8"/>
          <p:cNvSpPr/>
          <p:nvPr/>
        </p:nvSpPr>
        <p:spPr>
          <a:xfrm>
            <a:off x="2633472" y="2011680"/>
            <a:ext cx="1828800" cy="914400"/>
          </a:xfrm>
          <a:prstGeom prst="rect">
            <a:avLst/>
          </a:prstGeom>
          <a:solidFill>
            <a:srgbClr val="FFFDE7"/>
          </a:solidFill>
          <a:ln w="12700">
            <a:solidFill>
              <a:srgbClr val="F57F17"/>
            </a:solidFill>
            <a:prstDash val="solid"/>
          </a:ln>
        </p:spPr>
      </p:sp>
      <p:sp>
        <p:nvSpPr>
          <p:cNvPr id="11" name="Text 9"/>
          <p:cNvSpPr/>
          <p:nvPr/>
        </p:nvSpPr>
        <p:spPr>
          <a:xfrm>
            <a:off x="2651760" y="2057400"/>
            <a:ext cx="1783080" cy="822960"/>
          </a:xfrm>
          <a:prstGeom prst="rect">
            <a:avLst/>
          </a:prstGeom>
          <a:noFill/>
          <a:ln/>
        </p:spPr>
        <p:txBody>
          <a:bodyPr wrap="square" rtlCol="0" anchor="ctr"/>
          <a:lstStyle/>
          <a:p>
            <a:pPr marL="0" indent="0" algn="ctr">
              <a:buNone/>
            </a:pPr>
            <a:r>
              <a:rPr lang="en-US" sz="1100" dirty="0">
                <a:solidFill>
                  <a:srgbClr val="212121"/>
                </a:solidFill>
                <a:latin typeface="Calibri" pitchFamily="34" charset="0"/>
                <a:ea typeface="Calibri" pitchFamily="34" charset="-122"/>
                <a:cs typeface="Calibri" pitchFamily="34" charset="-120"/>
              </a:rPr>
              <a:t>Condition :</a:t>
            </a:r>
            <a:endParaRPr lang="en-US" sz="1100" dirty="0"/>
          </a:p>
          <a:p>
            <a:pPr marL="0" indent="0" algn="ctr">
              <a:buNone/>
            </a:pPr>
            <a:r>
              <a:rPr lang="en-US" sz="1100" dirty="0">
                <a:solidFill>
                  <a:srgbClr val="212121"/>
                </a:solidFill>
                <a:latin typeface="Calibri" pitchFamily="34" charset="0"/>
                <a:ea typeface="Calibri" pitchFamily="34" charset="-122"/>
                <a:cs typeface="Calibri" pitchFamily="34" charset="-120"/>
              </a:rPr>
              <a:t>Emettre n octets</a:t>
            </a:r>
            <a:endParaRPr lang="en-US" sz="1100" dirty="0"/>
          </a:p>
          <a:p>
            <a:pPr marL="0" indent="0" algn="ctr">
              <a:buNone/>
            </a:pPr>
            <a:r>
              <a:rPr lang="en-US" sz="1100" dirty="0">
                <a:solidFill>
                  <a:srgbClr val="212121"/>
                </a:solidFill>
                <a:latin typeface="Calibri" pitchFamily="34" charset="0"/>
                <a:ea typeface="Calibri" pitchFamily="34" charset="-122"/>
                <a:cs typeface="Calibri" pitchFamily="34" charset="-120"/>
              </a:rPr>
              <a:t>= depenser n jetons</a:t>
            </a:r>
            <a:endParaRPr lang="en-US" sz="1100" dirty="0"/>
          </a:p>
        </p:txBody>
      </p:sp>
      <p:sp>
        <p:nvSpPr>
          <p:cNvPr id="12" name="Text 10"/>
          <p:cNvSpPr/>
          <p:nvPr/>
        </p:nvSpPr>
        <p:spPr>
          <a:xfrm>
            <a:off x="4754880" y="1353312"/>
            <a:ext cx="4114800" cy="34747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Avantages du Token Bucket :</a:t>
            </a:r>
            <a:endParaRPr lang="en-US" sz="1300" dirty="0"/>
          </a:p>
        </p:txBody>
      </p:sp>
      <p:sp>
        <p:nvSpPr>
          <p:cNvPr id="13" name="Shape 11"/>
          <p:cNvSpPr/>
          <p:nvPr/>
        </p:nvSpPr>
        <p:spPr>
          <a:xfrm>
            <a:off x="4754880" y="1612530"/>
            <a:ext cx="4114800" cy="658368"/>
          </a:xfrm>
          <a:prstGeom prst="rect">
            <a:avLst/>
          </a:prstGeom>
          <a:solidFill>
            <a:srgbClr val="F5F5F5"/>
          </a:solidFill>
          <a:ln w="6350">
            <a:solidFill>
              <a:srgbClr val="4527A0"/>
            </a:solidFill>
            <a:prstDash val="solid"/>
          </a:ln>
        </p:spPr>
      </p:sp>
      <p:sp>
        <p:nvSpPr>
          <p:cNvPr id="14" name="Text 12"/>
          <p:cNvSpPr/>
          <p:nvPr/>
        </p:nvSpPr>
        <p:spPr>
          <a:xfrm>
            <a:off x="4864608" y="1773936"/>
            <a:ext cx="3931920" cy="256032"/>
          </a:xfrm>
          <a:prstGeom prst="rect">
            <a:avLst/>
          </a:prstGeom>
          <a:noFill/>
          <a:ln/>
        </p:spPr>
        <p:txBody>
          <a:bodyPr wrap="square" rtlCol="0" anchor="ctr"/>
          <a:lstStyle/>
          <a:p>
            <a:pPr marL="0" indent="0">
              <a:buNone/>
            </a:pPr>
            <a:r>
              <a:rPr lang="en-US" sz="1100" b="1" dirty="0">
                <a:solidFill>
                  <a:srgbClr val="4527A0"/>
                </a:solidFill>
                <a:latin typeface="Calibri" pitchFamily="34" charset="0"/>
                <a:ea typeface="Calibri" pitchFamily="34" charset="-122"/>
                <a:cs typeface="Calibri" pitchFamily="34" charset="-120"/>
              </a:rPr>
              <a:t>Rafales autorisees</a:t>
            </a:r>
            <a:endParaRPr lang="en-US" sz="1100" dirty="0"/>
          </a:p>
        </p:txBody>
      </p:sp>
      <p:sp>
        <p:nvSpPr>
          <p:cNvPr id="15" name="Text 13"/>
          <p:cNvSpPr/>
          <p:nvPr/>
        </p:nvSpPr>
        <p:spPr>
          <a:xfrm>
            <a:off x="4864608" y="1944893"/>
            <a:ext cx="3931920" cy="320040"/>
          </a:xfrm>
          <a:prstGeom prst="rect">
            <a:avLst/>
          </a:prstGeom>
          <a:noFill/>
          <a:ln/>
        </p:spPr>
        <p:txBody>
          <a:bodyPr wrap="square" rtlCol="0" anchor="ctr"/>
          <a:lstStyle/>
          <a:p>
            <a:pPr marL="0" indent="0" algn="ctr">
              <a:buNone/>
            </a:pPr>
            <a:r>
              <a:rPr lang="en-US" sz="1100" dirty="0">
                <a:solidFill>
                  <a:srgbClr val="212121"/>
                </a:solidFill>
                <a:latin typeface="Calibri" pitchFamily="34" charset="0"/>
                <a:ea typeface="Calibri" pitchFamily="34" charset="-122"/>
                <a:cs typeface="Calibri" pitchFamily="34" charset="-120"/>
              </a:rPr>
              <a:t>Si les jetons s accumulent (pas de trafic), une rafale jusqu a b octets est possible immediatement.</a:t>
            </a:r>
            <a:endParaRPr lang="en-US" sz="1100" dirty="0"/>
          </a:p>
        </p:txBody>
      </p:sp>
      <p:sp>
        <p:nvSpPr>
          <p:cNvPr id="16" name="Shape 14"/>
          <p:cNvSpPr/>
          <p:nvPr/>
        </p:nvSpPr>
        <p:spPr>
          <a:xfrm>
            <a:off x="4754880" y="2309860"/>
            <a:ext cx="4114800" cy="658368"/>
          </a:xfrm>
          <a:prstGeom prst="rect">
            <a:avLst/>
          </a:prstGeom>
          <a:solidFill>
            <a:srgbClr val="F5F5F5"/>
          </a:solidFill>
          <a:ln w="6350">
            <a:solidFill>
              <a:srgbClr val="4527A0"/>
            </a:solidFill>
            <a:prstDash val="solid"/>
          </a:ln>
        </p:spPr>
      </p:sp>
      <p:sp>
        <p:nvSpPr>
          <p:cNvPr id="17" name="Text 15"/>
          <p:cNvSpPr/>
          <p:nvPr/>
        </p:nvSpPr>
        <p:spPr>
          <a:xfrm>
            <a:off x="4864608" y="2487168"/>
            <a:ext cx="3931920" cy="256032"/>
          </a:xfrm>
          <a:prstGeom prst="rect">
            <a:avLst/>
          </a:prstGeom>
          <a:noFill/>
          <a:ln/>
        </p:spPr>
        <p:txBody>
          <a:bodyPr wrap="square" rtlCol="0" anchor="ctr"/>
          <a:lstStyle/>
          <a:p>
            <a:pPr marL="0" indent="0">
              <a:buNone/>
            </a:pPr>
            <a:r>
              <a:rPr lang="en-US" sz="1100" b="1" dirty="0">
                <a:solidFill>
                  <a:srgbClr val="4527A0"/>
                </a:solidFill>
                <a:latin typeface="Calibri" pitchFamily="34" charset="0"/>
                <a:ea typeface="Calibri" pitchFamily="34" charset="-122"/>
                <a:cs typeface="Calibri" pitchFamily="34" charset="-120"/>
              </a:rPr>
              <a:t>Debit moyen limite</a:t>
            </a:r>
            <a:endParaRPr lang="en-US" sz="1100" dirty="0"/>
          </a:p>
        </p:txBody>
      </p:sp>
      <p:sp>
        <p:nvSpPr>
          <p:cNvPr id="18" name="Text 16"/>
          <p:cNvSpPr/>
          <p:nvPr/>
        </p:nvSpPr>
        <p:spPr>
          <a:xfrm>
            <a:off x="4864608" y="2642223"/>
            <a:ext cx="3931920" cy="320040"/>
          </a:xfrm>
          <a:prstGeom prst="rect">
            <a:avLst/>
          </a:prstGeom>
          <a:noFill/>
          <a:ln/>
        </p:spPr>
        <p:txBody>
          <a:bodyPr wrap="square" rtlCol="0" anchor="ctr"/>
          <a:lstStyle/>
          <a:p>
            <a:pPr marL="0" indent="0" algn="ctr">
              <a:buNone/>
            </a:pPr>
            <a:r>
              <a:rPr lang="en-US" sz="1100" dirty="0">
                <a:solidFill>
                  <a:srgbClr val="212121"/>
                </a:solidFill>
                <a:latin typeface="Calibri" pitchFamily="34" charset="0"/>
                <a:ea typeface="Calibri" pitchFamily="34" charset="-122"/>
                <a:cs typeface="Calibri" pitchFamily="34" charset="-120"/>
              </a:rPr>
              <a:t>Sur le long terme, le debit moyen ne peut pas depasser r (taux de generation des jetons).</a:t>
            </a:r>
            <a:endParaRPr lang="en-US" sz="1100" dirty="0"/>
          </a:p>
        </p:txBody>
      </p:sp>
      <p:sp>
        <p:nvSpPr>
          <p:cNvPr id="19" name="Shape 17"/>
          <p:cNvSpPr/>
          <p:nvPr/>
        </p:nvSpPr>
        <p:spPr>
          <a:xfrm>
            <a:off x="4754880" y="3015141"/>
            <a:ext cx="4114800" cy="658368"/>
          </a:xfrm>
          <a:prstGeom prst="rect">
            <a:avLst/>
          </a:prstGeom>
          <a:solidFill>
            <a:srgbClr val="F5F5F5"/>
          </a:solidFill>
          <a:ln w="6350">
            <a:solidFill>
              <a:srgbClr val="4527A0"/>
            </a:solidFill>
            <a:prstDash val="solid"/>
          </a:ln>
        </p:spPr>
      </p:sp>
      <p:sp>
        <p:nvSpPr>
          <p:cNvPr id="20" name="Text 18"/>
          <p:cNvSpPr/>
          <p:nvPr/>
        </p:nvSpPr>
        <p:spPr>
          <a:xfrm>
            <a:off x="4864608" y="3200400"/>
            <a:ext cx="3931920" cy="256032"/>
          </a:xfrm>
          <a:prstGeom prst="rect">
            <a:avLst/>
          </a:prstGeom>
          <a:noFill/>
          <a:ln/>
        </p:spPr>
        <p:txBody>
          <a:bodyPr wrap="square" rtlCol="0" anchor="ctr"/>
          <a:lstStyle/>
          <a:p>
            <a:pPr marL="0" indent="0">
              <a:buNone/>
            </a:pPr>
            <a:r>
              <a:rPr lang="en-US" sz="1100" b="1" dirty="0">
                <a:solidFill>
                  <a:srgbClr val="4527A0"/>
                </a:solidFill>
                <a:latin typeface="Calibri" pitchFamily="34" charset="0"/>
                <a:ea typeface="Calibri" pitchFamily="34" charset="-122"/>
                <a:cs typeface="Calibri" pitchFamily="34" charset="-120"/>
              </a:rPr>
              <a:t>Flexible et realiste</a:t>
            </a:r>
            <a:endParaRPr lang="en-US" sz="1100" dirty="0"/>
          </a:p>
        </p:txBody>
      </p:sp>
      <p:sp>
        <p:nvSpPr>
          <p:cNvPr id="21" name="Text 19"/>
          <p:cNvSpPr/>
          <p:nvPr/>
        </p:nvSpPr>
        <p:spPr>
          <a:xfrm>
            <a:off x="4864608" y="3355455"/>
            <a:ext cx="3931920" cy="320040"/>
          </a:xfrm>
          <a:prstGeom prst="rect">
            <a:avLst/>
          </a:prstGeom>
          <a:noFill/>
          <a:ln/>
        </p:spPr>
        <p:txBody>
          <a:bodyPr wrap="square" rtlCol="0" anchor="ctr"/>
          <a:lstStyle/>
          <a:p>
            <a:pPr marL="0" indent="0" algn="ctr">
              <a:buNone/>
            </a:pPr>
            <a:r>
              <a:rPr lang="en-US" sz="1100" dirty="0">
                <a:solidFill>
                  <a:srgbClr val="212121"/>
                </a:solidFill>
                <a:latin typeface="Calibri" pitchFamily="34" charset="0"/>
                <a:ea typeface="Calibri" pitchFamily="34" charset="-122"/>
                <a:cs typeface="Calibri" pitchFamily="34" charset="-120"/>
              </a:rPr>
              <a:t>Correspond aux applications reelles qui alternent silence et bursts.</a:t>
            </a:r>
            <a:endParaRPr lang="en-US" sz="1100" dirty="0"/>
          </a:p>
        </p:txBody>
      </p:sp>
      <p:sp>
        <p:nvSpPr>
          <p:cNvPr id="22" name="Shape 20"/>
          <p:cNvSpPr/>
          <p:nvPr/>
        </p:nvSpPr>
        <p:spPr>
          <a:xfrm>
            <a:off x="4754880" y="3728373"/>
            <a:ext cx="4114800" cy="658368"/>
          </a:xfrm>
          <a:prstGeom prst="rect">
            <a:avLst/>
          </a:prstGeom>
          <a:solidFill>
            <a:srgbClr val="F5F5F5"/>
          </a:solidFill>
          <a:ln w="6350">
            <a:solidFill>
              <a:srgbClr val="4527A0"/>
            </a:solidFill>
            <a:prstDash val="solid"/>
          </a:ln>
        </p:spPr>
      </p:sp>
      <p:sp>
        <p:nvSpPr>
          <p:cNvPr id="23" name="Text 21"/>
          <p:cNvSpPr/>
          <p:nvPr/>
        </p:nvSpPr>
        <p:spPr>
          <a:xfrm>
            <a:off x="4864608" y="3754612"/>
            <a:ext cx="3931920" cy="256032"/>
          </a:xfrm>
          <a:prstGeom prst="rect">
            <a:avLst/>
          </a:prstGeom>
          <a:noFill/>
          <a:ln/>
        </p:spPr>
        <p:txBody>
          <a:bodyPr wrap="square" rtlCol="0" anchor="ctr"/>
          <a:lstStyle/>
          <a:p>
            <a:pPr marL="0" indent="0">
              <a:buNone/>
            </a:pPr>
            <a:r>
              <a:rPr lang="en-US" sz="1100" b="1" dirty="0">
                <a:solidFill>
                  <a:srgbClr val="4527A0"/>
                </a:solidFill>
                <a:latin typeface="Calibri" pitchFamily="34" charset="0"/>
                <a:ea typeface="Calibri" pitchFamily="34" charset="-122"/>
                <a:cs typeface="Calibri" pitchFamily="34" charset="-120"/>
              </a:rPr>
              <a:t>Tres utilise</a:t>
            </a:r>
            <a:endParaRPr lang="en-US" sz="1100" dirty="0"/>
          </a:p>
        </p:txBody>
      </p:sp>
      <p:sp>
        <p:nvSpPr>
          <p:cNvPr id="24" name="Text 22"/>
          <p:cNvSpPr/>
          <p:nvPr/>
        </p:nvSpPr>
        <p:spPr>
          <a:xfrm>
            <a:off x="4864608" y="3941471"/>
            <a:ext cx="3931920" cy="34905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Cisco CAR (Committed Access Rate), politiques DiffServ, limitation FAI.</a:t>
            </a:r>
            <a:endParaRPr lang="en-US" sz="1000" dirty="0"/>
          </a:p>
        </p:txBody>
      </p:sp>
      <p:sp>
        <p:nvSpPr>
          <p:cNvPr id="25" name="Shape 23"/>
          <p:cNvSpPr/>
          <p:nvPr/>
        </p:nvSpPr>
        <p:spPr>
          <a:xfrm>
            <a:off x="256032" y="4195910"/>
            <a:ext cx="8631936" cy="530352"/>
          </a:xfrm>
          <a:prstGeom prst="rect">
            <a:avLst/>
          </a:prstGeom>
          <a:solidFill>
            <a:srgbClr val="FFFDE7"/>
          </a:solidFill>
          <a:ln w="19050">
            <a:solidFill>
              <a:srgbClr val="F57F17"/>
            </a:solidFill>
            <a:prstDash val="solid"/>
          </a:ln>
        </p:spPr>
      </p:sp>
      <p:sp>
        <p:nvSpPr>
          <p:cNvPr id="26" name="Text 24"/>
          <p:cNvSpPr/>
          <p:nvPr/>
        </p:nvSpPr>
        <p:spPr>
          <a:xfrm>
            <a:off x="411480" y="4208633"/>
            <a:ext cx="3474720" cy="256032"/>
          </a:xfrm>
          <a:prstGeom prst="rect">
            <a:avLst/>
          </a:prstGeom>
          <a:noFill/>
          <a:ln/>
        </p:spPr>
        <p:txBody>
          <a:bodyPr wrap="square" rtlCol="0" anchor="ctr"/>
          <a:lstStyle/>
          <a:p>
            <a:pPr marL="0" indent="0">
              <a:buNone/>
            </a:pPr>
            <a:r>
              <a:rPr lang="en-US" sz="1200" b="1" dirty="0">
                <a:solidFill>
                  <a:srgbClr val="E65100"/>
                </a:solidFill>
                <a:latin typeface="Calibri" pitchFamily="34" charset="0"/>
                <a:ea typeface="Calibri" pitchFamily="34" charset="-122"/>
                <a:cs typeface="Calibri" pitchFamily="34" charset="-120"/>
              </a:rPr>
              <a:t>Formule : Taille_rafale_max = b + r x t</a:t>
            </a:r>
            <a:endParaRPr lang="en-US" sz="1200" dirty="0"/>
          </a:p>
        </p:txBody>
      </p:sp>
      <p:sp>
        <p:nvSpPr>
          <p:cNvPr id="27" name="Text 25"/>
          <p:cNvSpPr/>
          <p:nvPr/>
        </p:nvSpPr>
        <p:spPr>
          <a:xfrm>
            <a:off x="411480" y="4399856"/>
            <a:ext cx="8412480" cy="319247"/>
          </a:xfrm>
          <a:prstGeom prst="rect">
            <a:avLst/>
          </a:prstGeom>
          <a:noFill/>
          <a:ln/>
        </p:spPr>
        <p:txBody>
          <a:bodyPr wrap="square" rtlCol="0" anchor="ctr"/>
          <a:lstStyle/>
          <a:p>
            <a:pPr marL="0" indent="0">
              <a:buNone/>
            </a:pPr>
            <a:r>
              <a:rPr lang="en-US" sz="1050" dirty="0">
                <a:solidFill>
                  <a:srgbClr val="212121"/>
                </a:solidFill>
                <a:latin typeface="Calibri" pitchFamily="34" charset="0"/>
                <a:ea typeface="Calibri" pitchFamily="34" charset="-122"/>
                <a:cs typeface="Calibri" pitchFamily="34" charset="-120"/>
              </a:rPr>
              <a:t>b = capacite seau (jetons max), r = taux generation (jetons/s), t = duree (s)</a:t>
            </a:r>
            <a:endParaRPr lang="en-US" sz="1050" dirty="0"/>
          </a:p>
          <a:p>
            <a:pPr marL="0" indent="0">
              <a:buNone/>
            </a:pPr>
            <a:r>
              <a:rPr lang="en-US" sz="1050" dirty="0">
                <a:solidFill>
                  <a:srgbClr val="212121"/>
                </a:solidFill>
                <a:latin typeface="Calibri" pitchFamily="34" charset="0"/>
                <a:ea typeface="Calibri" pitchFamily="34" charset="-122"/>
                <a:cs typeface="Calibri" pitchFamily="34" charset="-120"/>
              </a:rPr>
              <a:t>Ex : b=1000 octets, r=500 octets/s, apres 5s sans trafic : rafale max = 1000 + 500x5 = 3500 octets</a:t>
            </a:r>
            <a:endParaRPr lang="en-US" sz="1050" dirty="0"/>
          </a:p>
        </p:txBody>
      </p:sp>
    </p:spTree>
    <p:extLst>
      <p:ext uri="{BB962C8B-B14F-4D97-AF65-F5344CB8AC3E}">
        <p14:creationId xmlns:p14="http://schemas.microsoft.com/office/powerpoint/2010/main" val="16426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7F17"/>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Theorie des files d attente — Modele M/M/1 et Loi de Little</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200" i="1" dirty="0">
                <a:solidFill>
                  <a:srgbClr val="757575"/>
                </a:solidFill>
                <a:latin typeface="Calibri" pitchFamily="34" charset="0"/>
                <a:ea typeface="Calibri" pitchFamily="34" charset="-122"/>
                <a:cs typeface="Calibri" pitchFamily="34" charset="-120"/>
              </a:rPr>
              <a:t>Comment calculer le delai et le nombre de paquets en attente ? La theorie des files d attente repond.</a:t>
            </a:r>
            <a:endParaRPr lang="en-US" sz="1200" dirty="0"/>
          </a:p>
        </p:txBody>
      </p:sp>
      <p:sp>
        <p:nvSpPr>
          <p:cNvPr id="6" name="Shape 4"/>
          <p:cNvSpPr/>
          <p:nvPr/>
        </p:nvSpPr>
        <p:spPr>
          <a:xfrm>
            <a:off x="457200" y="1207008"/>
            <a:ext cx="822960" cy="777240"/>
          </a:xfrm>
          <a:prstGeom prst="rect">
            <a:avLst/>
          </a:prstGeom>
          <a:solidFill>
            <a:srgbClr val="1565C0"/>
          </a:solidFill>
          <a:ln/>
        </p:spPr>
      </p:sp>
      <p:sp>
        <p:nvSpPr>
          <p:cNvPr id="7" name="Text 5"/>
          <p:cNvSpPr/>
          <p:nvPr/>
        </p:nvSpPr>
        <p:spPr>
          <a:xfrm>
            <a:off x="457200" y="1207008"/>
            <a:ext cx="822960"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(arrivees 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taux λ)</a:t>
            </a:r>
            <a:endParaRPr lang="en-US" sz="1100" dirty="0"/>
          </a:p>
        </p:txBody>
      </p:sp>
      <p:sp>
        <p:nvSpPr>
          <p:cNvPr id="8" name="Shape 6"/>
          <p:cNvSpPr/>
          <p:nvPr/>
        </p:nvSpPr>
        <p:spPr>
          <a:xfrm>
            <a:off x="1325880" y="1554480"/>
            <a:ext cx="777240" cy="91440"/>
          </a:xfrm>
          <a:prstGeom prst="rect">
            <a:avLst/>
          </a:prstGeom>
          <a:solidFill>
            <a:srgbClr val="757575"/>
          </a:solidFill>
          <a:ln/>
        </p:spPr>
      </p:sp>
      <p:sp>
        <p:nvSpPr>
          <p:cNvPr id="9" name="Shape 7"/>
          <p:cNvSpPr/>
          <p:nvPr/>
        </p:nvSpPr>
        <p:spPr>
          <a:xfrm>
            <a:off x="2148840" y="1207008"/>
            <a:ext cx="274320" cy="777240"/>
          </a:xfrm>
          <a:prstGeom prst="rect">
            <a:avLst/>
          </a:prstGeom>
          <a:solidFill>
            <a:srgbClr val="BBDEFB"/>
          </a:solidFill>
          <a:ln w="6350">
            <a:solidFill>
              <a:srgbClr val="1565C0"/>
            </a:solidFill>
            <a:prstDash val="solid"/>
          </a:ln>
        </p:spPr>
      </p:sp>
      <p:sp>
        <p:nvSpPr>
          <p:cNvPr id="10" name="Text 8"/>
          <p:cNvSpPr/>
          <p:nvPr/>
        </p:nvSpPr>
        <p:spPr>
          <a:xfrm>
            <a:off x="2167128" y="1298448"/>
            <a:ext cx="274320" cy="548640"/>
          </a:xfrm>
          <a:prstGeom prst="rect">
            <a:avLst/>
          </a:prstGeom>
          <a:noFill/>
          <a:ln/>
        </p:spPr>
        <p:txBody>
          <a:bodyPr wrap="square" rtlCol="0" anchor="ctr"/>
          <a:lstStyle/>
          <a:p>
            <a:pPr marL="0" indent="0" algn="ctr">
              <a:buNone/>
            </a:pPr>
            <a:r>
              <a:rPr lang="en-US" sz="1100" dirty="0">
                <a:solidFill>
                  <a:srgbClr val="1565C0"/>
                </a:solidFill>
                <a:latin typeface="Calibri" pitchFamily="34" charset="0"/>
                <a:ea typeface="Calibri" pitchFamily="34" charset="-122"/>
                <a:cs typeface="Calibri" pitchFamily="34" charset="-120"/>
              </a:rPr>
              <a:t>P</a:t>
            </a:r>
            <a:endParaRPr lang="en-US" sz="1100" dirty="0"/>
          </a:p>
        </p:txBody>
      </p:sp>
      <p:sp>
        <p:nvSpPr>
          <p:cNvPr id="11" name="Shape 9"/>
          <p:cNvSpPr/>
          <p:nvPr/>
        </p:nvSpPr>
        <p:spPr>
          <a:xfrm>
            <a:off x="2468880" y="1207008"/>
            <a:ext cx="274320" cy="777240"/>
          </a:xfrm>
          <a:prstGeom prst="rect">
            <a:avLst/>
          </a:prstGeom>
          <a:solidFill>
            <a:srgbClr val="BBDEFB"/>
          </a:solidFill>
          <a:ln w="6350">
            <a:solidFill>
              <a:srgbClr val="1565C0"/>
            </a:solidFill>
            <a:prstDash val="solid"/>
          </a:ln>
        </p:spPr>
      </p:sp>
      <p:sp>
        <p:nvSpPr>
          <p:cNvPr id="12" name="Text 10"/>
          <p:cNvSpPr/>
          <p:nvPr/>
        </p:nvSpPr>
        <p:spPr>
          <a:xfrm>
            <a:off x="2487168" y="1298448"/>
            <a:ext cx="274320" cy="548640"/>
          </a:xfrm>
          <a:prstGeom prst="rect">
            <a:avLst/>
          </a:prstGeom>
          <a:noFill/>
          <a:ln/>
        </p:spPr>
        <p:txBody>
          <a:bodyPr wrap="square" rtlCol="0" anchor="ctr"/>
          <a:lstStyle/>
          <a:p>
            <a:pPr marL="0" indent="0" algn="ctr">
              <a:buNone/>
            </a:pPr>
            <a:r>
              <a:rPr lang="en-US" sz="1100" dirty="0">
                <a:solidFill>
                  <a:srgbClr val="1565C0"/>
                </a:solidFill>
                <a:latin typeface="Calibri" pitchFamily="34" charset="0"/>
                <a:ea typeface="Calibri" pitchFamily="34" charset="-122"/>
                <a:cs typeface="Calibri" pitchFamily="34" charset="-120"/>
              </a:rPr>
              <a:t>P</a:t>
            </a:r>
            <a:endParaRPr lang="en-US" sz="1100" dirty="0"/>
          </a:p>
        </p:txBody>
      </p:sp>
      <p:sp>
        <p:nvSpPr>
          <p:cNvPr id="13" name="Shape 11"/>
          <p:cNvSpPr/>
          <p:nvPr/>
        </p:nvSpPr>
        <p:spPr>
          <a:xfrm>
            <a:off x="2788920" y="1207008"/>
            <a:ext cx="274320" cy="777240"/>
          </a:xfrm>
          <a:prstGeom prst="rect">
            <a:avLst/>
          </a:prstGeom>
          <a:solidFill>
            <a:srgbClr val="BBDEFB"/>
          </a:solidFill>
          <a:ln w="6350">
            <a:solidFill>
              <a:srgbClr val="1565C0"/>
            </a:solidFill>
            <a:prstDash val="solid"/>
          </a:ln>
        </p:spPr>
      </p:sp>
      <p:sp>
        <p:nvSpPr>
          <p:cNvPr id="14" name="Text 12"/>
          <p:cNvSpPr/>
          <p:nvPr/>
        </p:nvSpPr>
        <p:spPr>
          <a:xfrm>
            <a:off x="2807208" y="1298448"/>
            <a:ext cx="274320" cy="548640"/>
          </a:xfrm>
          <a:prstGeom prst="rect">
            <a:avLst/>
          </a:prstGeom>
          <a:noFill/>
          <a:ln/>
        </p:spPr>
        <p:txBody>
          <a:bodyPr wrap="square" rtlCol="0" anchor="ctr"/>
          <a:lstStyle/>
          <a:p>
            <a:pPr marL="0" indent="0" algn="ctr">
              <a:buNone/>
            </a:pPr>
            <a:r>
              <a:rPr lang="en-US" sz="1100" dirty="0">
                <a:solidFill>
                  <a:srgbClr val="1565C0"/>
                </a:solidFill>
                <a:latin typeface="Calibri" pitchFamily="34" charset="0"/>
                <a:ea typeface="Calibri" pitchFamily="34" charset="-122"/>
                <a:cs typeface="Calibri" pitchFamily="34" charset="-120"/>
              </a:rPr>
              <a:t>P</a:t>
            </a:r>
            <a:endParaRPr lang="en-US" sz="1100" dirty="0"/>
          </a:p>
        </p:txBody>
      </p:sp>
      <p:sp>
        <p:nvSpPr>
          <p:cNvPr id="15" name="Shape 13"/>
          <p:cNvSpPr/>
          <p:nvPr/>
        </p:nvSpPr>
        <p:spPr>
          <a:xfrm>
            <a:off x="3108960" y="1207008"/>
            <a:ext cx="274320" cy="777240"/>
          </a:xfrm>
          <a:prstGeom prst="rect">
            <a:avLst/>
          </a:prstGeom>
          <a:solidFill>
            <a:srgbClr val="BBDEFB"/>
          </a:solidFill>
          <a:ln w="6350">
            <a:solidFill>
              <a:srgbClr val="1565C0"/>
            </a:solidFill>
            <a:prstDash val="solid"/>
          </a:ln>
        </p:spPr>
      </p:sp>
      <p:sp>
        <p:nvSpPr>
          <p:cNvPr id="16" name="Shape 14"/>
          <p:cNvSpPr/>
          <p:nvPr/>
        </p:nvSpPr>
        <p:spPr>
          <a:xfrm>
            <a:off x="3429000" y="1554480"/>
            <a:ext cx="457200" cy="91440"/>
          </a:xfrm>
          <a:prstGeom prst="rect">
            <a:avLst/>
          </a:prstGeom>
          <a:solidFill>
            <a:srgbClr val="757575"/>
          </a:solidFill>
          <a:ln/>
        </p:spPr>
      </p:sp>
      <p:sp>
        <p:nvSpPr>
          <p:cNvPr id="17" name="Shape 15"/>
          <p:cNvSpPr/>
          <p:nvPr/>
        </p:nvSpPr>
        <p:spPr>
          <a:xfrm>
            <a:off x="3931920" y="1234440"/>
            <a:ext cx="731520" cy="731520"/>
          </a:xfrm>
          <a:prstGeom prst="ellipse">
            <a:avLst/>
          </a:prstGeom>
          <a:solidFill>
            <a:srgbClr val="00796B"/>
          </a:solidFill>
          <a:ln/>
        </p:spPr>
      </p:sp>
      <p:sp>
        <p:nvSpPr>
          <p:cNvPr id="18" name="Text 16"/>
          <p:cNvSpPr/>
          <p:nvPr/>
        </p:nvSpPr>
        <p:spPr>
          <a:xfrm>
            <a:off x="3913632" y="1261872"/>
            <a:ext cx="777240" cy="65836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Serveur</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(taux µ)</a:t>
            </a:r>
            <a:endParaRPr lang="en-US" sz="1100" dirty="0"/>
          </a:p>
        </p:txBody>
      </p:sp>
      <p:sp>
        <p:nvSpPr>
          <p:cNvPr id="19" name="Shape 17"/>
          <p:cNvSpPr/>
          <p:nvPr/>
        </p:nvSpPr>
        <p:spPr>
          <a:xfrm>
            <a:off x="4709160" y="1554480"/>
            <a:ext cx="411480" cy="91440"/>
          </a:xfrm>
          <a:prstGeom prst="rect">
            <a:avLst/>
          </a:prstGeom>
          <a:solidFill>
            <a:srgbClr val="757575"/>
          </a:solidFill>
          <a:ln/>
        </p:spPr>
      </p:sp>
      <p:sp>
        <p:nvSpPr>
          <p:cNvPr id="20" name="Shape 18"/>
          <p:cNvSpPr/>
          <p:nvPr/>
        </p:nvSpPr>
        <p:spPr>
          <a:xfrm>
            <a:off x="5166360" y="1207008"/>
            <a:ext cx="777240" cy="777240"/>
          </a:xfrm>
          <a:prstGeom prst="rect">
            <a:avLst/>
          </a:prstGeom>
          <a:solidFill>
            <a:srgbClr val="2E7D32"/>
          </a:solidFill>
          <a:ln/>
        </p:spPr>
      </p:sp>
      <p:sp>
        <p:nvSpPr>
          <p:cNvPr id="21" name="Text 19"/>
          <p:cNvSpPr/>
          <p:nvPr/>
        </p:nvSpPr>
        <p:spPr>
          <a:xfrm>
            <a:off x="5166360" y="1207008"/>
            <a:ext cx="777240"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Sortie</a:t>
            </a:r>
            <a:endParaRPr lang="en-US" sz="1100" dirty="0"/>
          </a:p>
        </p:txBody>
      </p:sp>
      <p:sp>
        <p:nvSpPr>
          <p:cNvPr id="22" name="Text 20"/>
          <p:cNvSpPr/>
          <p:nvPr/>
        </p:nvSpPr>
        <p:spPr>
          <a:xfrm>
            <a:off x="365760" y="2084832"/>
            <a:ext cx="6400800" cy="292608"/>
          </a:xfrm>
          <a:prstGeom prst="rect">
            <a:avLst/>
          </a:prstGeom>
          <a:noFill/>
          <a:ln/>
        </p:spPr>
        <p:txBody>
          <a:bodyPr wrap="square" rtlCol="0" anchor="ctr"/>
          <a:lstStyle/>
          <a:p>
            <a:pPr marL="0" indent="0">
              <a:buNone/>
            </a:pPr>
            <a:r>
              <a:rPr lang="en-US" sz="1400" i="1" dirty="0">
                <a:latin typeface="Calibri" pitchFamily="34" charset="0"/>
                <a:ea typeface="Calibri" pitchFamily="34" charset="-122"/>
                <a:cs typeface="Calibri" pitchFamily="34" charset="-120"/>
              </a:rPr>
              <a:t>M/M/1 : arrivees de Poisson (taux λ), service exponentiel (taux µ), un seul serveur</a:t>
            </a:r>
            <a:endParaRPr lang="en-US" sz="1400" dirty="0"/>
          </a:p>
        </p:txBody>
      </p:sp>
      <p:sp>
        <p:nvSpPr>
          <p:cNvPr id="23" name="Shape 21"/>
          <p:cNvSpPr/>
          <p:nvPr/>
        </p:nvSpPr>
        <p:spPr>
          <a:xfrm>
            <a:off x="256032" y="2487168"/>
            <a:ext cx="8631936" cy="749808"/>
          </a:xfrm>
          <a:prstGeom prst="rect">
            <a:avLst/>
          </a:prstGeom>
          <a:solidFill>
            <a:srgbClr val="FFFFFF"/>
          </a:solidFill>
          <a:ln w="12700">
            <a:solidFill>
              <a:srgbClr val="C62828"/>
            </a:solidFill>
            <a:prstDash val="solid"/>
          </a:ln>
          <a:effectLst>
            <a:outerShdw blurRad="63500" dist="25400" dir="8100000" algn="bl" rotWithShape="0">
              <a:srgbClr val="000000">
                <a:alpha val="10000"/>
              </a:srgbClr>
            </a:outerShdw>
          </a:effectLst>
        </p:spPr>
      </p:sp>
      <p:sp>
        <p:nvSpPr>
          <p:cNvPr id="24" name="Text 22"/>
          <p:cNvSpPr/>
          <p:nvPr/>
        </p:nvSpPr>
        <p:spPr>
          <a:xfrm>
            <a:off x="365760" y="2542032"/>
            <a:ext cx="2286000" cy="274320"/>
          </a:xfrm>
          <a:prstGeom prst="rect">
            <a:avLst/>
          </a:prstGeom>
          <a:noFill/>
          <a:ln/>
        </p:spPr>
        <p:txBody>
          <a:bodyPr wrap="square" rtlCol="0" anchor="ctr"/>
          <a:lstStyle/>
          <a:p>
            <a:pPr marL="0" indent="0">
              <a:buNone/>
            </a:pPr>
            <a:r>
              <a:rPr lang="en-US" sz="1200" b="1" dirty="0">
                <a:solidFill>
                  <a:srgbClr val="C62828"/>
                </a:solidFill>
                <a:latin typeface="Calibri" pitchFamily="34" charset="0"/>
                <a:ea typeface="Calibri" pitchFamily="34" charset="-122"/>
                <a:cs typeface="Calibri" pitchFamily="34" charset="-120"/>
              </a:rPr>
              <a:t>Charge (ρ)</a:t>
            </a:r>
            <a:endParaRPr lang="en-US" sz="1200" dirty="0"/>
          </a:p>
        </p:txBody>
      </p:sp>
      <p:sp>
        <p:nvSpPr>
          <p:cNvPr id="25" name="Shape 23"/>
          <p:cNvSpPr/>
          <p:nvPr/>
        </p:nvSpPr>
        <p:spPr>
          <a:xfrm>
            <a:off x="2743200" y="2560320"/>
            <a:ext cx="2286000" cy="384048"/>
          </a:xfrm>
          <a:prstGeom prst="rect">
            <a:avLst/>
          </a:prstGeom>
          <a:solidFill>
            <a:srgbClr val="C62828">
              <a:alpha val="18000"/>
            </a:srgbClr>
          </a:solidFill>
          <a:ln w="6350">
            <a:solidFill>
              <a:srgbClr val="C62828"/>
            </a:solidFill>
            <a:prstDash val="solid"/>
          </a:ln>
        </p:spPr>
      </p:sp>
      <p:sp>
        <p:nvSpPr>
          <p:cNvPr id="26" name="Text 24"/>
          <p:cNvSpPr/>
          <p:nvPr/>
        </p:nvSpPr>
        <p:spPr>
          <a:xfrm>
            <a:off x="2743200" y="2560320"/>
            <a:ext cx="2286000" cy="384048"/>
          </a:xfrm>
          <a:prstGeom prst="rect">
            <a:avLst/>
          </a:prstGeom>
          <a:noFill/>
          <a:ln/>
        </p:spPr>
        <p:txBody>
          <a:bodyPr wrap="square" rtlCol="0" anchor="ctr"/>
          <a:lstStyle/>
          <a:p>
            <a:pPr marL="0" indent="0" algn="ctr">
              <a:buNone/>
            </a:pPr>
            <a:r>
              <a:rPr lang="en-US" sz="1600" b="1" dirty="0">
                <a:solidFill>
                  <a:srgbClr val="C62828"/>
                </a:solidFill>
                <a:latin typeface="Calibri" pitchFamily="34" charset="0"/>
                <a:ea typeface="Calibri" pitchFamily="34" charset="-122"/>
                <a:cs typeface="Calibri" pitchFamily="34" charset="-120"/>
              </a:rPr>
              <a:t>ρ = λ / µ</a:t>
            </a:r>
            <a:endParaRPr lang="en-US" sz="1600" dirty="0"/>
          </a:p>
        </p:txBody>
      </p:sp>
      <p:sp>
        <p:nvSpPr>
          <p:cNvPr id="27" name="Text 25"/>
          <p:cNvSpPr/>
          <p:nvPr/>
        </p:nvSpPr>
        <p:spPr>
          <a:xfrm>
            <a:off x="5166360" y="2578608"/>
            <a:ext cx="1645920" cy="347472"/>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 Doit etre &lt; 1 !</a:t>
            </a:r>
            <a:endParaRPr lang="en-US" sz="1100" dirty="0"/>
          </a:p>
        </p:txBody>
      </p:sp>
      <p:sp>
        <p:nvSpPr>
          <p:cNvPr id="28" name="Text 26"/>
          <p:cNvSpPr/>
          <p:nvPr/>
        </p:nvSpPr>
        <p:spPr>
          <a:xfrm>
            <a:off x="365760" y="2907792"/>
            <a:ext cx="8229600" cy="274320"/>
          </a:xfrm>
          <a:prstGeom prst="rect">
            <a:avLst/>
          </a:prstGeom>
          <a:noFill/>
          <a:ln/>
        </p:spPr>
        <p:txBody>
          <a:bodyPr wrap="square" rtlCol="0" anchor="ctr"/>
          <a:lstStyle/>
          <a:p>
            <a:pPr marL="0" indent="0">
              <a:buNone/>
            </a:pPr>
            <a:r>
              <a:rPr lang="en-US" sz="1400" i="1" dirty="0">
                <a:latin typeface="Calibri" pitchFamily="34" charset="0"/>
                <a:ea typeface="Calibri" pitchFamily="34" charset="-122"/>
                <a:cs typeface="Calibri" pitchFamily="34" charset="-120"/>
              </a:rPr>
              <a:t>Si λ ≥ µ : la file croit indefiniment → reseau sature. A 0.8 = 80% de charge.</a:t>
            </a:r>
            <a:endParaRPr lang="en-US" sz="1400" dirty="0"/>
          </a:p>
        </p:txBody>
      </p:sp>
      <p:sp>
        <p:nvSpPr>
          <p:cNvPr id="29" name="Shape 27"/>
          <p:cNvSpPr/>
          <p:nvPr/>
        </p:nvSpPr>
        <p:spPr>
          <a:xfrm>
            <a:off x="256032" y="3310128"/>
            <a:ext cx="8631936" cy="749808"/>
          </a:xfrm>
          <a:prstGeom prst="rect">
            <a:avLst/>
          </a:prstGeom>
          <a:solidFill>
            <a:srgbClr val="FFFFFF"/>
          </a:solidFill>
          <a:ln w="12700">
            <a:solidFill>
              <a:srgbClr val="1565C0"/>
            </a:solidFill>
            <a:prstDash val="solid"/>
          </a:ln>
          <a:effectLst>
            <a:outerShdw blurRad="63500" dist="25400" dir="8100000" algn="bl" rotWithShape="0">
              <a:srgbClr val="000000">
                <a:alpha val="10000"/>
              </a:srgbClr>
            </a:outerShdw>
          </a:effectLst>
        </p:spPr>
      </p:sp>
      <p:sp>
        <p:nvSpPr>
          <p:cNvPr id="30" name="Text 28"/>
          <p:cNvSpPr/>
          <p:nvPr/>
        </p:nvSpPr>
        <p:spPr>
          <a:xfrm>
            <a:off x="365760" y="3364992"/>
            <a:ext cx="2286000" cy="274320"/>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Nb moyen paquets</a:t>
            </a:r>
            <a:endParaRPr lang="en-US" sz="1100" dirty="0"/>
          </a:p>
        </p:txBody>
      </p:sp>
      <p:sp>
        <p:nvSpPr>
          <p:cNvPr id="31" name="Shape 29"/>
          <p:cNvSpPr/>
          <p:nvPr/>
        </p:nvSpPr>
        <p:spPr>
          <a:xfrm>
            <a:off x="2743200" y="3383280"/>
            <a:ext cx="2286000" cy="384048"/>
          </a:xfrm>
          <a:prstGeom prst="rect">
            <a:avLst/>
          </a:prstGeom>
          <a:solidFill>
            <a:srgbClr val="1565C0">
              <a:alpha val="18000"/>
            </a:srgbClr>
          </a:solidFill>
          <a:ln w="6350">
            <a:solidFill>
              <a:srgbClr val="1565C0"/>
            </a:solidFill>
            <a:prstDash val="solid"/>
          </a:ln>
        </p:spPr>
      </p:sp>
      <p:sp>
        <p:nvSpPr>
          <p:cNvPr id="32" name="Text 30"/>
          <p:cNvSpPr/>
          <p:nvPr/>
        </p:nvSpPr>
        <p:spPr>
          <a:xfrm>
            <a:off x="2743200" y="3383280"/>
            <a:ext cx="2286000" cy="384048"/>
          </a:xfrm>
          <a:prstGeom prst="rect">
            <a:avLst/>
          </a:prstGeom>
          <a:noFill/>
          <a:ln/>
        </p:spPr>
        <p:txBody>
          <a:bodyPr wrap="square" rtlCol="0" anchor="ctr"/>
          <a:lstStyle/>
          <a:p>
            <a:pPr marL="0" indent="0" algn="ctr">
              <a:buNone/>
            </a:pPr>
            <a:r>
              <a:rPr lang="en-US" sz="1600" b="1" dirty="0">
                <a:solidFill>
                  <a:srgbClr val="1565C0"/>
                </a:solidFill>
                <a:latin typeface="Calibri" pitchFamily="34" charset="0"/>
                <a:ea typeface="Calibri" pitchFamily="34" charset="-122"/>
                <a:cs typeface="Calibri" pitchFamily="34" charset="-120"/>
              </a:rPr>
              <a:t>N = ρ / (1 - ρ)</a:t>
            </a:r>
            <a:endParaRPr lang="en-US" sz="1600" dirty="0"/>
          </a:p>
        </p:txBody>
      </p:sp>
      <p:sp>
        <p:nvSpPr>
          <p:cNvPr id="33" name="Text 31"/>
          <p:cNvSpPr/>
          <p:nvPr/>
        </p:nvSpPr>
        <p:spPr>
          <a:xfrm>
            <a:off x="365760" y="3730752"/>
            <a:ext cx="8229600" cy="274320"/>
          </a:xfrm>
          <a:prstGeom prst="rect">
            <a:avLst/>
          </a:prstGeom>
          <a:noFill/>
          <a:ln/>
        </p:spPr>
        <p:txBody>
          <a:bodyPr wrap="square" rtlCol="0" anchor="ctr"/>
          <a:lstStyle/>
          <a:p>
            <a:pPr marL="0" indent="0">
              <a:buNone/>
            </a:pPr>
            <a:r>
              <a:rPr lang="en-US" sz="1200" i="1" dirty="0">
                <a:latin typeface="Calibri" pitchFamily="34" charset="0"/>
                <a:ea typeface="Calibri" pitchFamily="34" charset="-122"/>
                <a:cs typeface="Calibri" pitchFamily="34" charset="-120"/>
              </a:rPr>
              <a:t>Ex : ρ = 0.8 → N = 4 paquets. ρ = 0.9 → N = 9 paquets. La charge tue la QoS !</a:t>
            </a:r>
            <a:endParaRPr lang="en-US" sz="1200" dirty="0"/>
          </a:p>
        </p:txBody>
      </p:sp>
      <p:sp>
        <p:nvSpPr>
          <p:cNvPr id="34" name="Shape 32"/>
          <p:cNvSpPr/>
          <p:nvPr/>
        </p:nvSpPr>
        <p:spPr>
          <a:xfrm>
            <a:off x="263983" y="4133088"/>
            <a:ext cx="8631936" cy="749808"/>
          </a:xfrm>
          <a:prstGeom prst="rect">
            <a:avLst/>
          </a:prstGeom>
          <a:solidFill>
            <a:srgbClr val="FFFFFF"/>
          </a:solidFill>
          <a:ln w="12700">
            <a:solidFill>
              <a:srgbClr val="00796B"/>
            </a:solidFill>
            <a:prstDash val="solid"/>
          </a:ln>
          <a:effectLst>
            <a:outerShdw blurRad="63500" dist="25400" dir="8100000" algn="bl" rotWithShape="0">
              <a:srgbClr val="000000">
                <a:alpha val="10000"/>
              </a:srgbClr>
            </a:outerShdw>
          </a:effectLst>
        </p:spPr>
      </p:sp>
      <p:sp>
        <p:nvSpPr>
          <p:cNvPr id="35" name="Text 33"/>
          <p:cNvSpPr/>
          <p:nvPr/>
        </p:nvSpPr>
        <p:spPr>
          <a:xfrm>
            <a:off x="365760" y="4187952"/>
            <a:ext cx="2286000" cy="274320"/>
          </a:xfrm>
          <a:prstGeom prst="rect">
            <a:avLst/>
          </a:prstGeom>
          <a:noFill/>
          <a:ln/>
        </p:spPr>
        <p:txBody>
          <a:bodyPr wrap="square" rtlCol="0" anchor="ctr"/>
          <a:lstStyle/>
          <a:p>
            <a:pPr marL="0" indent="0">
              <a:buNone/>
            </a:pPr>
            <a:r>
              <a:rPr lang="en-US" sz="1100" b="1" dirty="0">
                <a:solidFill>
                  <a:srgbClr val="00796B"/>
                </a:solidFill>
                <a:latin typeface="Calibri" pitchFamily="34" charset="0"/>
                <a:ea typeface="Calibri" pitchFamily="34" charset="-122"/>
                <a:cs typeface="Calibri" pitchFamily="34" charset="-120"/>
              </a:rPr>
              <a:t>Delai moyen</a:t>
            </a:r>
            <a:endParaRPr lang="en-US" sz="1100" dirty="0"/>
          </a:p>
        </p:txBody>
      </p:sp>
      <p:sp>
        <p:nvSpPr>
          <p:cNvPr id="36" name="Shape 34"/>
          <p:cNvSpPr/>
          <p:nvPr/>
        </p:nvSpPr>
        <p:spPr>
          <a:xfrm>
            <a:off x="2743200" y="4206240"/>
            <a:ext cx="2286000" cy="384048"/>
          </a:xfrm>
          <a:prstGeom prst="rect">
            <a:avLst/>
          </a:prstGeom>
          <a:solidFill>
            <a:srgbClr val="00796B">
              <a:alpha val="18000"/>
            </a:srgbClr>
          </a:solidFill>
          <a:ln w="6350">
            <a:solidFill>
              <a:srgbClr val="00796B"/>
            </a:solidFill>
            <a:prstDash val="solid"/>
          </a:ln>
        </p:spPr>
      </p:sp>
      <p:sp>
        <p:nvSpPr>
          <p:cNvPr id="37" name="Text 35"/>
          <p:cNvSpPr/>
          <p:nvPr/>
        </p:nvSpPr>
        <p:spPr>
          <a:xfrm>
            <a:off x="2743200" y="4206240"/>
            <a:ext cx="2286000" cy="384048"/>
          </a:xfrm>
          <a:prstGeom prst="rect">
            <a:avLst/>
          </a:prstGeom>
          <a:noFill/>
          <a:ln/>
        </p:spPr>
        <p:txBody>
          <a:bodyPr wrap="square" rtlCol="0" anchor="ctr"/>
          <a:lstStyle/>
          <a:p>
            <a:pPr marL="0" indent="0" algn="ctr">
              <a:buNone/>
            </a:pPr>
            <a:r>
              <a:rPr lang="en-US" sz="1600" b="1" dirty="0">
                <a:solidFill>
                  <a:srgbClr val="00796B"/>
                </a:solidFill>
                <a:latin typeface="Calibri" pitchFamily="34" charset="0"/>
                <a:ea typeface="Calibri" pitchFamily="34" charset="-122"/>
                <a:cs typeface="Calibri" pitchFamily="34" charset="-120"/>
              </a:rPr>
              <a:t>W = 1 / (µ - λ)</a:t>
            </a:r>
            <a:endParaRPr lang="en-US" sz="1600" dirty="0"/>
          </a:p>
        </p:txBody>
      </p:sp>
      <p:sp>
        <p:nvSpPr>
          <p:cNvPr id="38" name="Text 36"/>
          <p:cNvSpPr/>
          <p:nvPr/>
        </p:nvSpPr>
        <p:spPr>
          <a:xfrm>
            <a:off x="365760" y="4553712"/>
            <a:ext cx="8229600" cy="274320"/>
          </a:xfrm>
          <a:prstGeom prst="rect">
            <a:avLst/>
          </a:prstGeom>
          <a:noFill/>
          <a:ln/>
        </p:spPr>
        <p:txBody>
          <a:bodyPr wrap="square" rtlCol="0" anchor="ctr"/>
          <a:lstStyle/>
          <a:p>
            <a:pPr marL="0" indent="0">
              <a:buNone/>
            </a:pPr>
            <a:r>
              <a:rPr lang="en-US" sz="1100" i="1" dirty="0">
                <a:solidFill>
                  <a:srgbClr val="424242"/>
                </a:solidFill>
                <a:latin typeface="Calibri" pitchFamily="34" charset="0"/>
                <a:ea typeface="Calibri" pitchFamily="34" charset="-122"/>
                <a:cs typeface="Calibri" pitchFamily="34" charset="-120"/>
              </a:rPr>
              <a:t>Ex : λ=80/s, µ=100/s → W = 1/(100-80) = 50 ms. Si λ=99/s : W = 1 SECONDE !</a:t>
            </a:r>
            <a:endParaRPr lang="en-US" sz="1100" dirty="0"/>
          </a:p>
        </p:txBody>
      </p:sp>
      <p:sp>
        <p:nvSpPr>
          <p:cNvPr id="39" name="Shape 37"/>
          <p:cNvSpPr/>
          <p:nvPr/>
        </p:nvSpPr>
        <p:spPr>
          <a:xfrm>
            <a:off x="256032" y="4974336"/>
            <a:ext cx="8631936" cy="201168"/>
          </a:xfrm>
          <a:prstGeom prst="rect">
            <a:avLst/>
          </a:prstGeom>
          <a:solidFill>
            <a:srgbClr val="0D1B2A"/>
          </a:solidFill>
          <a:ln/>
        </p:spPr>
      </p:sp>
      <p:sp>
        <p:nvSpPr>
          <p:cNvPr id="40" name="Text 38"/>
          <p:cNvSpPr/>
          <p:nvPr/>
        </p:nvSpPr>
        <p:spPr>
          <a:xfrm>
            <a:off x="365760" y="4974336"/>
            <a:ext cx="8412480" cy="20116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Loi de Little (universelle) : N = λ × W   |   Ex : λ=100 paq/s, W=10ms → N = 100×0.01 = 1 paquet en moyenne dans le systeme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C62828"/>
          </a:solidFill>
          <a:ln/>
        </p:spPr>
      </p:sp>
      <p:sp>
        <p:nvSpPr>
          <p:cNvPr id="3" name="Text 1"/>
          <p:cNvSpPr/>
          <p:nvPr/>
        </p:nvSpPr>
        <p:spPr>
          <a:xfrm>
            <a:off x="502920" y="548640"/>
            <a:ext cx="2286000" cy="1371600"/>
          </a:xfrm>
          <a:prstGeom prst="rect">
            <a:avLst/>
          </a:prstGeom>
          <a:noFill/>
          <a:ln/>
        </p:spPr>
        <p:txBody>
          <a:bodyPr wrap="square" rtlCol="0" anchor="ctr"/>
          <a:lstStyle/>
          <a:p>
            <a:pPr marL="0" indent="0">
              <a:buNone/>
            </a:pPr>
            <a:r>
              <a:rPr lang="en-US" sz="7200" b="1" dirty="0">
                <a:solidFill>
                  <a:srgbClr val="C62828">
                    <a:alpha val="75000"/>
                  </a:srgbClr>
                </a:solidFill>
                <a:latin typeface="Calibri" pitchFamily="34" charset="0"/>
                <a:ea typeface="Calibri" pitchFamily="34" charset="-122"/>
                <a:cs typeface="Calibri" pitchFamily="34" charset="-120"/>
              </a:rPr>
              <a:t>06</a:t>
            </a:r>
            <a:endParaRPr lang="en-US" sz="7200" dirty="0"/>
          </a:p>
        </p:txBody>
      </p:sp>
      <p:sp>
        <p:nvSpPr>
          <p:cNvPr id="4" name="Text 2"/>
          <p:cNvSpPr/>
          <p:nvPr/>
        </p:nvSpPr>
        <p:spPr>
          <a:xfrm>
            <a:off x="502920" y="1828800"/>
            <a:ext cx="8321040" cy="8229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Gestion des files d attente</a:t>
            </a:r>
            <a:endParaRPr lang="en-US" sz="3400" dirty="0"/>
          </a:p>
        </p:txBody>
      </p:sp>
      <p:sp>
        <p:nvSpPr>
          <p:cNvPr id="5" name="Text 3"/>
          <p:cNvSpPr/>
          <p:nvPr/>
        </p:nvSpPr>
        <p:spPr>
          <a:xfrm>
            <a:off x="502920" y="2697480"/>
            <a:ext cx="8229600" cy="457200"/>
          </a:xfrm>
          <a:prstGeom prst="rect">
            <a:avLst/>
          </a:prstGeom>
          <a:noFill/>
          <a:ln/>
        </p:spPr>
        <p:txBody>
          <a:bodyPr wrap="square" rtlCol="0" anchor="ctr"/>
          <a:lstStyle/>
          <a:p>
            <a:pPr marL="0" indent="0">
              <a:buNone/>
            </a:pPr>
            <a:r>
              <a:rPr lang="en-US" sz="1400" i="1" dirty="0">
                <a:solidFill>
                  <a:srgbClr val="BDBDBD"/>
                </a:solidFill>
                <a:latin typeface="Calibri" pitchFamily="34" charset="0"/>
                <a:ea typeface="Calibri" pitchFamily="34" charset="-122"/>
                <a:cs typeface="Calibri" pitchFamily="34" charset="-120"/>
              </a:rPr>
              <a:t>FIFO · RED · WRED · Scheduling · LLQ</a:t>
            </a:r>
            <a:endParaRPr lang="en-US" sz="1400" dirty="0"/>
          </a:p>
        </p:txBody>
      </p:sp>
      <p:sp>
        <p:nvSpPr>
          <p:cNvPr id="6" name="Shape 4"/>
          <p:cNvSpPr/>
          <p:nvPr/>
        </p:nvSpPr>
        <p:spPr>
          <a:xfrm>
            <a:off x="0" y="4919472"/>
            <a:ext cx="9144000" cy="228600"/>
          </a:xfrm>
          <a:prstGeom prst="rect">
            <a:avLst/>
          </a:prstGeom>
          <a:solidFill>
            <a:srgbClr val="C62828"/>
          </a:solidFill>
          <a:ln/>
        </p:spPr>
      </p:sp>
    </p:spTree>
    <p:extLst>
      <p:ext uri="{BB962C8B-B14F-4D97-AF65-F5344CB8AC3E}">
        <p14:creationId xmlns:p14="http://schemas.microsoft.com/office/powerpoint/2010/main" val="1523573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C62828"/>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Gestion Active des Files (AQM) — FIFO, RED, WRED</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04672"/>
            <a:ext cx="8595360" cy="292608"/>
          </a:xfrm>
          <a:prstGeom prst="rect">
            <a:avLst/>
          </a:prstGeom>
          <a:noFill/>
          <a:ln/>
        </p:spPr>
        <p:txBody>
          <a:bodyPr wrap="square" rtlCol="0" anchor="ctr"/>
          <a:lstStyle/>
          <a:p>
            <a:pPr marL="0" indent="0">
              <a:buNone/>
            </a:pPr>
            <a:r>
              <a:rPr lang="en-US" sz="1200" i="1" dirty="0">
                <a:solidFill>
                  <a:srgbClr val="757575"/>
                </a:solidFill>
                <a:latin typeface="Calibri" pitchFamily="34" charset="0"/>
                <a:ea typeface="Calibri" pitchFamily="34" charset="-122"/>
                <a:cs typeface="Calibri" pitchFamily="34" charset="-120"/>
              </a:rPr>
              <a:t>AQM = Active Queue Management : mecanismes qui gerent le CONTENU des files d attente et previennent la congestion.</a:t>
            </a:r>
            <a:endParaRPr lang="en-US" sz="1200" dirty="0"/>
          </a:p>
        </p:txBody>
      </p:sp>
      <p:sp>
        <p:nvSpPr>
          <p:cNvPr id="6" name="Shape 4"/>
          <p:cNvSpPr/>
          <p:nvPr/>
        </p:nvSpPr>
        <p:spPr>
          <a:xfrm>
            <a:off x="256032" y="1170432"/>
            <a:ext cx="2743200" cy="411480"/>
          </a:xfrm>
          <a:prstGeom prst="rect">
            <a:avLst/>
          </a:prstGeom>
          <a:solidFill>
            <a:srgbClr val="0D1B2A"/>
          </a:solidFill>
          <a:ln/>
        </p:spPr>
      </p:sp>
      <p:sp>
        <p:nvSpPr>
          <p:cNvPr id="7" name="Text 5"/>
          <p:cNvSpPr/>
          <p:nvPr/>
        </p:nvSpPr>
        <p:spPr>
          <a:xfrm>
            <a:off x="256032" y="1170432"/>
            <a:ext cx="2743200" cy="4114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FIFO — First In, First Out</a:t>
            </a:r>
            <a:endParaRPr lang="en-US" sz="1250" dirty="0"/>
          </a:p>
        </p:txBody>
      </p:sp>
      <p:sp>
        <p:nvSpPr>
          <p:cNvPr id="8" name="Shape 6"/>
          <p:cNvSpPr/>
          <p:nvPr/>
        </p:nvSpPr>
        <p:spPr>
          <a:xfrm>
            <a:off x="256032" y="1645920"/>
            <a:ext cx="2743200" cy="2286000"/>
          </a:xfrm>
          <a:prstGeom prst="rect">
            <a:avLst/>
          </a:prstGeom>
          <a:solidFill>
            <a:srgbClr val="F5F5F5"/>
          </a:solidFill>
          <a:ln w="6350">
            <a:solidFill>
              <a:srgbClr val="0D1B2A"/>
            </a:solidFill>
            <a:prstDash val="solid"/>
          </a:ln>
        </p:spPr>
      </p:sp>
      <p:sp>
        <p:nvSpPr>
          <p:cNvPr id="9" name="Text 7"/>
          <p:cNvSpPr/>
          <p:nvPr/>
        </p:nvSpPr>
        <p:spPr>
          <a:xfrm>
            <a:off x="347472" y="1682496"/>
            <a:ext cx="2560320" cy="219456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Premier arrive = premier servi.</a:t>
            </a:r>
            <a:endParaRPr lang="en-US" sz="1100" dirty="0"/>
          </a:p>
          <a:p>
            <a:pPr marL="0" indent="0">
              <a:buNone/>
            </a:pP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Simple mais injuste.</a:t>
            </a:r>
            <a:endParaRPr lang="en-US" sz="1100" dirty="0"/>
          </a:p>
          <a:p>
            <a:pPr marL="0" indent="0">
              <a:buNone/>
            </a:pP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Un gros flux FTP bloque tout le monde.</a:t>
            </a:r>
            <a:endParaRPr lang="en-US" sz="1100" dirty="0"/>
          </a:p>
          <a:p>
            <a:pPr marL="0" indent="0">
              <a:buNone/>
            </a:pP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Detection de congestion TARDIVE (seulement quand la file est pleine).</a:t>
            </a:r>
            <a:endParaRPr lang="en-US" sz="1100" dirty="0"/>
          </a:p>
          <a:p>
            <a:pPr marL="0" indent="0">
              <a:buNone/>
            </a:pP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Phenomene 'queue full = global sync' : tous les flux TCP ralentissent simultanement.</a:t>
            </a:r>
            <a:endParaRPr lang="en-US" sz="1100" dirty="0"/>
          </a:p>
        </p:txBody>
      </p:sp>
      <p:sp>
        <p:nvSpPr>
          <p:cNvPr id="10" name="Shape 8"/>
          <p:cNvSpPr/>
          <p:nvPr/>
        </p:nvSpPr>
        <p:spPr>
          <a:xfrm>
            <a:off x="3182112" y="1170432"/>
            <a:ext cx="2743200" cy="411480"/>
          </a:xfrm>
          <a:prstGeom prst="rect">
            <a:avLst/>
          </a:prstGeom>
          <a:solidFill>
            <a:srgbClr val="E65100"/>
          </a:solidFill>
          <a:ln/>
        </p:spPr>
      </p:sp>
      <p:sp>
        <p:nvSpPr>
          <p:cNvPr id="11" name="Text 9"/>
          <p:cNvSpPr/>
          <p:nvPr/>
        </p:nvSpPr>
        <p:spPr>
          <a:xfrm>
            <a:off x="3182112" y="1170432"/>
            <a:ext cx="2743200" cy="4114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RED — Random Early Detection</a:t>
            </a:r>
            <a:endParaRPr lang="en-US" sz="1250" dirty="0"/>
          </a:p>
        </p:txBody>
      </p:sp>
      <p:sp>
        <p:nvSpPr>
          <p:cNvPr id="12" name="Shape 10"/>
          <p:cNvSpPr/>
          <p:nvPr/>
        </p:nvSpPr>
        <p:spPr>
          <a:xfrm>
            <a:off x="3182112" y="1645920"/>
            <a:ext cx="2743200" cy="2286000"/>
          </a:xfrm>
          <a:prstGeom prst="rect">
            <a:avLst/>
          </a:prstGeom>
          <a:solidFill>
            <a:srgbClr val="FFF8E1"/>
          </a:solidFill>
          <a:ln w="6350">
            <a:solidFill>
              <a:srgbClr val="E65100"/>
            </a:solidFill>
            <a:prstDash val="solid"/>
          </a:ln>
        </p:spPr>
      </p:sp>
      <p:sp>
        <p:nvSpPr>
          <p:cNvPr id="13" name="Text 11"/>
          <p:cNvSpPr/>
          <p:nvPr/>
        </p:nvSpPr>
        <p:spPr>
          <a:xfrm>
            <a:off x="3273552" y="1682496"/>
            <a:ext cx="2560320" cy="219456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Anticipe la congestion en rejetant des paquets AVANT que la file soit pleine.</a:t>
            </a:r>
            <a:endParaRPr lang="en-US" sz="1100" dirty="0"/>
          </a:p>
          <a:p>
            <a:pPr marL="0" indent="0">
              <a:buNone/>
            </a:pP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3 zones selon le remplissage :</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&lt; min_th : aucun rejet</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min_th a max_th : rejet aleatoire croissant</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&gt; max_th : rejet systematique</a:t>
            </a:r>
            <a:endParaRPr lang="en-US" sz="1100" dirty="0"/>
          </a:p>
          <a:p>
            <a:pPr marL="0" indent="0">
              <a:buNone/>
            </a:pP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Avantage : evite la synchronisation TCP (plusieurs flux ne ralentissent pas tous en meme temps).</a:t>
            </a:r>
            <a:endParaRPr lang="en-US" sz="1100" dirty="0"/>
          </a:p>
        </p:txBody>
      </p:sp>
      <p:sp>
        <p:nvSpPr>
          <p:cNvPr id="14" name="Shape 12"/>
          <p:cNvSpPr/>
          <p:nvPr/>
        </p:nvSpPr>
        <p:spPr>
          <a:xfrm>
            <a:off x="6108192" y="1170432"/>
            <a:ext cx="2743200" cy="411480"/>
          </a:xfrm>
          <a:prstGeom prst="rect">
            <a:avLst/>
          </a:prstGeom>
          <a:solidFill>
            <a:srgbClr val="00796B"/>
          </a:solidFill>
          <a:ln/>
        </p:spPr>
      </p:sp>
      <p:sp>
        <p:nvSpPr>
          <p:cNvPr id="15" name="Text 13"/>
          <p:cNvSpPr/>
          <p:nvPr/>
        </p:nvSpPr>
        <p:spPr>
          <a:xfrm>
            <a:off x="6108192" y="1170432"/>
            <a:ext cx="2743200" cy="4114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WRED — Weighted RED</a:t>
            </a:r>
            <a:endParaRPr lang="en-US" sz="1250" dirty="0"/>
          </a:p>
        </p:txBody>
      </p:sp>
      <p:sp>
        <p:nvSpPr>
          <p:cNvPr id="16" name="Shape 14"/>
          <p:cNvSpPr/>
          <p:nvPr/>
        </p:nvSpPr>
        <p:spPr>
          <a:xfrm>
            <a:off x="6108192" y="1645920"/>
            <a:ext cx="2743200" cy="2286000"/>
          </a:xfrm>
          <a:prstGeom prst="rect">
            <a:avLst/>
          </a:prstGeom>
          <a:solidFill>
            <a:srgbClr val="E0F2F1"/>
          </a:solidFill>
          <a:ln w="6350">
            <a:solidFill>
              <a:srgbClr val="00796B"/>
            </a:solidFill>
            <a:prstDash val="solid"/>
          </a:ln>
        </p:spPr>
      </p:sp>
      <p:sp>
        <p:nvSpPr>
          <p:cNvPr id="17" name="Text 15"/>
          <p:cNvSpPr/>
          <p:nvPr/>
        </p:nvSpPr>
        <p:spPr>
          <a:xfrm>
            <a:off x="6199632" y="1682496"/>
            <a:ext cx="2560320" cy="219456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RED + notion de priorite (DSCP).</a:t>
            </a:r>
            <a:endParaRPr lang="en-US" sz="1100" dirty="0"/>
          </a:p>
          <a:p>
            <a:pPr marL="0" indent="0">
              <a:buNone/>
            </a:pP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Les paquets de FAIBLE priorite sont rejetes en premier et plus souvent.</a:t>
            </a:r>
            <a:endParaRPr lang="en-US" sz="1100" dirty="0"/>
          </a:p>
          <a:p>
            <a:pPr marL="0" indent="0">
              <a:buNone/>
            </a:pP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Les paquets EF (DSCP=46, VoIP) : probabilite de rejet NULLE.</a:t>
            </a:r>
            <a:endParaRPr lang="en-US" sz="1100" dirty="0"/>
          </a:p>
          <a:p>
            <a:pPr marL="0" indent="0">
              <a:buNone/>
            </a:pP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Les paquets BE (DSCP=0) : rejetes des le debut de congestion.</a:t>
            </a:r>
            <a:endParaRPr lang="en-US" sz="1100" dirty="0"/>
          </a:p>
          <a:p>
            <a:pPr marL="0" indent="0">
              <a:buNone/>
            </a:pP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Implementation standard Cisco IOS.</a:t>
            </a:r>
            <a:endParaRPr lang="en-US" sz="1100" dirty="0"/>
          </a:p>
        </p:txBody>
      </p:sp>
      <p:sp>
        <p:nvSpPr>
          <p:cNvPr id="18" name="Shape 16"/>
          <p:cNvSpPr/>
          <p:nvPr/>
        </p:nvSpPr>
        <p:spPr>
          <a:xfrm>
            <a:off x="256032" y="4023360"/>
            <a:ext cx="8631936" cy="502920"/>
          </a:xfrm>
          <a:prstGeom prst="rect">
            <a:avLst/>
          </a:prstGeom>
          <a:solidFill>
            <a:srgbClr val="FFFDE7"/>
          </a:solidFill>
          <a:ln w="12700">
            <a:solidFill>
              <a:srgbClr val="F57F17"/>
            </a:solidFill>
            <a:prstDash val="solid"/>
          </a:ln>
        </p:spPr>
      </p:sp>
      <p:sp>
        <p:nvSpPr>
          <p:cNvPr id="19" name="Text 17"/>
          <p:cNvSpPr/>
          <p:nvPr/>
        </p:nvSpPr>
        <p:spPr>
          <a:xfrm>
            <a:off x="365760" y="4041648"/>
            <a:ext cx="8412480" cy="457200"/>
          </a:xfrm>
          <a:prstGeom prst="rect">
            <a:avLst/>
          </a:prstGeom>
          <a:noFill/>
          <a:ln/>
        </p:spPr>
        <p:txBody>
          <a:bodyPr wrap="square" rtlCol="0" anchor="ctr"/>
          <a:lstStyle/>
          <a:p>
            <a:pPr marL="0" indent="0">
              <a:buNone/>
            </a:pPr>
            <a:r>
              <a:rPr lang="en-US" sz="1100" dirty="0">
                <a:solidFill>
                  <a:srgbClr val="E65100"/>
                </a:solidFill>
                <a:latin typeface="Calibri" pitchFamily="34" charset="0"/>
                <a:ea typeface="Calibri" pitchFamily="34" charset="-122"/>
                <a:cs typeface="Calibri" pitchFamily="34" charset="-120"/>
              </a:rPr>
              <a:t>Pourquoi rejeter des paquets de facon ALEATOIRE et PREVENTIVE ? Parce que TCP interpret une perte = signal de congestion et ralentit. RED 'signale' la congestion avant saturation totale.</a:t>
            </a:r>
            <a:endParaRPr lang="en-US" sz="1100" dirty="0"/>
          </a:p>
        </p:txBody>
      </p:sp>
    </p:spTree>
    <p:extLst>
      <p:ext uri="{BB962C8B-B14F-4D97-AF65-F5344CB8AC3E}">
        <p14:creationId xmlns:p14="http://schemas.microsoft.com/office/powerpoint/2010/main" val="2903238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C62828"/>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Algorithmes d ordonnancement (Scheduling) — Qui passe en premier ?</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04672"/>
            <a:ext cx="8595360" cy="292608"/>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Le scheduling decide quel paquet envoyer en premier quand plusieurs files attendent. C est le coeur de la QoS.</a:t>
            </a:r>
            <a:endParaRPr lang="en-US" sz="1100" dirty="0"/>
          </a:p>
        </p:txBody>
      </p:sp>
      <p:sp>
        <p:nvSpPr>
          <p:cNvPr id="6" name="Shape 4"/>
          <p:cNvSpPr/>
          <p:nvPr/>
        </p:nvSpPr>
        <p:spPr>
          <a:xfrm>
            <a:off x="256032" y="1170432"/>
            <a:ext cx="2788920" cy="1664208"/>
          </a:xfrm>
          <a:prstGeom prst="rect">
            <a:avLst/>
          </a:prstGeom>
          <a:solidFill>
            <a:srgbClr val="FFFFFF"/>
          </a:solidFill>
          <a:ln w="15240">
            <a:solidFill>
              <a:srgbClr val="0D1B2A"/>
            </a:solidFill>
            <a:prstDash val="solid"/>
          </a:ln>
          <a:effectLst>
            <a:outerShdw blurRad="63500" dist="25400" dir="8100000" algn="bl" rotWithShape="0">
              <a:srgbClr val="000000">
                <a:alpha val="10000"/>
              </a:srgbClr>
            </a:outerShdw>
          </a:effectLst>
        </p:spPr>
      </p:sp>
      <p:sp>
        <p:nvSpPr>
          <p:cNvPr id="7" name="Shape 5"/>
          <p:cNvSpPr/>
          <p:nvPr/>
        </p:nvSpPr>
        <p:spPr>
          <a:xfrm>
            <a:off x="256032" y="1170432"/>
            <a:ext cx="2788920" cy="457200"/>
          </a:xfrm>
          <a:prstGeom prst="rect">
            <a:avLst/>
          </a:prstGeom>
          <a:solidFill>
            <a:srgbClr val="0D1B2A"/>
          </a:solidFill>
          <a:ln/>
        </p:spPr>
      </p:sp>
      <p:sp>
        <p:nvSpPr>
          <p:cNvPr id="8" name="Text 6"/>
          <p:cNvSpPr/>
          <p:nvPr/>
        </p:nvSpPr>
        <p:spPr>
          <a:xfrm>
            <a:off x="329184" y="1170432"/>
            <a:ext cx="2633472"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FIFO — First In First Out</a:t>
            </a:r>
            <a:endParaRPr lang="en-US" sz="1200" dirty="0"/>
          </a:p>
        </p:txBody>
      </p:sp>
      <p:sp>
        <p:nvSpPr>
          <p:cNvPr id="9" name="Text 7"/>
          <p:cNvSpPr/>
          <p:nvPr/>
        </p:nvSpPr>
        <p:spPr>
          <a:xfrm>
            <a:off x="347472" y="1673352"/>
            <a:ext cx="2606040" cy="658368"/>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1er arrive = 1er servi. Aucune priorite. Simple mais injuste.</a:t>
            </a:r>
            <a:endParaRPr lang="en-US" sz="1100" dirty="0"/>
          </a:p>
        </p:txBody>
      </p:sp>
      <p:sp>
        <p:nvSpPr>
          <p:cNvPr id="10" name="Text 8"/>
          <p:cNvSpPr/>
          <p:nvPr/>
        </p:nvSpPr>
        <p:spPr>
          <a:xfrm>
            <a:off x="347472" y="2377440"/>
            <a:ext cx="2606040" cy="384048"/>
          </a:xfrm>
          <a:prstGeom prst="rect">
            <a:avLst/>
          </a:prstGeom>
          <a:noFill/>
          <a:ln/>
        </p:spPr>
        <p:txBody>
          <a:bodyPr wrap="square" rtlCol="0" anchor="ctr"/>
          <a:lstStyle/>
          <a:p>
            <a:pPr marL="0" indent="0" algn="ctr">
              <a:buNone/>
            </a:pPr>
            <a:r>
              <a:rPr lang="en-US" sz="1100" b="1" dirty="0">
                <a:solidFill>
                  <a:srgbClr val="C62828"/>
                </a:solidFill>
                <a:latin typeface="Calibri" pitchFamily="34" charset="0"/>
                <a:ea typeface="Calibri" pitchFamily="34" charset="-122"/>
                <a:cs typeface="Calibri" pitchFamily="34" charset="-120"/>
              </a:rPr>
              <a:t>⚠ VoIP attend derriere un telechargement FTP.</a:t>
            </a:r>
            <a:endParaRPr lang="en-US" sz="1100" dirty="0"/>
          </a:p>
        </p:txBody>
      </p:sp>
      <p:sp>
        <p:nvSpPr>
          <p:cNvPr id="11" name="Shape 9"/>
          <p:cNvSpPr/>
          <p:nvPr/>
        </p:nvSpPr>
        <p:spPr>
          <a:xfrm>
            <a:off x="3200400" y="1170432"/>
            <a:ext cx="2788920" cy="1664208"/>
          </a:xfrm>
          <a:prstGeom prst="rect">
            <a:avLst/>
          </a:prstGeom>
          <a:solidFill>
            <a:srgbClr val="FFFFFF"/>
          </a:solidFill>
          <a:ln w="15240">
            <a:solidFill>
              <a:srgbClr val="C62828"/>
            </a:solidFill>
            <a:prstDash val="solid"/>
          </a:ln>
          <a:effectLst>
            <a:outerShdw blurRad="63500" dist="25400" dir="8100000" algn="bl" rotWithShape="0">
              <a:srgbClr val="000000">
                <a:alpha val="10000"/>
              </a:srgbClr>
            </a:outerShdw>
          </a:effectLst>
        </p:spPr>
      </p:sp>
      <p:sp>
        <p:nvSpPr>
          <p:cNvPr id="12" name="Shape 10"/>
          <p:cNvSpPr/>
          <p:nvPr/>
        </p:nvSpPr>
        <p:spPr>
          <a:xfrm>
            <a:off x="3200400" y="1170432"/>
            <a:ext cx="2788920" cy="457200"/>
          </a:xfrm>
          <a:prstGeom prst="rect">
            <a:avLst/>
          </a:prstGeom>
          <a:solidFill>
            <a:srgbClr val="C62828"/>
          </a:solidFill>
          <a:ln/>
        </p:spPr>
      </p:sp>
      <p:sp>
        <p:nvSpPr>
          <p:cNvPr id="13" name="Text 11"/>
          <p:cNvSpPr/>
          <p:nvPr/>
        </p:nvSpPr>
        <p:spPr>
          <a:xfrm>
            <a:off x="3273552" y="1170432"/>
            <a:ext cx="2633472"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PQ — Priority Queuing</a:t>
            </a:r>
            <a:endParaRPr lang="en-US" sz="1200" dirty="0"/>
          </a:p>
        </p:txBody>
      </p:sp>
      <p:sp>
        <p:nvSpPr>
          <p:cNvPr id="14" name="Text 12"/>
          <p:cNvSpPr/>
          <p:nvPr/>
        </p:nvSpPr>
        <p:spPr>
          <a:xfrm>
            <a:off x="3291840" y="1673352"/>
            <a:ext cx="2606040" cy="658368"/>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Plusieurs files ; sert TOUJOURS la file la plus haute en priorite d abord.</a:t>
            </a:r>
            <a:endParaRPr lang="en-US" sz="1100" dirty="0"/>
          </a:p>
        </p:txBody>
      </p:sp>
      <p:sp>
        <p:nvSpPr>
          <p:cNvPr id="15" name="Text 13"/>
          <p:cNvSpPr/>
          <p:nvPr/>
        </p:nvSpPr>
        <p:spPr>
          <a:xfrm>
            <a:off x="3291840" y="2377440"/>
            <a:ext cx="2606040" cy="384048"/>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 Danger : famine (starvation) des files basses si priorite haute trop chargee.</a:t>
            </a:r>
            <a:endParaRPr lang="en-US" sz="1100" dirty="0"/>
          </a:p>
        </p:txBody>
      </p:sp>
      <p:sp>
        <p:nvSpPr>
          <p:cNvPr id="16" name="Shape 14"/>
          <p:cNvSpPr/>
          <p:nvPr/>
        </p:nvSpPr>
        <p:spPr>
          <a:xfrm>
            <a:off x="6144768" y="1170432"/>
            <a:ext cx="2788920" cy="1664208"/>
          </a:xfrm>
          <a:prstGeom prst="rect">
            <a:avLst/>
          </a:prstGeom>
          <a:solidFill>
            <a:srgbClr val="FFFFFF"/>
          </a:solidFill>
          <a:ln w="15240">
            <a:solidFill>
              <a:srgbClr val="E65100"/>
            </a:solidFill>
            <a:prstDash val="solid"/>
          </a:ln>
          <a:effectLst>
            <a:outerShdw blurRad="63500" dist="25400" dir="8100000" algn="bl" rotWithShape="0">
              <a:srgbClr val="000000">
                <a:alpha val="10000"/>
              </a:srgbClr>
            </a:outerShdw>
          </a:effectLst>
        </p:spPr>
      </p:sp>
      <p:sp>
        <p:nvSpPr>
          <p:cNvPr id="17" name="Shape 15"/>
          <p:cNvSpPr/>
          <p:nvPr/>
        </p:nvSpPr>
        <p:spPr>
          <a:xfrm>
            <a:off x="6144768" y="1170432"/>
            <a:ext cx="2788920" cy="457200"/>
          </a:xfrm>
          <a:prstGeom prst="rect">
            <a:avLst/>
          </a:prstGeom>
          <a:solidFill>
            <a:srgbClr val="E65100"/>
          </a:solidFill>
          <a:ln/>
        </p:spPr>
      </p:sp>
      <p:sp>
        <p:nvSpPr>
          <p:cNvPr id="18" name="Text 16"/>
          <p:cNvSpPr/>
          <p:nvPr/>
        </p:nvSpPr>
        <p:spPr>
          <a:xfrm>
            <a:off x="6217920" y="1170432"/>
            <a:ext cx="2633472"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RR — Round Robin</a:t>
            </a:r>
            <a:endParaRPr lang="en-US" sz="1200" dirty="0"/>
          </a:p>
        </p:txBody>
      </p:sp>
      <p:sp>
        <p:nvSpPr>
          <p:cNvPr id="19" name="Text 17"/>
          <p:cNvSpPr/>
          <p:nvPr/>
        </p:nvSpPr>
        <p:spPr>
          <a:xfrm>
            <a:off x="6236208" y="1673352"/>
            <a:ext cx="2606040" cy="658368"/>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Service cyclique des files a tour de role. Equitable en nombre de paquets.</a:t>
            </a:r>
            <a:endParaRPr lang="en-US" sz="1100" dirty="0"/>
          </a:p>
        </p:txBody>
      </p:sp>
      <p:sp>
        <p:nvSpPr>
          <p:cNvPr id="20" name="Text 18"/>
          <p:cNvSpPr/>
          <p:nvPr/>
        </p:nvSpPr>
        <p:spPr>
          <a:xfrm>
            <a:off x="6236208" y="2377440"/>
            <a:ext cx="2606040" cy="384048"/>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 Ne tient pas compte des tailles de paquets ni des priorites.</a:t>
            </a:r>
            <a:endParaRPr lang="en-US" sz="1100" dirty="0"/>
          </a:p>
        </p:txBody>
      </p:sp>
      <p:sp>
        <p:nvSpPr>
          <p:cNvPr id="21" name="Shape 19"/>
          <p:cNvSpPr/>
          <p:nvPr/>
        </p:nvSpPr>
        <p:spPr>
          <a:xfrm>
            <a:off x="256032" y="2953512"/>
            <a:ext cx="2788920" cy="1664208"/>
          </a:xfrm>
          <a:prstGeom prst="rect">
            <a:avLst/>
          </a:prstGeom>
          <a:solidFill>
            <a:srgbClr val="FFFFFF"/>
          </a:solidFill>
          <a:ln w="15240">
            <a:solidFill>
              <a:srgbClr val="1565C0"/>
            </a:solidFill>
            <a:prstDash val="solid"/>
          </a:ln>
          <a:effectLst>
            <a:outerShdw blurRad="63500" dist="25400" dir="8100000" algn="bl" rotWithShape="0">
              <a:srgbClr val="000000">
                <a:alpha val="10000"/>
              </a:srgbClr>
            </a:outerShdw>
          </a:effectLst>
        </p:spPr>
      </p:sp>
      <p:sp>
        <p:nvSpPr>
          <p:cNvPr id="22" name="Shape 20"/>
          <p:cNvSpPr/>
          <p:nvPr/>
        </p:nvSpPr>
        <p:spPr>
          <a:xfrm>
            <a:off x="256032" y="2953512"/>
            <a:ext cx="2788920" cy="457200"/>
          </a:xfrm>
          <a:prstGeom prst="rect">
            <a:avLst/>
          </a:prstGeom>
          <a:solidFill>
            <a:srgbClr val="1565C0"/>
          </a:solidFill>
          <a:ln/>
        </p:spPr>
      </p:sp>
      <p:sp>
        <p:nvSpPr>
          <p:cNvPr id="23" name="Text 21"/>
          <p:cNvSpPr/>
          <p:nvPr/>
        </p:nvSpPr>
        <p:spPr>
          <a:xfrm>
            <a:off x="329184" y="2953512"/>
            <a:ext cx="2633472"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WRR — Weighted Round Robin</a:t>
            </a:r>
            <a:endParaRPr lang="en-US" sz="1200" dirty="0"/>
          </a:p>
        </p:txBody>
      </p:sp>
      <p:sp>
        <p:nvSpPr>
          <p:cNvPr id="24" name="Text 22"/>
          <p:cNvSpPr/>
          <p:nvPr/>
        </p:nvSpPr>
        <p:spPr>
          <a:xfrm>
            <a:off x="347472" y="3456432"/>
            <a:ext cx="2606040" cy="658368"/>
          </a:xfrm>
          <a:prstGeom prst="rect">
            <a:avLst/>
          </a:prstGeom>
          <a:noFill/>
          <a:ln/>
        </p:spPr>
        <p:txBody>
          <a:bodyPr wrap="square" rtlCol="0" anchor="ctr"/>
          <a:lstStyle/>
          <a:p>
            <a:pPr marL="0" indent="0" algn="ctr">
              <a:buNone/>
            </a:pPr>
            <a:r>
              <a:rPr lang="en-US" sz="1100" dirty="0">
                <a:solidFill>
                  <a:srgbClr val="212121"/>
                </a:solidFill>
                <a:latin typeface="Calibri" pitchFamily="34" charset="0"/>
                <a:ea typeface="Calibri" pitchFamily="34" charset="-122"/>
                <a:cs typeface="Calibri" pitchFamily="34" charset="-120"/>
              </a:rPr>
              <a:t>RR avec des poids. Ex : VoIP (poids 5) passe 5x pour chaque passage de FTP (poids 1).</a:t>
            </a:r>
            <a:endParaRPr lang="en-US" sz="1100" dirty="0"/>
          </a:p>
        </p:txBody>
      </p:sp>
      <p:sp>
        <p:nvSpPr>
          <p:cNvPr id="25" name="Text 23"/>
          <p:cNvSpPr/>
          <p:nvPr/>
        </p:nvSpPr>
        <p:spPr>
          <a:xfrm>
            <a:off x="347472" y="4160520"/>
            <a:ext cx="2606040" cy="384048"/>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 Bonne solution mais pas equitable en octets si paquets de tailles differentes.</a:t>
            </a:r>
            <a:endParaRPr lang="en-US" sz="1100" dirty="0"/>
          </a:p>
        </p:txBody>
      </p:sp>
      <p:sp>
        <p:nvSpPr>
          <p:cNvPr id="26" name="Shape 24"/>
          <p:cNvSpPr/>
          <p:nvPr/>
        </p:nvSpPr>
        <p:spPr>
          <a:xfrm>
            <a:off x="3200400" y="2953512"/>
            <a:ext cx="2788920" cy="1664208"/>
          </a:xfrm>
          <a:prstGeom prst="rect">
            <a:avLst/>
          </a:prstGeom>
          <a:solidFill>
            <a:srgbClr val="FFFFFF"/>
          </a:solidFill>
          <a:ln w="15240">
            <a:solidFill>
              <a:srgbClr val="00796B"/>
            </a:solidFill>
            <a:prstDash val="solid"/>
          </a:ln>
          <a:effectLst>
            <a:outerShdw blurRad="63500" dist="25400" dir="8100000" algn="bl" rotWithShape="0">
              <a:srgbClr val="000000">
                <a:alpha val="10000"/>
              </a:srgbClr>
            </a:outerShdw>
          </a:effectLst>
        </p:spPr>
      </p:sp>
      <p:sp>
        <p:nvSpPr>
          <p:cNvPr id="27" name="Shape 25"/>
          <p:cNvSpPr/>
          <p:nvPr/>
        </p:nvSpPr>
        <p:spPr>
          <a:xfrm>
            <a:off x="3200400" y="2953512"/>
            <a:ext cx="2788920" cy="457200"/>
          </a:xfrm>
          <a:prstGeom prst="rect">
            <a:avLst/>
          </a:prstGeom>
          <a:solidFill>
            <a:srgbClr val="00796B"/>
          </a:solidFill>
          <a:ln/>
        </p:spPr>
      </p:sp>
      <p:sp>
        <p:nvSpPr>
          <p:cNvPr id="28" name="Text 26"/>
          <p:cNvSpPr/>
          <p:nvPr/>
        </p:nvSpPr>
        <p:spPr>
          <a:xfrm>
            <a:off x="3273552" y="2953512"/>
            <a:ext cx="2633472"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FQ — Fair Queuing</a:t>
            </a:r>
            <a:endParaRPr lang="en-US" sz="1200" dirty="0"/>
          </a:p>
        </p:txBody>
      </p:sp>
      <p:sp>
        <p:nvSpPr>
          <p:cNvPr id="29" name="Text 27"/>
          <p:cNvSpPr/>
          <p:nvPr/>
        </p:nvSpPr>
        <p:spPr>
          <a:xfrm>
            <a:off x="3291840" y="3456432"/>
            <a:ext cx="2606040" cy="658368"/>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Equite parfaite en OCTETS entre tous les flux. Chaque flux obtient une part egale.</a:t>
            </a:r>
            <a:endParaRPr lang="en-US" sz="1100" dirty="0"/>
          </a:p>
        </p:txBody>
      </p:sp>
      <p:sp>
        <p:nvSpPr>
          <p:cNvPr id="30" name="Text 28"/>
          <p:cNvSpPr/>
          <p:nvPr/>
        </p:nvSpPr>
        <p:spPr>
          <a:xfrm>
            <a:off x="3291840" y="4160520"/>
            <a:ext cx="2606040" cy="384048"/>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 Complexe a implementer. Suppose que tous les flux ont la meme importance.</a:t>
            </a:r>
            <a:endParaRPr lang="en-US" sz="1100" dirty="0"/>
          </a:p>
        </p:txBody>
      </p:sp>
      <p:sp>
        <p:nvSpPr>
          <p:cNvPr id="31" name="Shape 29"/>
          <p:cNvSpPr/>
          <p:nvPr/>
        </p:nvSpPr>
        <p:spPr>
          <a:xfrm>
            <a:off x="6144768" y="2953512"/>
            <a:ext cx="2788920" cy="1664208"/>
          </a:xfrm>
          <a:prstGeom prst="rect">
            <a:avLst/>
          </a:prstGeom>
          <a:solidFill>
            <a:srgbClr val="FFFFFF"/>
          </a:solidFill>
          <a:ln w="15240">
            <a:solidFill>
              <a:srgbClr val="2E7D32"/>
            </a:solidFill>
            <a:prstDash val="solid"/>
          </a:ln>
          <a:effectLst>
            <a:outerShdw blurRad="63500" dist="25400" dir="8100000" algn="bl" rotWithShape="0">
              <a:srgbClr val="000000">
                <a:alpha val="10000"/>
              </a:srgbClr>
            </a:outerShdw>
          </a:effectLst>
        </p:spPr>
      </p:sp>
      <p:sp>
        <p:nvSpPr>
          <p:cNvPr id="32" name="Shape 30"/>
          <p:cNvSpPr/>
          <p:nvPr/>
        </p:nvSpPr>
        <p:spPr>
          <a:xfrm>
            <a:off x="6144768" y="2953512"/>
            <a:ext cx="2788920" cy="457200"/>
          </a:xfrm>
          <a:prstGeom prst="rect">
            <a:avLst/>
          </a:prstGeom>
          <a:solidFill>
            <a:srgbClr val="2E7D32"/>
          </a:solidFill>
          <a:ln/>
        </p:spPr>
      </p:sp>
      <p:sp>
        <p:nvSpPr>
          <p:cNvPr id="33" name="Text 31"/>
          <p:cNvSpPr/>
          <p:nvPr/>
        </p:nvSpPr>
        <p:spPr>
          <a:xfrm>
            <a:off x="6217920" y="2953512"/>
            <a:ext cx="2633472"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WFQ — Weighted Fair Queuing</a:t>
            </a:r>
            <a:endParaRPr lang="en-US" sz="1200" dirty="0"/>
          </a:p>
        </p:txBody>
      </p:sp>
      <p:sp>
        <p:nvSpPr>
          <p:cNvPr id="34" name="Text 32"/>
          <p:cNvSpPr/>
          <p:nvPr/>
        </p:nvSpPr>
        <p:spPr>
          <a:xfrm>
            <a:off x="6236208" y="3456432"/>
            <a:ext cx="2606040" cy="658368"/>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FQ avec des poids. VoIP (poids 10) = 10x plus de bande passante que FTP (poids 1). Solution complete.</a:t>
            </a:r>
            <a:endParaRPr lang="en-US" sz="1100" dirty="0"/>
          </a:p>
        </p:txBody>
      </p:sp>
      <p:sp>
        <p:nvSpPr>
          <p:cNvPr id="35" name="Text 33"/>
          <p:cNvSpPr/>
          <p:nvPr/>
        </p:nvSpPr>
        <p:spPr>
          <a:xfrm>
            <a:off x="6236208" y="4160520"/>
            <a:ext cx="2606040" cy="384048"/>
          </a:xfrm>
          <a:prstGeom prst="rect">
            <a:avLst/>
          </a:prstGeom>
          <a:noFill/>
          <a:ln/>
        </p:spPr>
        <p:txBody>
          <a:bodyPr wrap="square" rtlCol="0" anchor="ctr"/>
          <a:lstStyle/>
          <a:p>
            <a:pPr marL="0" indent="0">
              <a:buNone/>
            </a:pPr>
            <a:r>
              <a:rPr lang="en-US" sz="1050" b="1" dirty="0">
                <a:solidFill>
                  <a:srgbClr val="2E7D32"/>
                </a:solidFill>
                <a:latin typeface="Calibri" pitchFamily="34" charset="0"/>
                <a:ea typeface="Calibri" pitchFamily="34" charset="-122"/>
                <a:cs typeface="Calibri" pitchFamily="34" charset="-120"/>
              </a:rPr>
              <a:t>✔ La solution recommandee pour la plupart des deployments QoS.</a:t>
            </a:r>
            <a:endParaRPr lang="en-US" sz="1050" dirty="0"/>
          </a:p>
        </p:txBody>
      </p:sp>
    </p:spTree>
    <p:extLst>
      <p:ext uri="{BB962C8B-B14F-4D97-AF65-F5344CB8AC3E}">
        <p14:creationId xmlns:p14="http://schemas.microsoft.com/office/powerpoint/2010/main" val="3767549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C62828"/>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LLQ — Low Latency Queuing : la solution complete en pratique</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200" i="1" dirty="0">
                <a:solidFill>
                  <a:srgbClr val="757575"/>
                </a:solidFill>
                <a:latin typeface="Calibri" pitchFamily="34" charset="0"/>
                <a:ea typeface="Calibri" pitchFamily="34" charset="-122"/>
                <a:cs typeface="Calibri" pitchFamily="34" charset="-120"/>
              </a:rPr>
              <a:t>LLQ combine PQ strict pour la voix + WFQ pour les autres classes. C est le standard industriel.</a:t>
            </a:r>
            <a:endParaRPr lang="en-US" sz="1200" dirty="0"/>
          </a:p>
        </p:txBody>
      </p:sp>
      <p:sp>
        <p:nvSpPr>
          <p:cNvPr id="6" name="Shape 4"/>
          <p:cNvSpPr/>
          <p:nvPr/>
        </p:nvSpPr>
        <p:spPr>
          <a:xfrm>
            <a:off x="256032" y="1188720"/>
            <a:ext cx="8631936" cy="841248"/>
          </a:xfrm>
          <a:prstGeom prst="rect">
            <a:avLst/>
          </a:prstGeom>
          <a:solidFill>
            <a:srgbClr val="F5F5F5"/>
          </a:solidFill>
          <a:ln w="15240">
            <a:solidFill>
              <a:srgbClr val="C62828"/>
            </a:solidFill>
            <a:prstDash val="solid"/>
          </a:ln>
          <a:effectLst>
            <a:outerShdw blurRad="63500" dist="25400" dir="8100000" algn="bl" rotWithShape="0">
              <a:srgbClr val="000000">
                <a:alpha val="10000"/>
              </a:srgbClr>
            </a:outerShdw>
          </a:effectLst>
        </p:spPr>
      </p:sp>
      <p:sp>
        <p:nvSpPr>
          <p:cNvPr id="7" name="Shape 5"/>
          <p:cNvSpPr/>
          <p:nvPr/>
        </p:nvSpPr>
        <p:spPr>
          <a:xfrm>
            <a:off x="256032" y="1188720"/>
            <a:ext cx="73152" cy="841248"/>
          </a:xfrm>
          <a:prstGeom prst="rect">
            <a:avLst/>
          </a:prstGeom>
          <a:solidFill>
            <a:srgbClr val="C62828"/>
          </a:solidFill>
          <a:ln/>
        </p:spPr>
      </p:sp>
      <p:sp>
        <p:nvSpPr>
          <p:cNvPr id="8" name="Shape 6"/>
          <p:cNvSpPr/>
          <p:nvPr/>
        </p:nvSpPr>
        <p:spPr>
          <a:xfrm>
            <a:off x="256032" y="1188720"/>
            <a:ext cx="1920240" cy="841248"/>
          </a:xfrm>
          <a:prstGeom prst="rect">
            <a:avLst/>
          </a:prstGeom>
          <a:solidFill>
            <a:srgbClr val="C62828">
              <a:alpha val="18000"/>
            </a:srgbClr>
          </a:solidFill>
          <a:ln/>
        </p:spPr>
      </p:sp>
      <p:sp>
        <p:nvSpPr>
          <p:cNvPr id="9" name="Text 7"/>
          <p:cNvSpPr/>
          <p:nvPr/>
        </p:nvSpPr>
        <p:spPr>
          <a:xfrm>
            <a:off x="347472" y="1225296"/>
            <a:ext cx="1783080" cy="320040"/>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File EF (VoIP)</a:t>
            </a:r>
            <a:endParaRPr lang="en-US" sz="1100" dirty="0"/>
          </a:p>
        </p:txBody>
      </p:sp>
      <p:sp>
        <p:nvSpPr>
          <p:cNvPr id="10" name="Text 8"/>
          <p:cNvSpPr/>
          <p:nvPr/>
        </p:nvSpPr>
        <p:spPr>
          <a:xfrm>
            <a:off x="347472" y="1664208"/>
            <a:ext cx="1783080" cy="292608"/>
          </a:xfrm>
          <a:prstGeom prst="rect">
            <a:avLst/>
          </a:prstGeom>
          <a:noFill/>
          <a:ln/>
        </p:spPr>
        <p:txBody>
          <a:bodyPr wrap="square" rtlCol="0" anchor="ctr"/>
          <a:lstStyle/>
          <a:p>
            <a:pPr marL="0" indent="0">
              <a:buNone/>
            </a:pPr>
            <a:r>
              <a:rPr lang="en-US" sz="1050" b="1" dirty="0">
                <a:solidFill>
                  <a:srgbClr val="C62828"/>
                </a:solidFill>
                <a:latin typeface="Calibri" pitchFamily="34" charset="0"/>
                <a:ea typeface="Calibri" pitchFamily="34" charset="-122"/>
                <a:cs typeface="Calibri" pitchFamily="34" charset="-120"/>
              </a:rPr>
              <a:t>~20% de bande passante reservee</a:t>
            </a:r>
            <a:endParaRPr lang="en-US" sz="1050" dirty="0"/>
          </a:p>
        </p:txBody>
      </p:sp>
      <p:sp>
        <p:nvSpPr>
          <p:cNvPr id="11" name="Shape 9"/>
          <p:cNvSpPr/>
          <p:nvPr/>
        </p:nvSpPr>
        <p:spPr>
          <a:xfrm>
            <a:off x="2331720" y="1225296"/>
            <a:ext cx="1645920" cy="320040"/>
          </a:xfrm>
          <a:prstGeom prst="rect">
            <a:avLst/>
          </a:prstGeom>
          <a:solidFill>
            <a:srgbClr val="C62828">
              <a:alpha val="25000"/>
            </a:srgbClr>
          </a:solidFill>
          <a:ln w="6350">
            <a:solidFill>
              <a:srgbClr val="C62828"/>
            </a:solidFill>
            <a:prstDash val="solid"/>
          </a:ln>
        </p:spPr>
      </p:sp>
      <p:sp>
        <p:nvSpPr>
          <p:cNvPr id="12" name="Text 10"/>
          <p:cNvSpPr/>
          <p:nvPr/>
        </p:nvSpPr>
        <p:spPr>
          <a:xfrm>
            <a:off x="2331720" y="1225296"/>
            <a:ext cx="1645920" cy="320040"/>
          </a:xfrm>
          <a:prstGeom prst="rect">
            <a:avLst/>
          </a:prstGeom>
          <a:noFill/>
          <a:ln/>
        </p:spPr>
        <p:txBody>
          <a:bodyPr wrap="square" rtlCol="0" anchor="ctr"/>
          <a:lstStyle/>
          <a:p>
            <a:pPr marL="0" indent="0" algn="ctr">
              <a:buNone/>
            </a:pPr>
            <a:r>
              <a:rPr lang="en-US" sz="1050" b="1" dirty="0">
                <a:solidFill>
                  <a:srgbClr val="C62828"/>
                </a:solidFill>
                <a:latin typeface="Calibri" pitchFamily="34" charset="0"/>
                <a:ea typeface="Calibri" pitchFamily="34" charset="-122"/>
                <a:cs typeface="Calibri" pitchFamily="34" charset="-120"/>
              </a:rPr>
              <a:t>STRICTEMENT PRIORITAIRE</a:t>
            </a:r>
            <a:endParaRPr lang="en-US" sz="1050" dirty="0"/>
          </a:p>
        </p:txBody>
      </p:sp>
      <p:sp>
        <p:nvSpPr>
          <p:cNvPr id="13" name="Text 11"/>
          <p:cNvSpPr/>
          <p:nvPr/>
        </p:nvSpPr>
        <p:spPr>
          <a:xfrm>
            <a:off x="4114800" y="1225296"/>
            <a:ext cx="4663440" cy="749808"/>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Toujours servie en premier.</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Voix, visioconference critique.</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Jamais interrompue par les autres.</a:t>
            </a:r>
            <a:endParaRPr lang="en-US" sz="1100" dirty="0"/>
          </a:p>
        </p:txBody>
      </p:sp>
      <p:sp>
        <p:nvSpPr>
          <p:cNvPr id="14" name="Shape 12"/>
          <p:cNvSpPr/>
          <p:nvPr/>
        </p:nvSpPr>
        <p:spPr>
          <a:xfrm>
            <a:off x="256032" y="2121408"/>
            <a:ext cx="8631936" cy="841248"/>
          </a:xfrm>
          <a:prstGeom prst="rect">
            <a:avLst/>
          </a:prstGeom>
          <a:solidFill>
            <a:srgbClr val="F5F5F5"/>
          </a:solidFill>
          <a:ln w="15240">
            <a:solidFill>
              <a:srgbClr val="E65100"/>
            </a:solidFill>
            <a:prstDash val="solid"/>
          </a:ln>
          <a:effectLst>
            <a:outerShdw blurRad="63500" dist="25400" dir="8100000" algn="bl" rotWithShape="0">
              <a:srgbClr val="000000">
                <a:alpha val="10000"/>
              </a:srgbClr>
            </a:outerShdw>
          </a:effectLst>
        </p:spPr>
      </p:sp>
      <p:sp>
        <p:nvSpPr>
          <p:cNvPr id="15" name="Shape 13"/>
          <p:cNvSpPr/>
          <p:nvPr/>
        </p:nvSpPr>
        <p:spPr>
          <a:xfrm>
            <a:off x="256032" y="2121408"/>
            <a:ext cx="73152" cy="841248"/>
          </a:xfrm>
          <a:prstGeom prst="rect">
            <a:avLst/>
          </a:prstGeom>
          <a:solidFill>
            <a:srgbClr val="E65100"/>
          </a:solidFill>
          <a:ln/>
        </p:spPr>
      </p:sp>
      <p:sp>
        <p:nvSpPr>
          <p:cNvPr id="16" name="Shape 14"/>
          <p:cNvSpPr/>
          <p:nvPr/>
        </p:nvSpPr>
        <p:spPr>
          <a:xfrm>
            <a:off x="256032" y="2121408"/>
            <a:ext cx="1920240" cy="841248"/>
          </a:xfrm>
          <a:prstGeom prst="rect">
            <a:avLst/>
          </a:prstGeom>
          <a:solidFill>
            <a:srgbClr val="E65100">
              <a:alpha val="18000"/>
            </a:srgbClr>
          </a:solidFill>
          <a:ln/>
        </p:spPr>
      </p:sp>
      <p:sp>
        <p:nvSpPr>
          <p:cNvPr id="17" name="Text 15"/>
          <p:cNvSpPr/>
          <p:nvPr/>
        </p:nvSpPr>
        <p:spPr>
          <a:xfrm>
            <a:off x="347472" y="2157984"/>
            <a:ext cx="1783080" cy="320040"/>
          </a:xfrm>
          <a:prstGeom prst="rect">
            <a:avLst/>
          </a:prstGeom>
          <a:noFill/>
          <a:ln/>
        </p:spPr>
        <p:txBody>
          <a:bodyPr wrap="square" rtlCol="0" anchor="ctr"/>
          <a:lstStyle/>
          <a:p>
            <a:pPr marL="0" indent="0">
              <a:buNone/>
            </a:pPr>
            <a:r>
              <a:rPr lang="en-US" sz="1200" b="1" dirty="0">
                <a:solidFill>
                  <a:srgbClr val="E65100"/>
                </a:solidFill>
                <a:latin typeface="Calibri" pitchFamily="34" charset="0"/>
                <a:ea typeface="Calibri" pitchFamily="34" charset="-122"/>
                <a:cs typeface="Calibri" pitchFamily="34" charset="-120"/>
              </a:rPr>
              <a:t>File AF1 (Video)</a:t>
            </a:r>
            <a:endParaRPr lang="en-US" sz="1200" dirty="0"/>
          </a:p>
        </p:txBody>
      </p:sp>
      <p:sp>
        <p:nvSpPr>
          <p:cNvPr id="18" name="Text 16"/>
          <p:cNvSpPr/>
          <p:nvPr/>
        </p:nvSpPr>
        <p:spPr>
          <a:xfrm>
            <a:off x="347472" y="2596896"/>
            <a:ext cx="1783080" cy="292608"/>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~35% de bande passante</a:t>
            </a:r>
            <a:endParaRPr lang="en-US" sz="1100" dirty="0"/>
          </a:p>
        </p:txBody>
      </p:sp>
      <p:sp>
        <p:nvSpPr>
          <p:cNvPr id="19" name="Shape 17"/>
          <p:cNvSpPr/>
          <p:nvPr/>
        </p:nvSpPr>
        <p:spPr>
          <a:xfrm>
            <a:off x="2331720" y="2157984"/>
            <a:ext cx="1645920" cy="320040"/>
          </a:xfrm>
          <a:prstGeom prst="rect">
            <a:avLst/>
          </a:prstGeom>
          <a:solidFill>
            <a:srgbClr val="E65100">
              <a:alpha val="25000"/>
            </a:srgbClr>
          </a:solidFill>
          <a:ln w="6350">
            <a:solidFill>
              <a:srgbClr val="E65100"/>
            </a:solidFill>
            <a:prstDash val="solid"/>
          </a:ln>
        </p:spPr>
      </p:sp>
      <p:sp>
        <p:nvSpPr>
          <p:cNvPr id="20" name="Text 18"/>
          <p:cNvSpPr/>
          <p:nvPr/>
        </p:nvSpPr>
        <p:spPr>
          <a:xfrm>
            <a:off x="2331720" y="2157984"/>
            <a:ext cx="1645920" cy="320040"/>
          </a:xfrm>
          <a:prstGeom prst="rect">
            <a:avLst/>
          </a:prstGeom>
          <a:noFill/>
          <a:ln/>
        </p:spPr>
        <p:txBody>
          <a:bodyPr wrap="square" rtlCol="0" anchor="ctr"/>
          <a:lstStyle/>
          <a:p>
            <a:pPr marL="0" indent="0" algn="ctr">
              <a:buNone/>
            </a:pPr>
            <a:r>
              <a:rPr lang="en-US" sz="1100" b="1" dirty="0">
                <a:solidFill>
                  <a:srgbClr val="E65100"/>
                </a:solidFill>
                <a:latin typeface="Calibri" pitchFamily="34" charset="0"/>
                <a:ea typeface="Calibri" pitchFamily="34" charset="-122"/>
                <a:cs typeface="Calibri" pitchFamily="34" charset="-120"/>
              </a:rPr>
              <a:t>WFQ - Haute priorite</a:t>
            </a:r>
            <a:endParaRPr lang="en-US" sz="1100" dirty="0"/>
          </a:p>
        </p:txBody>
      </p:sp>
      <p:sp>
        <p:nvSpPr>
          <p:cNvPr id="21" name="Text 19"/>
          <p:cNvSpPr/>
          <p:nvPr/>
        </p:nvSpPr>
        <p:spPr>
          <a:xfrm>
            <a:off x="4114800" y="2157984"/>
            <a:ext cx="4663440" cy="749808"/>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Servie apres EF avec poids eleve.</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Streaming video, IPTV, conferences.</a:t>
            </a:r>
            <a:endParaRPr lang="en-US" sz="1100" dirty="0"/>
          </a:p>
        </p:txBody>
      </p:sp>
      <p:sp>
        <p:nvSpPr>
          <p:cNvPr id="22" name="Shape 20"/>
          <p:cNvSpPr/>
          <p:nvPr/>
        </p:nvSpPr>
        <p:spPr>
          <a:xfrm>
            <a:off x="256032" y="3054096"/>
            <a:ext cx="8631936" cy="841248"/>
          </a:xfrm>
          <a:prstGeom prst="rect">
            <a:avLst/>
          </a:prstGeom>
          <a:solidFill>
            <a:srgbClr val="F5F5F5"/>
          </a:solidFill>
          <a:ln w="15240">
            <a:solidFill>
              <a:srgbClr val="1565C0"/>
            </a:solidFill>
            <a:prstDash val="solid"/>
          </a:ln>
          <a:effectLst>
            <a:outerShdw blurRad="63500" dist="25400" dir="8100000" algn="bl" rotWithShape="0">
              <a:srgbClr val="000000">
                <a:alpha val="10000"/>
              </a:srgbClr>
            </a:outerShdw>
          </a:effectLst>
        </p:spPr>
      </p:sp>
      <p:sp>
        <p:nvSpPr>
          <p:cNvPr id="23" name="Shape 21"/>
          <p:cNvSpPr/>
          <p:nvPr/>
        </p:nvSpPr>
        <p:spPr>
          <a:xfrm>
            <a:off x="256032" y="3054096"/>
            <a:ext cx="73152" cy="841248"/>
          </a:xfrm>
          <a:prstGeom prst="rect">
            <a:avLst/>
          </a:prstGeom>
          <a:solidFill>
            <a:srgbClr val="1565C0"/>
          </a:solidFill>
          <a:ln/>
        </p:spPr>
      </p:sp>
      <p:sp>
        <p:nvSpPr>
          <p:cNvPr id="24" name="Shape 22"/>
          <p:cNvSpPr/>
          <p:nvPr/>
        </p:nvSpPr>
        <p:spPr>
          <a:xfrm>
            <a:off x="256032" y="3054096"/>
            <a:ext cx="1920240" cy="841248"/>
          </a:xfrm>
          <a:prstGeom prst="rect">
            <a:avLst/>
          </a:prstGeom>
          <a:solidFill>
            <a:srgbClr val="1565C0">
              <a:alpha val="18000"/>
            </a:srgbClr>
          </a:solidFill>
          <a:ln/>
        </p:spPr>
      </p:sp>
      <p:sp>
        <p:nvSpPr>
          <p:cNvPr id="25" name="Text 23"/>
          <p:cNvSpPr/>
          <p:nvPr/>
        </p:nvSpPr>
        <p:spPr>
          <a:xfrm>
            <a:off x="347472" y="3090672"/>
            <a:ext cx="1783080" cy="320040"/>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File AF2 (Apps critiques)</a:t>
            </a:r>
            <a:endParaRPr lang="en-US" sz="1200" dirty="0"/>
          </a:p>
        </p:txBody>
      </p:sp>
      <p:sp>
        <p:nvSpPr>
          <p:cNvPr id="26" name="Text 24"/>
          <p:cNvSpPr/>
          <p:nvPr/>
        </p:nvSpPr>
        <p:spPr>
          <a:xfrm>
            <a:off x="347472" y="3529584"/>
            <a:ext cx="1783080" cy="292608"/>
          </a:xfrm>
          <a:prstGeom prst="rect">
            <a:avLst/>
          </a:prstGeom>
          <a:noFill/>
          <a:ln/>
        </p:spPr>
        <p:txBody>
          <a:bodyPr wrap="square" rtlCol="0" anchor="ctr"/>
          <a:lstStyle/>
          <a:p>
            <a:pPr marL="0" indent="0">
              <a:buNone/>
            </a:pPr>
            <a:r>
              <a:rPr lang="en-US" sz="1050" b="1" dirty="0">
                <a:solidFill>
                  <a:srgbClr val="1565C0"/>
                </a:solidFill>
                <a:latin typeface="Calibri" pitchFamily="34" charset="0"/>
                <a:ea typeface="Calibri" pitchFamily="34" charset="-122"/>
                <a:cs typeface="Calibri" pitchFamily="34" charset="-120"/>
              </a:rPr>
              <a:t>~25% de bande passante</a:t>
            </a:r>
            <a:endParaRPr lang="en-US" sz="1050" dirty="0"/>
          </a:p>
        </p:txBody>
      </p:sp>
      <p:sp>
        <p:nvSpPr>
          <p:cNvPr id="27" name="Shape 25"/>
          <p:cNvSpPr/>
          <p:nvPr/>
        </p:nvSpPr>
        <p:spPr>
          <a:xfrm>
            <a:off x="2331720" y="3090672"/>
            <a:ext cx="1645920" cy="320040"/>
          </a:xfrm>
          <a:prstGeom prst="rect">
            <a:avLst/>
          </a:prstGeom>
          <a:solidFill>
            <a:srgbClr val="1565C0">
              <a:alpha val="25000"/>
            </a:srgbClr>
          </a:solidFill>
          <a:ln w="6350">
            <a:solidFill>
              <a:srgbClr val="1565C0"/>
            </a:solidFill>
            <a:prstDash val="solid"/>
          </a:ln>
        </p:spPr>
      </p:sp>
      <p:sp>
        <p:nvSpPr>
          <p:cNvPr id="28" name="Text 26"/>
          <p:cNvSpPr/>
          <p:nvPr/>
        </p:nvSpPr>
        <p:spPr>
          <a:xfrm>
            <a:off x="2331720" y="3090672"/>
            <a:ext cx="1645920" cy="320040"/>
          </a:xfrm>
          <a:prstGeom prst="rect">
            <a:avLst/>
          </a:prstGeom>
          <a:noFill/>
          <a:ln/>
        </p:spPr>
        <p:txBody>
          <a:bodyPr wrap="square" rtlCol="0" anchor="ctr"/>
          <a:lstStyle/>
          <a:p>
            <a:pPr marL="0" indent="0" algn="ctr">
              <a:buNone/>
            </a:pPr>
            <a:r>
              <a:rPr lang="en-US" sz="1100" b="1" dirty="0">
                <a:solidFill>
                  <a:srgbClr val="1565C0"/>
                </a:solidFill>
                <a:latin typeface="Calibri" pitchFamily="34" charset="0"/>
                <a:ea typeface="Calibri" pitchFamily="34" charset="-122"/>
                <a:cs typeface="Calibri" pitchFamily="34" charset="-120"/>
              </a:rPr>
              <a:t>WFQ - Priorite moyenne</a:t>
            </a:r>
            <a:endParaRPr lang="en-US" sz="1100" dirty="0"/>
          </a:p>
        </p:txBody>
      </p:sp>
      <p:sp>
        <p:nvSpPr>
          <p:cNvPr id="29" name="Text 27"/>
          <p:cNvSpPr/>
          <p:nvPr/>
        </p:nvSpPr>
        <p:spPr>
          <a:xfrm>
            <a:off x="4114800" y="3090672"/>
            <a:ext cx="4663440" cy="749808"/>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Applications metier importantes.</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ERPs, bases de donnees.</a:t>
            </a:r>
            <a:endParaRPr lang="en-US" sz="1100" dirty="0"/>
          </a:p>
        </p:txBody>
      </p:sp>
      <p:sp>
        <p:nvSpPr>
          <p:cNvPr id="30" name="Shape 28"/>
          <p:cNvSpPr/>
          <p:nvPr/>
        </p:nvSpPr>
        <p:spPr>
          <a:xfrm>
            <a:off x="256032" y="3986784"/>
            <a:ext cx="8631936" cy="841248"/>
          </a:xfrm>
          <a:prstGeom prst="rect">
            <a:avLst/>
          </a:prstGeom>
          <a:solidFill>
            <a:srgbClr val="F5F5F5"/>
          </a:solidFill>
          <a:ln w="15240">
            <a:solidFill>
              <a:srgbClr val="00796B"/>
            </a:solidFill>
            <a:prstDash val="solid"/>
          </a:ln>
          <a:effectLst>
            <a:outerShdw blurRad="63500" dist="25400" dir="8100000" algn="bl" rotWithShape="0">
              <a:srgbClr val="000000">
                <a:alpha val="10000"/>
              </a:srgbClr>
            </a:outerShdw>
          </a:effectLst>
        </p:spPr>
      </p:sp>
      <p:sp>
        <p:nvSpPr>
          <p:cNvPr id="31" name="Shape 29"/>
          <p:cNvSpPr/>
          <p:nvPr/>
        </p:nvSpPr>
        <p:spPr>
          <a:xfrm>
            <a:off x="256032" y="3986784"/>
            <a:ext cx="73152" cy="841248"/>
          </a:xfrm>
          <a:prstGeom prst="rect">
            <a:avLst/>
          </a:prstGeom>
          <a:solidFill>
            <a:srgbClr val="00796B"/>
          </a:solidFill>
          <a:ln/>
        </p:spPr>
      </p:sp>
      <p:sp>
        <p:nvSpPr>
          <p:cNvPr id="32" name="Shape 30"/>
          <p:cNvSpPr/>
          <p:nvPr/>
        </p:nvSpPr>
        <p:spPr>
          <a:xfrm>
            <a:off x="256032" y="3986784"/>
            <a:ext cx="1920240" cy="841248"/>
          </a:xfrm>
          <a:prstGeom prst="rect">
            <a:avLst/>
          </a:prstGeom>
          <a:solidFill>
            <a:srgbClr val="00796B">
              <a:alpha val="18000"/>
            </a:srgbClr>
          </a:solidFill>
          <a:ln/>
        </p:spPr>
      </p:sp>
      <p:sp>
        <p:nvSpPr>
          <p:cNvPr id="33" name="Text 31"/>
          <p:cNvSpPr/>
          <p:nvPr/>
        </p:nvSpPr>
        <p:spPr>
          <a:xfrm>
            <a:off x="347472" y="4023360"/>
            <a:ext cx="1783080" cy="320040"/>
          </a:xfrm>
          <a:prstGeom prst="rect">
            <a:avLst/>
          </a:prstGeom>
          <a:noFill/>
          <a:ln/>
        </p:spPr>
        <p:txBody>
          <a:bodyPr wrap="square" rtlCol="0" anchor="ctr"/>
          <a:lstStyle/>
          <a:p>
            <a:pPr marL="0" indent="0">
              <a:buNone/>
            </a:pPr>
            <a:r>
              <a:rPr lang="en-US" sz="1200" b="1" dirty="0">
                <a:solidFill>
                  <a:srgbClr val="00796B"/>
                </a:solidFill>
                <a:latin typeface="Calibri" pitchFamily="34" charset="0"/>
                <a:ea typeface="Calibri" pitchFamily="34" charset="-122"/>
                <a:cs typeface="Calibri" pitchFamily="34" charset="-120"/>
              </a:rPr>
              <a:t>File BE (tout le reste)</a:t>
            </a:r>
            <a:endParaRPr lang="en-US" sz="1200" dirty="0"/>
          </a:p>
        </p:txBody>
      </p:sp>
      <p:sp>
        <p:nvSpPr>
          <p:cNvPr id="34" name="Text 32"/>
          <p:cNvSpPr/>
          <p:nvPr/>
        </p:nvSpPr>
        <p:spPr>
          <a:xfrm>
            <a:off x="347472" y="4462272"/>
            <a:ext cx="1783080" cy="292608"/>
          </a:xfrm>
          <a:prstGeom prst="rect">
            <a:avLst/>
          </a:prstGeom>
          <a:noFill/>
          <a:ln/>
        </p:spPr>
        <p:txBody>
          <a:bodyPr wrap="square" rtlCol="0" anchor="ctr"/>
          <a:lstStyle/>
          <a:p>
            <a:pPr marL="0" indent="0">
              <a:buNone/>
            </a:pPr>
            <a:r>
              <a:rPr lang="en-US" sz="1100" b="1" dirty="0">
                <a:solidFill>
                  <a:srgbClr val="00796B"/>
                </a:solidFill>
                <a:latin typeface="Calibri" pitchFamily="34" charset="0"/>
                <a:ea typeface="Calibri" pitchFamily="34" charset="-122"/>
                <a:cs typeface="Calibri" pitchFamily="34" charset="-120"/>
              </a:rPr>
              <a:t>~20% de bande passante</a:t>
            </a:r>
            <a:endParaRPr lang="en-US" sz="1100" dirty="0"/>
          </a:p>
        </p:txBody>
      </p:sp>
      <p:sp>
        <p:nvSpPr>
          <p:cNvPr id="35" name="Shape 33"/>
          <p:cNvSpPr/>
          <p:nvPr/>
        </p:nvSpPr>
        <p:spPr>
          <a:xfrm>
            <a:off x="2331720" y="4023360"/>
            <a:ext cx="1645920" cy="320040"/>
          </a:xfrm>
          <a:prstGeom prst="rect">
            <a:avLst/>
          </a:prstGeom>
          <a:solidFill>
            <a:srgbClr val="00796B">
              <a:alpha val="25000"/>
            </a:srgbClr>
          </a:solidFill>
          <a:ln w="6350">
            <a:solidFill>
              <a:srgbClr val="00796B"/>
            </a:solidFill>
            <a:prstDash val="solid"/>
          </a:ln>
        </p:spPr>
      </p:sp>
      <p:sp>
        <p:nvSpPr>
          <p:cNvPr id="36" name="Text 34"/>
          <p:cNvSpPr/>
          <p:nvPr/>
        </p:nvSpPr>
        <p:spPr>
          <a:xfrm>
            <a:off x="2331720" y="4023360"/>
            <a:ext cx="1645920" cy="320040"/>
          </a:xfrm>
          <a:prstGeom prst="rect">
            <a:avLst/>
          </a:prstGeom>
          <a:noFill/>
          <a:ln/>
        </p:spPr>
        <p:txBody>
          <a:bodyPr wrap="square" rtlCol="0" anchor="ctr"/>
          <a:lstStyle/>
          <a:p>
            <a:pPr marL="0" indent="0" algn="ctr">
              <a:buNone/>
            </a:pPr>
            <a:r>
              <a:rPr lang="en-US" sz="1100" b="1" dirty="0">
                <a:solidFill>
                  <a:srgbClr val="00796B"/>
                </a:solidFill>
                <a:latin typeface="Calibri" pitchFamily="34" charset="0"/>
                <a:ea typeface="Calibri" pitchFamily="34" charset="-122"/>
                <a:cs typeface="Calibri" pitchFamily="34" charset="-120"/>
              </a:rPr>
              <a:t>WFQ - Faible priorite</a:t>
            </a:r>
            <a:endParaRPr lang="en-US" sz="1100" dirty="0"/>
          </a:p>
        </p:txBody>
      </p:sp>
      <p:sp>
        <p:nvSpPr>
          <p:cNvPr id="37" name="Text 35"/>
          <p:cNvSpPr/>
          <p:nvPr/>
        </p:nvSpPr>
        <p:spPr>
          <a:xfrm>
            <a:off x="4114800" y="4023360"/>
            <a:ext cx="4663440" cy="749808"/>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Email, web, telechargements.</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Reçoit le reste de la bande passante.</a:t>
            </a:r>
            <a:endParaRPr lang="en-US" sz="1100" dirty="0"/>
          </a:p>
        </p:txBody>
      </p:sp>
      <p:sp>
        <p:nvSpPr>
          <p:cNvPr id="38" name="Shape 36"/>
          <p:cNvSpPr/>
          <p:nvPr/>
        </p:nvSpPr>
        <p:spPr>
          <a:xfrm>
            <a:off x="256032" y="4919472"/>
            <a:ext cx="8631936" cy="228600"/>
          </a:xfrm>
          <a:prstGeom prst="rect">
            <a:avLst/>
          </a:prstGeom>
          <a:solidFill>
            <a:srgbClr val="C62828"/>
          </a:solidFill>
          <a:ln/>
        </p:spPr>
      </p:sp>
      <p:sp>
        <p:nvSpPr>
          <p:cNvPr id="39" name="Text 37"/>
          <p:cNvSpPr/>
          <p:nvPr/>
        </p:nvSpPr>
        <p:spPr>
          <a:xfrm>
            <a:off x="365760" y="4919472"/>
            <a:ext cx="8412480" cy="22860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Regle fondamentale : la file EF ne doit pas depasser 30% du lien, sinon les autres flux sont affames.</a:t>
            </a:r>
            <a:endParaRPr lang="en-US" sz="1100" dirty="0"/>
          </a:p>
        </p:txBody>
      </p:sp>
    </p:spTree>
    <p:extLst>
      <p:ext uri="{BB962C8B-B14F-4D97-AF65-F5344CB8AC3E}">
        <p14:creationId xmlns:p14="http://schemas.microsoft.com/office/powerpoint/2010/main" val="11691112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F57F17"/>
          </a:solidFill>
          <a:ln/>
        </p:spPr>
      </p:sp>
      <p:sp>
        <p:nvSpPr>
          <p:cNvPr id="3" name="Text 1"/>
          <p:cNvSpPr/>
          <p:nvPr/>
        </p:nvSpPr>
        <p:spPr>
          <a:xfrm>
            <a:off x="502920" y="548640"/>
            <a:ext cx="2286000" cy="1371600"/>
          </a:xfrm>
          <a:prstGeom prst="rect">
            <a:avLst/>
          </a:prstGeom>
          <a:noFill/>
          <a:ln/>
        </p:spPr>
        <p:txBody>
          <a:bodyPr wrap="square" rtlCol="0" anchor="ctr"/>
          <a:lstStyle/>
          <a:p>
            <a:pPr marL="0" indent="0">
              <a:buNone/>
            </a:pPr>
            <a:r>
              <a:rPr lang="en-US" sz="7200" b="1" dirty="0">
                <a:solidFill>
                  <a:srgbClr val="F57F17">
                    <a:alpha val="75000"/>
                  </a:srgbClr>
                </a:solidFill>
                <a:latin typeface="Calibri" pitchFamily="34" charset="0"/>
                <a:ea typeface="Calibri" pitchFamily="34" charset="-122"/>
                <a:cs typeface="Calibri" pitchFamily="34" charset="-120"/>
              </a:rPr>
              <a:t>07</a:t>
            </a:r>
            <a:endParaRPr lang="en-US" sz="7200" dirty="0"/>
          </a:p>
        </p:txBody>
      </p:sp>
      <p:sp>
        <p:nvSpPr>
          <p:cNvPr id="4" name="Text 2"/>
          <p:cNvSpPr/>
          <p:nvPr/>
        </p:nvSpPr>
        <p:spPr>
          <a:xfrm>
            <a:off x="502920" y="1828800"/>
            <a:ext cx="8321040" cy="8229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Parametres et mesures QoS</a:t>
            </a:r>
            <a:endParaRPr lang="en-US" sz="3400" dirty="0"/>
          </a:p>
        </p:txBody>
      </p:sp>
      <p:sp>
        <p:nvSpPr>
          <p:cNvPr id="5" name="Text 3"/>
          <p:cNvSpPr/>
          <p:nvPr/>
        </p:nvSpPr>
        <p:spPr>
          <a:xfrm>
            <a:off x="502920" y="2697480"/>
            <a:ext cx="8229600" cy="457200"/>
          </a:xfrm>
          <a:prstGeom prst="rect">
            <a:avLst/>
          </a:prstGeom>
          <a:noFill/>
          <a:ln/>
        </p:spPr>
        <p:txBody>
          <a:bodyPr wrap="square" rtlCol="0" anchor="ctr"/>
          <a:lstStyle/>
          <a:p>
            <a:pPr marL="0" indent="0">
              <a:buNone/>
            </a:pPr>
            <a:r>
              <a:rPr lang="en-US" sz="1400" i="1" dirty="0">
                <a:solidFill>
                  <a:srgbClr val="BDBDBD"/>
                </a:solidFill>
                <a:latin typeface="Calibri" pitchFamily="34" charset="0"/>
                <a:ea typeface="Calibri" pitchFamily="34" charset="-122"/>
                <a:cs typeface="Calibri" pitchFamily="34" charset="-120"/>
              </a:rPr>
              <a:t>Degradation · Remedes · MOS · Theorie files</a:t>
            </a:r>
            <a:endParaRPr lang="en-US" sz="1400" dirty="0"/>
          </a:p>
        </p:txBody>
      </p:sp>
      <p:sp>
        <p:nvSpPr>
          <p:cNvPr id="6" name="Shape 4"/>
          <p:cNvSpPr/>
          <p:nvPr/>
        </p:nvSpPr>
        <p:spPr>
          <a:xfrm>
            <a:off x="0" y="4919472"/>
            <a:ext cx="9144000" cy="228600"/>
          </a:xfrm>
          <a:prstGeom prst="rect">
            <a:avLst/>
          </a:prstGeom>
          <a:solidFill>
            <a:srgbClr val="F57F17"/>
          </a:solidFill>
          <a:ln/>
        </p:spPr>
      </p:sp>
    </p:spTree>
    <p:extLst>
      <p:ext uri="{BB962C8B-B14F-4D97-AF65-F5344CB8AC3E}">
        <p14:creationId xmlns:p14="http://schemas.microsoft.com/office/powerpoint/2010/main" val="562062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7F17"/>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Degradation QoS — Impact et remedes specifiques</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256032" y="868680"/>
            <a:ext cx="8631936" cy="896112"/>
          </a:xfrm>
          <a:prstGeom prst="rect">
            <a:avLst/>
          </a:prstGeom>
          <a:solidFill>
            <a:srgbClr val="FFFFFF"/>
          </a:solidFill>
          <a:ln w="12700">
            <a:solidFill>
              <a:srgbClr val="C62828"/>
            </a:solidFill>
            <a:prstDash val="solid"/>
          </a:ln>
          <a:effectLst>
            <a:outerShdw blurRad="63500" dist="25400" dir="8100000" algn="bl" rotWithShape="0">
              <a:srgbClr val="000000">
                <a:alpha val="10000"/>
              </a:srgbClr>
            </a:outerShdw>
          </a:effectLst>
        </p:spPr>
      </p:sp>
      <p:sp>
        <p:nvSpPr>
          <p:cNvPr id="6" name="Shape 4"/>
          <p:cNvSpPr/>
          <p:nvPr/>
        </p:nvSpPr>
        <p:spPr>
          <a:xfrm>
            <a:off x="256032" y="868680"/>
            <a:ext cx="2011680" cy="896112"/>
          </a:xfrm>
          <a:prstGeom prst="rect">
            <a:avLst/>
          </a:prstGeom>
          <a:solidFill>
            <a:srgbClr val="C62828">
              <a:alpha val="15000"/>
            </a:srgbClr>
          </a:solidFill>
          <a:ln/>
        </p:spPr>
      </p:sp>
      <p:sp>
        <p:nvSpPr>
          <p:cNvPr id="7" name="Text 5"/>
          <p:cNvSpPr/>
          <p:nvPr/>
        </p:nvSpPr>
        <p:spPr>
          <a:xfrm>
            <a:off x="347472" y="905256"/>
            <a:ext cx="1828800" cy="347472"/>
          </a:xfrm>
          <a:prstGeom prst="rect">
            <a:avLst/>
          </a:prstGeom>
          <a:noFill/>
          <a:ln/>
        </p:spPr>
        <p:txBody>
          <a:bodyPr wrap="square" rtlCol="0" anchor="ctr"/>
          <a:lstStyle/>
          <a:p>
            <a:pPr marL="0" indent="0">
              <a:buNone/>
            </a:pPr>
            <a:r>
              <a:rPr lang="en-US" sz="1200" b="1" dirty="0">
                <a:solidFill>
                  <a:srgbClr val="C62828"/>
                </a:solidFill>
                <a:latin typeface="Calibri" pitchFamily="34" charset="0"/>
                <a:ea typeface="Calibri" pitchFamily="34" charset="-122"/>
                <a:cs typeface="Calibri" pitchFamily="34" charset="-120"/>
              </a:rPr>
              <a:t>Latence elevee</a:t>
            </a:r>
            <a:endParaRPr lang="en-US" sz="1200" dirty="0"/>
          </a:p>
        </p:txBody>
      </p:sp>
      <p:sp>
        <p:nvSpPr>
          <p:cNvPr id="8" name="Text 6"/>
          <p:cNvSpPr/>
          <p:nvPr/>
        </p:nvSpPr>
        <p:spPr>
          <a:xfrm>
            <a:off x="2359152" y="905256"/>
            <a:ext cx="685800" cy="256032"/>
          </a:xfrm>
          <a:prstGeom prst="rect">
            <a:avLst/>
          </a:prstGeom>
          <a:noFill/>
          <a:ln/>
        </p:spPr>
        <p:txBody>
          <a:bodyPr wrap="square" rtlCol="0" anchor="ctr"/>
          <a:lstStyle/>
          <a:p>
            <a:pPr marL="0" indent="0">
              <a:buNone/>
            </a:pPr>
            <a:r>
              <a:rPr lang="en-US" sz="1000" b="1" dirty="0">
                <a:solidFill>
                  <a:srgbClr val="C62828"/>
                </a:solidFill>
                <a:latin typeface="Calibri" pitchFamily="34" charset="0"/>
                <a:ea typeface="Calibri" pitchFamily="34" charset="-122"/>
                <a:cs typeface="Calibri" pitchFamily="34" charset="-120"/>
              </a:rPr>
              <a:t>Impact :</a:t>
            </a:r>
            <a:endParaRPr lang="en-US" sz="1000" dirty="0"/>
          </a:p>
        </p:txBody>
      </p:sp>
      <p:sp>
        <p:nvSpPr>
          <p:cNvPr id="9" name="Text 7"/>
          <p:cNvSpPr/>
          <p:nvPr/>
        </p:nvSpPr>
        <p:spPr>
          <a:xfrm>
            <a:off x="3017520" y="905256"/>
            <a:ext cx="5760720" cy="320040"/>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VoIP inaudible (eco, arret-debouche), jeux inutilisables, visioconference decalee.</a:t>
            </a:r>
            <a:endParaRPr lang="en-US" sz="950" dirty="0"/>
          </a:p>
        </p:txBody>
      </p:sp>
      <p:sp>
        <p:nvSpPr>
          <p:cNvPr id="10" name="Text 8"/>
          <p:cNvSpPr/>
          <p:nvPr/>
        </p:nvSpPr>
        <p:spPr>
          <a:xfrm>
            <a:off x="2359152" y="1344168"/>
            <a:ext cx="685800" cy="256032"/>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Remede :</a:t>
            </a:r>
            <a:endParaRPr lang="en-US" sz="1000" dirty="0"/>
          </a:p>
        </p:txBody>
      </p:sp>
      <p:sp>
        <p:nvSpPr>
          <p:cNvPr id="11" name="Text 9"/>
          <p:cNvSpPr/>
          <p:nvPr/>
        </p:nvSpPr>
        <p:spPr>
          <a:xfrm>
            <a:off x="3017520" y="1344168"/>
            <a:ext cx="5760720" cy="347472"/>
          </a:xfrm>
          <a:prstGeom prst="rect">
            <a:avLst/>
          </a:prstGeom>
          <a:noFill/>
          <a:ln/>
        </p:spPr>
        <p:txBody>
          <a:bodyPr wrap="square" rtlCol="0" anchor="ctr"/>
          <a:lstStyle/>
          <a:p>
            <a:pPr marL="0" indent="0">
              <a:buNone/>
            </a:pPr>
            <a:r>
              <a:rPr lang="en-US" sz="950" dirty="0">
                <a:solidFill>
                  <a:srgbClr val="424242"/>
                </a:solidFill>
                <a:latin typeface="Calibri" pitchFamily="34" charset="0"/>
                <a:ea typeface="Calibri" pitchFamily="34" charset="-122"/>
                <a:cs typeface="Calibri" pitchFamily="34" charset="-120"/>
              </a:rPr>
              <a:t>Routage optimise (chemins plus courts), files EF prioritaires, CDN (rapprocher les contenus).</a:t>
            </a:r>
            <a:endParaRPr lang="en-US" sz="950" dirty="0"/>
          </a:p>
        </p:txBody>
      </p:sp>
      <p:sp>
        <p:nvSpPr>
          <p:cNvPr id="12" name="Shape 10"/>
          <p:cNvSpPr/>
          <p:nvPr/>
        </p:nvSpPr>
        <p:spPr>
          <a:xfrm>
            <a:off x="256032" y="1874520"/>
            <a:ext cx="8631936" cy="896112"/>
          </a:xfrm>
          <a:prstGeom prst="rect">
            <a:avLst/>
          </a:prstGeom>
          <a:solidFill>
            <a:srgbClr val="FFFFFF"/>
          </a:solidFill>
          <a:ln w="12700">
            <a:solidFill>
              <a:srgbClr val="E65100"/>
            </a:solidFill>
            <a:prstDash val="solid"/>
          </a:ln>
          <a:effectLst>
            <a:outerShdw blurRad="63500" dist="25400" dir="8100000" algn="bl" rotWithShape="0">
              <a:srgbClr val="000000">
                <a:alpha val="10000"/>
              </a:srgbClr>
            </a:outerShdw>
          </a:effectLst>
        </p:spPr>
      </p:sp>
      <p:sp>
        <p:nvSpPr>
          <p:cNvPr id="13" name="Shape 11"/>
          <p:cNvSpPr/>
          <p:nvPr/>
        </p:nvSpPr>
        <p:spPr>
          <a:xfrm>
            <a:off x="256032" y="1874520"/>
            <a:ext cx="2011680" cy="896112"/>
          </a:xfrm>
          <a:prstGeom prst="rect">
            <a:avLst/>
          </a:prstGeom>
          <a:solidFill>
            <a:srgbClr val="E65100">
              <a:alpha val="15000"/>
            </a:srgbClr>
          </a:solidFill>
          <a:ln/>
        </p:spPr>
      </p:sp>
      <p:sp>
        <p:nvSpPr>
          <p:cNvPr id="14" name="Text 12"/>
          <p:cNvSpPr/>
          <p:nvPr/>
        </p:nvSpPr>
        <p:spPr>
          <a:xfrm>
            <a:off x="347472" y="1911096"/>
            <a:ext cx="1828800" cy="347472"/>
          </a:xfrm>
          <a:prstGeom prst="rect">
            <a:avLst/>
          </a:prstGeom>
          <a:noFill/>
          <a:ln/>
        </p:spPr>
        <p:txBody>
          <a:bodyPr wrap="square" rtlCol="0" anchor="ctr"/>
          <a:lstStyle/>
          <a:p>
            <a:pPr marL="0" indent="0">
              <a:buNone/>
            </a:pPr>
            <a:r>
              <a:rPr lang="en-US" sz="1200" b="1" dirty="0">
                <a:solidFill>
                  <a:srgbClr val="E65100"/>
                </a:solidFill>
                <a:latin typeface="Calibri" pitchFamily="34" charset="0"/>
                <a:ea typeface="Calibri" pitchFamily="34" charset="-122"/>
                <a:cs typeface="Calibri" pitchFamily="34" charset="-120"/>
              </a:rPr>
              <a:t>Gigue importante</a:t>
            </a:r>
            <a:endParaRPr lang="en-US" sz="1200" dirty="0"/>
          </a:p>
        </p:txBody>
      </p:sp>
      <p:sp>
        <p:nvSpPr>
          <p:cNvPr id="15" name="Text 13"/>
          <p:cNvSpPr/>
          <p:nvPr/>
        </p:nvSpPr>
        <p:spPr>
          <a:xfrm>
            <a:off x="2359152" y="1911096"/>
            <a:ext cx="685800" cy="256032"/>
          </a:xfrm>
          <a:prstGeom prst="rect">
            <a:avLst/>
          </a:prstGeom>
          <a:noFill/>
          <a:ln/>
        </p:spPr>
        <p:txBody>
          <a:bodyPr wrap="square" rtlCol="0" anchor="ctr"/>
          <a:lstStyle/>
          <a:p>
            <a:pPr marL="0" indent="0">
              <a:buNone/>
            </a:pPr>
            <a:r>
              <a:rPr lang="en-US" sz="1000" b="1" dirty="0">
                <a:solidFill>
                  <a:srgbClr val="C62828"/>
                </a:solidFill>
                <a:latin typeface="Calibri" pitchFamily="34" charset="0"/>
                <a:ea typeface="Calibri" pitchFamily="34" charset="-122"/>
                <a:cs typeface="Calibri" pitchFamily="34" charset="-120"/>
              </a:rPr>
              <a:t>Impact :</a:t>
            </a:r>
            <a:endParaRPr lang="en-US" sz="1000" dirty="0"/>
          </a:p>
        </p:txBody>
      </p:sp>
      <p:sp>
        <p:nvSpPr>
          <p:cNvPr id="16" name="Text 14"/>
          <p:cNvSpPr/>
          <p:nvPr/>
        </p:nvSpPr>
        <p:spPr>
          <a:xfrm>
            <a:off x="3017520" y="1911096"/>
            <a:ext cx="5760720" cy="320040"/>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Audio saccade, video qui saute, paquets reordonnes (hors sequence).</a:t>
            </a:r>
            <a:endParaRPr lang="en-US" sz="950" dirty="0"/>
          </a:p>
        </p:txBody>
      </p:sp>
      <p:sp>
        <p:nvSpPr>
          <p:cNvPr id="17" name="Text 15"/>
          <p:cNvSpPr/>
          <p:nvPr/>
        </p:nvSpPr>
        <p:spPr>
          <a:xfrm>
            <a:off x="2359152" y="2350008"/>
            <a:ext cx="685800" cy="256032"/>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Remede :</a:t>
            </a:r>
            <a:endParaRPr lang="en-US" sz="1000" dirty="0"/>
          </a:p>
        </p:txBody>
      </p:sp>
      <p:sp>
        <p:nvSpPr>
          <p:cNvPr id="18" name="Text 16"/>
          <p:cNvSpPr/>
          <p:nvPr/>
        </p:nvSpPr>
        <p:spPr>
          <a:xfrm>
            <a:off x="3017520" y="2350008"/>
            <a:ext cx="5760720" cy="347472"/>
          </a:xfrm>
          <a:prstGeom prst="rect">
            <a:avLst/>
          </a:prstGeom>
          <a:noFill/>
          <a:ln/>
        </p:spPr>
        <p:txBody>
          <a:bodyPr wrap="square" rtlCol="0" anchor="ctr"/>
          <a:lstStyle/>
          <a:p>
            <a:pPr marL="0" indent="0">
              <a:buNone/>
            </a:pPr>
            <a:r>
              <a:rPr lang="en-US" sz="950" dirty="0">
                <a:solidFill>
                  <a:srgbClr val="424242"/>
                </a:solidFill>
                <a:latin typeface="Calibri" pitchFamily="34" charset="0"/>
                <a:ea typeface="Calibri" pitchFamily="34" charset="-122"/>
                <a:cs typeface="Calibri" pitchFamily="34" charset="-120"/>
              </a:rPr>
              <a:t>Jitter buffer adequat, WFQ/WRR pour lisser, reservation de bande passante pour les flux sensibles.</a:t>
            </a:r>
            <a:endParaRPr lang="en-US" sz="950" dirty="0"/>
          </a:p>
        </p:txBody>
      </p:sp>
      <p:sp>
        <p:nvSpPr>
          <p:cNvPr id="19" name="Shape 17"/>
          <p:cNvSpPr/>
          <p:nvPr/>
        </p:nvSpPr>
        <p:spPr>
          <a:xfrm>
            <a:off x="256032" y="2880360"/>
            <a:ext cx="8631936" cy="896112"/>
          </a:xfrm>
          <a:prstGeom prst="rect">
            <a:avLst/>
          </a:prstGeom>
          <a:solidFill>
            <a:srgbClr val="FFFFFF"/>
          </a:solidFill>
          <a:ln w="12700">
            <a:solidFill>
              <a:srgbClr val="1565C0"/>
            </a:solidFill>
            <a:prstDash val="solid"/>
          </a:ln>
          <a:effectLst>
            <a:outerShdw blurRad="63500" dist="25400" dir="8100000" algn="bl" rotWithShape="0">
              <a:srgbClr val="000000">
                <a:alpha val="10000"/>
              </a:srgbClr>
            </a:outerShdw>
          </a:effectLst>
        </p:spPr>
      </p:sp>
      <p:sp>
        <p:nvSpPr>
          <p:cNvPr id="20" name="Shape 18"/>
          <p:cNvSpPr/>
          <p:nvPr/>
        </p:nvSpPr>
        <p:spPr>
          <a:xfrm>
            <a:off x="256032" y="2880360"/>
            <a:ext cx="2011680" cy="896112"/>
          </a:xfrm>
          <a:prstGeom prst="rect">
            <a:avLst/>
          </a:prstGeom>
          <a:solidFill>
            <a:srgbClr val="1565C0">
              <a:alpha val="15000"/>
            </a:srgbClr>
          </a:solidFill>
          <a:ln/>
        </p:spPr>
      </p:sp>
      <p:sp>
        <p:nvSpPr>
          <p:cNvPr id="21" name="Text 19"/>
          <p:cNvSpPr/>
          <p:nvPr/>
        </p:nvSpPr>
        <p:spPr>
          <a:xfrm>
            <a:off x="347472" y="2916936"/>
            <a:ext cx="1828800" cy="347472"/>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Perte de paquets</a:t>
            </a:r>
            <a:endParaRPr lang="en-US" sz="1200" dirty="0"/>
          </a:p>
        </p:txBody>
      </p:sp>
      <p:sp>
        <p:nvSpPr>
          <p:cNvPr id="22" name="Text 20"/>
          <p:cNvSpPr/>
          <p:nvPr/>
        </p:nvSpPr>
        <p:spPr>
          <a:xfrm>
            <a:off x="2359152" y="2916936"/>
            <a:ext cx="685800" cy="256032"/>
          </a:xfrm>
          <a:prstGeom prst="rect">
            <a:avLst/>
          </a:prstGeom>
          <a:noFill/>
          <a:ln/>
        </p:spPr>
        <p:txBody>
          <a:bodyPr wrap="square" rtlCol="0" anchor="ctr"/>
          <a:lstStyle/>
          <a:p>
            <a:pPr marL="0" indent="0">
              <a:buNone/>
            </a:pPr>
            <a:r>
              <a:rPr lang="en-US" sz="1000" b="1" dirty="0">
                <a:solidFill>
                  <a:srgbClr val="C62828"/>
                </a:solidFill>
                <a:latin typeface="Calibri" pitchFamily="34" charset="0"/>
                <a:ea typeface="Calibri" pitchFamily="34" charset="-122"/>
                <a:cs typeface="Calibri" pitchFamily="34" charset="-120"/>
              </a:rPr>
              <a:t>Impact :</a:t>
            </a:r>
            <a:endParaRPr lang="en-US" sz="1000" dirty="0"/>
          </a:p>
        </p:txBody>
      </p:sp>
      <p:sp>
        <p:nvSpPr>
          <p:cNvPr id="23" name="Text 21"/>
          <p:cNvSpPr/>
          <p:nvPr/>
        </p:nvSpPr>
        <p:spPr>
          <a:xfrm>
            <a:off x="3017520" y="2916936"/>
            <a:ext cx="5760720" cy="320040"/>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VoIP : coupures, silences. Video : artefacts macroblocs. TCP : ralentissement par retransmission.</a:t>
            </a:r>
            <a:endParaRPr lang="en-US" sz="950" dirty="0"/>
          </a:p>
        </p:txBody>
      </p:sp>
      <p:sp>
        <p:nvSpPr>
          <p:cNvPr id="24" name="Text 22"/>
          <p:cNvSpPr/>
          <p:nvPr/>
        </p:nvSpPr>
        <p:spPr>
          <a:xfrm>
            <a:off x="2359152" y="3355848"/>
            <a:ext cx="685800" cy="256032"/>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Remede :</a:t>
            </a:r>
            <a:endParaRPr lang="en-US" sz="1000" dirty="0"/>
          </a:p>
        </p:txBody>
      </p:sp>
      <p:sp>
        <p:nvSpPr>
          <p:cNvPr id="25" name="Text 23"/>
          <p:cNvSpPr/>
          <p:nvPr/>
        </p:nvSpPr>
        <p:spPr>
          <a:xfrm>
            <a:off x="3017520" y="3355848"/>
            <a:ext cx="5760720" cy="347472"/>
          </a:xfrm>
          <a:prstGeom prst="rect">
            <a:avLst/>
          </a:prstGeom>
          <a:noFill/>
          <a:ln/>
        </p:spPr>
        <p:txBody>
          <a:bodyPr wrap="square" rtlCol="0" anchor="ctr"/>
          <a:lstStyle/>
          <a:p>
            <a:pPr marL="0" indent="0">
              <a:buNone/>
            </a:pPr>
            <a:r>
              <a:rPr lang="en-US" sz="950" dirty="0">
                <a:solidFill>
                  <a:srgbClr val="424242"/>
                </a:solidFill>
                <a:latin typeface="Calibri" pitchFamily="34" charset="0"/>
                <a:ea typeface="Calibri" pitchFamily="34" charset="-122"/>
                <a:cs typeface="Calibri" pitchFamily="34" charset="-120"/>
              </a:rPr>
              <a:t>WRED (rejet precoce), FEC (Forward Error Correction), amelioration fiabilite des liens physiques.</a:t>
            </a:r>
            <a:endParaRPr lang="en-US" sz="950" dirty="0"/>
          </a:p>
        </p:txBody>
      </p:sp>
      <p:sp>
        <p:nvSpPr>
          <p:cNvPr id="26" name="Shape 24"/>
          <p:cNvSpPr/>
          <p:nvPr/>
        </p:nvSpPr>
        <p:spPr>
          <a:xfrm>
            <a:off x="256032" y="3886200"/>
            <a:ext cx="8631936" cy="896112"/>
          </a:xfrm>
          <a:prstGeom prst="rect">
            <a:avLst/>
          </a:prstGeom>
          <a:solidFill>
            <a:srgbClr val="FFFFFF"/>
          </a:solidFill>
          <a:ln w="12700">
            <a:solidFill>
              <a:srgbClr val="00796B"/>
            </a:solidFill>
            <a:prstDash val="solid"/>
          </a:ln>
          <a:effectLst>
            <a:outerShdw blurRad="63500" dist="25400" dir="8100000" algn="bl" rotWithShape="0">
              <a:srgbClr val="000000">
                <a:alpha val="10000"/>
              </a:srgbClr>
            </a:outerShdw>
          </a:effectLst>
        </p:spPr>
      </p:sp>
      <p:sp>
        <p:nvSpPr>
          <p:cNvPr id="27" name="Shape 25"/>
          <p:cNvSpPr/>
          <p:nvPr/>
        </p:nvSpPr>
        <p:spPr>
          <a:xfrm>
            <a:off x="256032" y="3886200"/>
            <a:ext cx="2011680" cy="896112"/>
          </a:xfrm>
          <a:prstGeom prst="rect">
            <a:avLst/>
          </a:prstGeom>
          <a:solidFill>
            <a:srgbClr val="00796B">
              <a:alpha val="15000"/>
            </a:srgbClr>
          </a:solidFill>
          <a:ln/>
        </p:spPr>
      </p:sp>
      <p:sp>
        <p:nvSpPr>
          <p:cNvPr id="28" name="Text 26"/>
          <p:cNvSpPr/>
          <p:nvPr/>
        </p:nvSpPr>
        <p:spPr>
          <a:xfrm>
            <a:off x="347472" y="3922776"/>
            <a:ext cx="1828800" cy="347472"/>
          </a:xfrm>
          <a:prstGeom prst="rect">
            <a:avLst/>
          </a:prstGeom>
          <a:noFill/>
          <a:ln/>
        </p:spPr>
        <p:txBody>
          <a:bodyPr wrap="square" rtlCol="0" anchor="ctr"/>
          <a:lstStyle/>
          <a:p>
            <a:pPr marL="0" indent="0">
              <a:buNone/>
            </a:pPr>
            <a:r>
              <a:rPr lang="en-US" sz="1200" b="1" dirty="0">
                <a:solidFill>
                  <a:srgbClr val="00796B"/>
                </a:solidFill>
                <a:latin typeface="Calibri" pitchFamily="34" charset="0"/>
                <a:ea typeface="Calibri" pitchFamily="34" charset="-122"/>
                <a:cs typeface="Calibri" pitchFamily="34" charset="-120"/>
              </a:rPr>
              <a:t>Debit insuffisant</a:t>
            </a:r>
            <a:endParaRPr lang="en-US" sz="1200" dirty="0"/>
          </a:p>
        </p:txBody>
      </p:sp>
      <p:sp>
        <p:nvSpPr>
          <p:cNvPr id="29" name="Text 27"/>
          <p:cNvSpPr/>
          <p:nvPr/>
        </p:nvSpPr>
        <p:spPr>
          <a:xfrm>
            <a:off x="2359152" y="3922776"/>
            <a:ext cx="685800" cy="256032"/>
          </a:xfrm>
          <a:prstGeom prst="rect">
            <a:avLst/>
          </a:prstGeom>
          <a:noFill/>
          <a:ln/>
        </p:spPr>
        <p:txBody>
          <a:bodyPr wrap="square" rtlCol="0" anchor="ctr"/>
          <a:lstStyle/>
          <a:p>
            <a:pPr marL="0" indent="0">
              <a:buNone/>
            </a:pPr>
            <a:r>
              <a:rPr lang="en-US" sz="1000" b="1" dirty="0">
                <a:solidFill>
                  <a:srgbClr val="C62828"/>
                </a:solidFill>
                <a:latin typeface="Calibri" pitchFamily="34" charset="0"/>
                <a:ea typeface="Calibri" pitchFamily="34" charset="-122"/>
                <a:cs typeface="Calibri" pitchFamily="34" charset="-120"/>
              </a:rPr>
              <a:t>Impact :</a:t>
            </a:r>
            <a:endParaRPr lang="en-US" sz="1000" dirty="0"/>
          </a:p>
        </p:txBody>
      </p:sp>
      <p:sp>
        <p:nvSpPr>
          <p:cNvPr id="30" name="Text 28"/>
          <p:cNvSpPr/>
          <p:nvPr/>
        </p:nvSpPr>
        <p:spPr>
          <a:xfrm>
            <a:off x="3017520" y="3922776"/>
            <a:ext cx="5760720" cy="320040"/>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Congestion generalisee, impossible de respecter les SLA, tous les services degradés.</a:t>
            </a:r>
            <a:endParaRPr lang="en-US" sz="950" dirty="0"/>
          </a:p>
        </p:txBody>
      </p:sp>
      <p:sp>
        <p:nvSpPr>
          <p:cNvPr id="31" name="Text 29"/>
          <p:cNvSpPr/>
          <p:nvPr/>
        </p:nvSpPr>
        <p:spPr>
          <a:xfrm>
            <a:off x="2359152" y="4361688"/>
            <a:ext cx="685800" cy="256032"/>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Remede :</a:t>
            </a:r>
            <a:endParaRPr lang="en-US" sz="1000" dirty="0"/>
          </a:p>
        </p:txBody>
      </p:sp>
      <p:sp>
        <p:nvSpPr>
          <p:cNvPr id="32" name="Text 30"/>
          <p:cNvSpPr/>
          <p:nvPr/>
        </p:nvSpPr>
        <p:spPr>
          <a:xfrm>
            <a:off x="3017520" y="4361688"/>
            <a:ext cx="5760720" cy="347472"/>
          </a:xfrm>
          <a:prstGeom prst="rect">
            <a:avLst/>
          </a:prstGeom>
          <a:noFill/>
          <a:ln/>
        </p:spPr>
        <p:txBody>
          <a:bodyPr wrap="square" rtlCol="0" anchor="ctr"/>
          <a:lstStyle/>
          <a:p>
            <a:pPr marL="0" indent="0">
              <a:buNone/>
            </a:pPr>
            <a:r>
              <a:rPr lang="en-US" sz="950" dirty="0">
                <a:solidFill>
                  <a:srgbClr val="424242"/>
                </a:solidFill>
                <a:latin typeface="Calibri" pitchFamily="34" charset="0"/>
                <a:ea typeface="Calibri" pitchFamily="34" charset="-122"/>
                <a:cs typeface="Calibri" pitchFamily="34" charset="-120"/>
              </a:rPr>
              <a:t>Dimensionnement des equipements, compression (H.265 vs H.264), controle d admission (CAC).</a:t>
            </a:r>
            <a:endParaRPr lang="en-US" sz="950" dirty="0"/>
          </a:p>
        </p:txBody>
      </p:sp>
    </p:spTree>
    <p:extLst>
      <p:ext uri="{BB962C8B-B14F-4D97-AF65-F5344CB8AC3E}">
        <p14:creationId xmlns:p14="http://schemas.microsoft.com/office/powerpoint/2010/main" val="4099311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796B"/>
          </a:solidFill>
          <a:ln/>
        </p:spPr>
      </p:sp>
      <p:sp>
        <p:nvSpPr>
          <p:cNvPr id="3" name="Text 1"/>
          <p:cNvSpPr/>
          <p:nvPr/>
        </p:nvSpPr>
        <p:spPr>
          <a:xfrm>
            <a:off x="502920" y="548640"/>
            <a:ext cx="2286000" cy="1371600"/>
          </a:xfrm>
          <a:prstGeom prst="rect">
            <a:avLst/>
          </a:prstGeom>
          <a:noFill/>
          <a:ln/>
        </p:spPr>
        <p:txBody>
          <a:bodyPr wrap="square" rtlCol="0" anchor="ctr"/>
          <a:lstStyle/>
          <a:p>
            <a:pPr marL="0" indent="0">
              <a:buNone/>
            </a:pPr>
            <a:r>
              <a:rPr lang="en-US" sz="7200" b="1" dirty="0">
                <a:solidFill>
                  <a:srgbClr val="00796B">
                    <a:alpha val="75000"/>
                  </a:srgbClr>
                </a:solidFill>
                <a:latin typeface="Calibri" pitchFamily="34" charset="0"/>
                <a:ea typeface="Calibri" pitchFamily="34" charset="-122"/>
                <a:cs typeface="Calibri" pitchFamily="34" charset="-120"/>
              </a:rPr>
              <a:t>08</a:t>
            </a:r>
            <a:endParaRPr lang="en-US" sz="7200" dirty="0"/>
          </a:p>
        </p:txBody>
      </p:sp>
      <p:sp>
        <p:nvSpPr>
          <p:cNvPr id="4" name="Text 2"/>
          <p:cNvSpPr/>
          <p:nvPr/>
        </p:nvSpPr>
        <p:spPr>
          <a:xfrm>
            <a:off x="502920" y="1828800"/>
            <a:ext cx="8321040" cy="8229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QoS dans les reseaux modernes</a:t>
            </a:r>
            <a:endParaRPr lang="en-US" sz="3400" dirty="0"/>
          </a:p>
        </p:txBody>
      </p:sp>
      <p:sp>
        <p:nvSpPr>
          <p:cNvPr id="5" name="Text 3"/>
          <p:cNvSpPr/>
          <p:nvPr/>
        </p:nvSpPr>
        <p:spPr>
          <a:xfrm>
            <a:off x="502920" y="2697480"/>
            <a:ext cx="8229600" cy="457200"/>
          </a:xfrm>
          <a:prstGeom prst="rect">
            <a:avLst/>
          </a:prstGeom>
          <a:noFill/>
          <a:ln/>
        </p:spPr>
        <p:txBody>
          <a:bodyPr wrap="square" rtlCol="0" anchor="ctr"/>
          <a:lstStyle/>
          <a:p>
            <a:pPr marL="0" indent="0">
              <a:buNone/>
            </a:pPr>
            <a:r>
              <a:rPr lang="en-US" sz="1400" i="1" dirty="0">
                <a:solidFill>
                  <a:srgbClr val="BDBDBD"/>
                </a:solidFill>
                <a:latin typeface="Calibri" pitchFamily="34" charset="0"/>
                <a:ea typeface="Calibri" pitchFamily="34" charset="-122"/>
                <a:cs typeface="Calibri" pitchFamily="34" charset="-120"/>
              </a:rPr>
              <a:t>Wi-Fi 802.11e · 5G Slicing · Cloud · SDN/NFV</a:t>
            </a:r>
            <a:endParaRPr lang="en-US" sz="1400" dirty="0"/>
          </a:p>
        </p:txBody>
      </p:sp>
      <p:sp>
        <p:nvSpPr>
          <p:cNvPr id="6" name="Shape 4"/>
          <p:cNvSpPr/>
          <p:nvPr/>
        </p:nvSpPr>
        <p:spPr>
          <a:xfrm>
            <a:off x="0" y="4919472"/>
            <a:ext cx="9144000" cy="228600"/>
          </a:xfrm>
          <a:prstGeom prst="rect">
            <a:avLst/>
          </a:prstGeom>
          <a:solidFill>
            <a:srgbClr val="00796B"/>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796B"/>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QoS Wi-Fi (802.11e/WMM) et 5G — Reseaux sans fil</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256032" y="822960"/>
            <a:ext cx="4206240" cy="411480"/>
          </a:xfrm>
          <a:prstGeom prst="rect">
            <a:avLst/>
          </a:prstGeom>
          <a:solidFill>
            <a:srgbClr val="1565C0"/>
          </a:solidFill>
          <a:ln/>
        </p:spPr>
      </p:sp>
      <p:sp>
        <p:nvSpPr>
          <p:cNvPr id="6" name="Text 4"/>
          <p:cNvSpPr/>
          <p:nvPr/>
        </p:nvSpPr>
        <p:spPr>
          <a:xfrm>
            <a:off x="256032" y="822960"/>
            <a:ext cx="420624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Wi-Fi 802.11e / WMM — 4 categories d acces</a:t>
            </a:r>
            <a:endParaRPr lang="en-US" sz="1300" dirty="0"/>
          </a:p>
        </p:txBody>
      </p:sp>
      <p:sp>
        <p:nvSpPr>
          <p:cNvPr id="7" name="Text 5"/>
          <p:cNvSpPr/>
          <p:nvPr/>
        </p:nvSpPr>
        <p:spPr>
          <a:xfrm>
            <a:off x="256032" y="1280160"/>
            <a:ext cx="4206240" cy="256032"/>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Sans QoS Wi-Fi, voix et telechargements se battent pour le canal radio.</a:t>
            </a:r>
            <a:endParaRPr lang="en-US" sz="1100" dirty="0"/>
          </a:p>
        </p:txBody>
      </p:sp>
      <p:sp>
        <p:nvSpPr>
          <p:cNvPr id="8" name="Shape 6"/>
          <p:cNvSpPr/>
          <p:nvPr/>
        </p:nvSpPr>
        <p:spPr>
          <a:xfrm>
            <a:off x="256032" y="1600200"/>
            <a:ext cx="4206240" cy="530352"/>
          </a:xfrm>
          <a:prstGeom prst="rect">
            <a:avLst/>
          </a:prstGeom>
          <a:solidFill>
            <a:srgbClr val="F5F5F5"/>
          </a:solidFill>
          <a:ln w="3810">
            <a:solidFill>
              <a:srgbClr val="BDBDBD"/>
            </a:solidFill>
            <a:prstDash val="solid"/>
          </a:ln>
        </p:spPr>
      </p:sp>
      <p:sp>
        <p:nvSpPr>
          <p:cNvPr id="9" name="Shape 7"/>
          <p:cNvSpPr/>
          <p:nvPr/>
        </p:nvSpPr>
        <p:spPr>
          <a:xfrm>
            <a:off x="256032" y="1600200"/>
            <a:ext cx="64008" cy="530352"/>
          </a:xfrm>
          <a:prstGeom prst="rect">
            <a:avLst/>
          </a:prstGeom>
          <a:solidFill>
            <a:srgbClr val="C62828"/>
          </a:solidFill>
          <a:ln/>
        </p:spPr>
      </p:sp>
      <p:sp>
        <p:nvSpPr>
          <p:cNvPr id="10" name="Text 8"/>
          <p:cNvSpPr/>
          <p:nvPr/>
        </p:nvSpPr>
        <p:spPr>
          <a:xfrm>
            <a:off x="384048" y="1636776"/>
            <a:ext cx="822960" cy="201168"/>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AC_VO</a:t>
            </a:r>
            <a:endParaRPr lang="en-US" sz="1100" dirty="0"/>
          </a:p>
        </p:txBody>
      </p:sp>
      <p:sp>
        <p:nvSpPr>
          <p:cNvPr id="11" name="Text 9"/>
          <p:cNvSpPr/>
          <p:nvPr/>
        </p:nvSpPr>
        <p:spPr>
          <a:xfrm>
            <a:off x="1261872" y="1636776"/>
            <a:ext cx="960120" cy="201168"/>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Voix</a:t>
            </a:r>
            <a:endParaRPr lang="en-US" sz="1100" dirty="0"/>
          </a:p>
        </p:txBody>
      </p:sp>
      <p:sp>
        <p:nvSpPr>
          <p:cNvPr id="12" name="Shape 10"/>
          <p:cNvSpPr/>
          <p:nvPr/>
        </p:nvSpPr>
        <p:spPr>
          <a:xfrm>
            <a:off x="2286000" y="1664208"/>
            <a:ext cx="1078992" cy="274320"/>
          </a:xfrm>
          <a:prstGeom prst="rect">
            <a:avLst/>
          </a:prstGeom>
          <a:solidFill>
            <a:srgbClr val="C62828">
              <a:alpha val="22000"/>
            </a:srgbClr>
          </a:solidFill>
          <a:ln w="6350">
            <a:solidFill>
              <a:srgbClr val="C62828"/>
            </a:solidFill>
            <a:prstDash val="solid"/>
          </a:ln>
        </p:spPr>
      </p:sp>
      <p:sp>
        <p:nvSpPr>
          <p:cNvPr id="13" name="Text 11"/>
          <p:cNvSpPr/>
          <p:nvPr/>
        </p:nvSpPr>
        <p:spPr>
          <a:xfrm>
            <a:off x="2286000" y="1664208"/>
            <a:ext cx="1078992" cy="274320"/>
          </a:xfrm>
          <a:prstGeom prst="rect">
            <a:avLst/>
          </a:prstGeom>
          <a:noFill/>
          <a:ln/>
        </p:spPr>
        <p:txBody>
          <a:bodyPr wrap="square" rtlCol="0" anchor="ctr"/>
          <a:lstStyle/>
          <a:p>
            <a:pPr marL="0" indent="0" algn="ctr">
              <a:buNone/>
            </a:pPr>
            <a:r>
              <a:rPr lang="en-US" sz="1100" b="1" dirty="0">
                <a:solidFill>
                  <a:srgbClr val="C62828"/>
                </a:solidFill>
                <a:latin typeface="Calibri" pitchFamily="34" charset="0"/>
                <a:ea typeface="Calibri" pitchFamily="34" charset="-122"/>
                <a:cs typeface="Calibri" pitchFamily="34" charset="-120"/>
              </a:rPr>
              <a:t>Tres haute</a:t>
            </a:r>
            <a:endParaRPr lang="en-US" sz="1100" dirty="0"/>
          </a:p>
        </p:txBody>
      </p:sp>
      <p:sp>
        <p:nvSpPr>
          <p:cNvPr id="14" name="Text 12"/>
          <p:cNvSpPr/>
          <p:nvPr/>
        </p:nvSpPr>
        <p:spPr>
          <a:xfrm>
            <a:off x="3429000" y="1664208"/>
            <a:ext cx="960120" cy="274320"/>
          </a:xfrm>
          <a:prstGeom prst="rect">
            <a:avLst/>
          </a:prstGeom>
          <a:noFill/>
          <a:ln/>
        </p:spPr>
        <p:txBody>
          <a:bodyPr wrap="square" rtlCol="0" anchor="ctr"/>
          <a:lstStyle/>
          <a:p>
            <a:pPr marL="0" indent="0">
              <a:buNone/>
            </a:pPr>
            <a:r>
              <a:rPr lang="en-US" sz="1050" dirty="0">
                <a:solidFill>
                  <a:srgbClr val="757575"/>
                </a:solidFill>
                <a:latin typeface="Calibri" pitchFamily="34" charset="0"/>
                <a:ea typeface="Calibri" pitchFamily="34" charset="-122"/>
                <a:cs typeface="Calibri" pitchFamily="34" charset="-120"/>
              </a:rPr>
              <a:t>VoIP, appels</a:t>
            </a:r>
            <a:endParaRPr lang="en-US" sz="1050" dirty="0"/>
          </a:p>
        </p:txBody>
      </p:sp>
      <p:sp>
        <p:nvSpPr>
          <p:cNvPr id="15" name="Shape 13"/>
          <p:cNvSpPr/>
          <p:nvPr/>
        </p:nvSpPr>
        <p:spPr>
          <a:xfrm>
            <a:off x="256032" y="2194560"/>
            <a:ext cx="4206240" cy="530352"/>
          </a:xfrm>
          <a:prstGeom prst="rect">
            <a:avLst/>
          </a:prstGeom>
          <a:solidFill>
            <a:srgbClr val="F5F5F5"/>
          </a:solidFill>
          <a:ln w="3810">
            <a:solidFill>
              <a:srgbClr val="BDBDBD"/>
            </a:solidFill>
            <a:prstDash val="solid"/>
          </a:ln>
        </p:spPr>
      </p:sp>
      <p:sp>
        <p:nvSpPr>
          <p:cNvPr id="16" name="Shape 14"/>
          <p:cNvSpPr/>
          <p:nvPr/>
        </p:nvSpPr>
        <p:spPr>
          <a:xfrm>
            <a:off x="256032" y="2194560"/>
            <a:ext cx="64008" cy="530352"/>
          </a:xfrm>
          <a:prstGeom prst="rect">
            <a:avLst/>
          </a:prstGeom>
          <a:solidFill>
            <a:srgbClr val="E65100"/>
          </a:solidFill>
          <a:ln/>
        </p:spPr>
      </p:sp>
      <p:sp>
        <p:nvSpPr>
          <p:cNvPr id="17" name="Text 15"/>
          <p:cNvSpPr/>
          <p:nvPr/>
        </p:nvSpPr>
        <p:spPr>
          <a:xfrm>
            <a:off x="384048" y="2231136"/>
            <a:ext cx="822960" cy="201168"/>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AC_VI</a:t>
            </a:r>
            <a:endParaRPr lang="en-US" sz="1100" dirty="0"/>
          </a:p>
        </p:txBody>
      </p:sp>
      <p:sp>
        <p:nvSpPr>
          <p:cNvPr id="18" name="Text 16"/>
          <p:cNvSpPr/>
          <p:nvPr/>
        </p:nvSpPr>
        <p:spPr>
          <a:xfrm>
            <a:off x="1261872" y="2231136"/>
            <a:ext cx="960120" cy="201168"/>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Video</a:t>
            </a:r>
            <a:endParaRPr lang="en-US" sz="1100" dirty="0"/>
          </a:p>
        </p:txBody>
      </p:sp>
      <p:sp>
        <p:nvSpPr>
          <p:cNvPr id="19" name="Shape 17"/>
          <p:cNvSpPr/>
          <p:nvPr/>
        </p:nvSpPr>
        <p:spPr>
          <a:xfrm>
            <a:off x="2286000" y="2258568"/>
            <a:ext cx="1078992" cy="274320"/>
          </a:xfrm>
          <a:prstGeom prst="rect">
            <a:avLst/>
          </a:prstGeom>
          <a:solidFill>
            <a:srgbClr val="E65100">
              <a:alpha val="22000"/>
            </a:srgbClr>
          </a:solidFill>
          <a:ln w="6350">
            <a:solidFill>
              <a:srgbClr val="E65100"/>
            </a:solidFill>
            <a:prstDash val="solid"/>
          </a:ln>
        </p:spPr>
      </p:sp>
      <p:sp>
        <p:nvSpPr>
          <p:cNvPr id="20" name="Text 18"/>
          <p:cNvSpPr/>
          <p:nvPr/>
        </p:nvSpPr>
        <p:spPr>
          <a:xfrm>
            <a:off x="2286000" y="2258568"/>
            <a:ext cx="1078992" cy="274320"/>
          </a:xfrm>
          <a:prstGeom prst="rect">
            <a:avLst/>
          </a:prstGeom>
          <a:noFill/>
          <a:ln/>
        </p:spPr>
        <p:txBody>
          <a:bodyPr wrap="square" rtlCol="0" anchor="ctr"/>
          <a:lstStyle/>
          <a:p>
            <a:pPr marL="0" indent="0" algn="ctr">
              <a:buNone/>
            </a:pPr>
            <a:r>
              <a:rPr lang="en-US" sz="1100" b="1" dirty="0">
                <a:solidFill>
                  <a:srgbClr val="E65100"/>
                </a:solidFill>
                <a:latin typeface="Calibri" pitchFamily="34" charset="0"/>
                <a:ea typeface="Calibri" pitchFamily="34" charset="-122"/>
                <a:cs typeface="Calibri" pitchFamily="34" charset="-120"/>
              </a:rPr>
              <a:t>Haute</a:t>
            </a:r>
            <a:endParaRPr lang="en-US" sz="1100" dirty="0"/>
          </a:p>
        </p:txBody>
      </p:sp>
      <p:sp>
        <p:nvSpPr>
          <p:cNvPr id="21" name="Text 19"/>
          <p:cNvSpPr/>
          <p:nvPr/>
        </p:nvSpPr>
        <p:spPr>
          <a:xfrm>
            <a:off x="3429000" y="2258568"/>
            <a:ext cx="960120" cy="274320"/>
          </a:xfrm>
          <a:prstGeom prst="rect">
            <a:avLst/>
          </a:prstGeom>
          <a:noFill/>
          <a:ln/>
        </p:spPr>
        <p:txBody>
          <a:bodyPr wrap="square" rtlCol="0" anchor="ctr"/>
          <a:lstStyle/>
          <a:p>
            <a:pPr marL="0" indent="0">
              <a:buNone/>
            </a:pPr>
            <a:r>
              <a:rPr lang="en-US" sz="1050" dirty="0">
                <a:solidFill>
                  <a:srgbClr val="757575"/>
                </a:solidFill>
                <a:latin typeface="Calibri" pitchFamily="34" charset="0"/>
                <a:ea typeface="Calibri" pitchFamily="34" charset="-122"/>
                <a:cs typeface="Calibri" pitchFamily="34" charset="-120"/>
              </a:rPr>
              <a:t>Streaming, IPTV</a:t>
            </a:r>
            <a:endParaRPr lang="en-US" sz="1050" dirty="0"/>
          </a:p>
        </p:txBody>
      </p:sp>
      <p:sp>
        <p:nvSpPr>
          <p:cNvPr id="22" name="Shape 20"/>
          <p:cNvSpPr/>
          <p:nvPr/>
        </p:nvSpPr>
        <p:spPr>
          <a:xfrm>
            <a:off x="256032" y="2788920"/>
            <a:ext cx="4206240" cy="530352"/>
          </a:xfrm>
          <a:prstGeom prst="rect">
            <a:avLst/>
          </a:prstGeom>
          <a:solidFill>
            <a:srgbClr val="F5F5F5"/>
          </a:solidFill>
          <a:ln w="3810">
            <a:solidFill>
              <a:srgbClr val="BDBDBD"/>
            </a:solidFill>
            <a:prstDash val="solid"/>
          </a:ln>
        </p:spPr>
      </p:sp>
      <p:sp>
        <p:nvSpPr>
          <p:cNvPr id="23" name="Shape 21"/>
          <p:cNvSpPr/>
          <p:nvPr/>
        </p:nvSpPr>
        <p:spPr>
          <a:xfrm>
            <a:off x="256032" y="2788920"/>
            <a:ext cx="64008" cy="530352"/>
          </a:xfrm>
          <a:prstGeom prst="rect">
            <a:avLst/>
          </a:prstGeom>
          <a:solidFill>
            <a:srgbClr val="1565C0"/>
          </a:solidFill>
          <a:ln/>
        </p:spPr>
      </p:sp>
      <p:sp>
        <p:nvSpPr>
          <p:cNvPr id="24" name="Text 22"/>
          <p:cNvSpPr/>
          <p:nvPr/>
        </p:nvSpPr>
        <p:spPr>
          <a:xfrm>
            <a:off x="384048" y="2825496"/>
            <a:ext cx="822960" cy="201168"/>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AC_BE</a:t>
            </a:r>
            <a:endParaRPr lang="en-US" sz="1100" dirty="0"/>
          </a:p>
        </p:txBody>
      </p:sp>
      <p:sp>
        <p:nvSpPr>
          <p:cNvPr id="25" name="Text 23"/>
          <p:cNvSpPr/>
          <p:nvPr/>
        </p:nvSpPr>
        <p:spPr>
          <a:xfrm>
            <a:off x="1261872" y="2825496"/>
            <a:ext cx="960120" cy="201168"/>
          </a:xfrm>
          <a:prstGeom prst="rect">
            <a:avLst/>
          </a:prstGeom>
          <a:noFill/>
          <a:ln/>
        </p:spPr>
        <p:txBody>
          <a:bodyPr wrap="square" rtlCol="0" anchor="ctr"/>
          <a:lstStyle/>
          <a:p>
            <a:pPr marL="0" indent="0">
              <a:buNone/>
            </a:pPr>
            <a:r>
              <a:rPr lang="en-US" sz="1050" dirty="0">
                <a:solidFill>
                  <a:srgbClr val="212121"/>
                </a:solidFill>
                <a:latin typeface="Calibri" pitchFamily="34" charset="0"/>
                <a:ea typeface="Calibri" pitchFamily="34" charset="-122"/>
                <a:cs typeface="Calibri" pitchFamily="34" charset="-120"/>
              </a:rPr>
              <a:t>Standard</a:t>
            </a:r>
            <a:endParaRPr lang="en-US" sz="1050" dirty="0"/>
          </a:p>
        </p:txBody>
      </p:sp>
      <p:sp>
        <p:nvSpPr>
          <p:cNvPr id="26" name="Shape 24"/>
          <p:cNvSpPr/>
          <p:nvPr/>
        </p:nvSpPr>
        <p:spPr>
          <a:xfrm>
            <a:off x="2286000" y="2852928"/>
            <a:ext cx="1078992" cy="274320"/>
          </a:xfrm>
          <a:prstGeom prst="rect">
            <a:avLst/>
          </a:prstGeom>
          <a:solidFill>
            <a:srgbClr val="1565C0">
              <a:alpha val="22000"/>
            </a:srgbClr>
          </a:solidFill>
          <a:ln w="6350">
            <a:solidFill>
              <a:srgbClr val="1565C0"/>
            </a:solidFill>
            <a:prstDash val="solid"/>
          </a:ln>
        </p:spPr>
      </p:sp>
      <p:sp>
        <p:nvSpPr>
          <p:cNvPr id="27" name="Text 25"/>
          <p:cNvSpPr/>
          <p:nvPr/>
        </p:nvSpPr>
        <p:spPr>
          <a:xfrm>
            <a:off x="2286000" y="2852928"/>
            <a:ext cx="1078992" cy="274320"/>
          </a:xfrm>
          <a:prstGeom prst="rect">
            <a:avLst/>
          </a:prstGeom>
          <a:noFill/>
          <a:ln/>
        </p:spPr>
        <p:txBody>
          <a:bodyPr wrap="square" rtlCol="0" anchor="ctr"/>
          <a:lstStyle/>
          <a:p>
            <a:pPr marL="0" indent="0" algn="ctr">
              <a:buNone/>
            </a:pPr>
            <a:r>
              <a:rPr lang="en-US" sz="1050" b="1" dirty="0">
                <a:solidFill>
                  <a:srgbClr val="1565C0"/>
                </a:solidFill>
                <a:latin typeface="Calibri" pitchFamily="34" charset="0"/>
                <a:ea typeface="Calibri" pitchFamily="34" charset="-122"/>
                <a:cs typeface="Calibri" pitchFamily="34" charset="-120"/>
              </a:rPr>
              <a:t>Normale</a:t>
            </a:r>
            <a:endParaRPr lang="en-US" sz="1050" dirty="0"/>
          </a:p>
        </p:txBody>
      </p:sp>
      <p:sp>
        <p:nvSpPr>
          <p:cNvPr id="28" name="Text 26"/>
          <p:cNvSpPr/>
          <p:nvPr/>
        </p:nvSpPr>
        <p:spPr>
          <a:xfrm>
            <a:off x="3429000" y="2852928"/>
            <a:ext cx="960120" cy="274320"/>
          </a:xfrm>
          <a:prstGeom prst="rect">
            <a:avLst/>
          </a:prstGeom>
          <a:noFill/>
          <a:ln/>
        </p:spPr>
        <p:txBody>
          <a:bodyPr wrap="square" rtlCol="0" anchor="ctr"/>
          <a:lstStyle/>
          <a:p>
            <a:pPr marL="0" indent="0">
              <a:buNone/>
            </a:pPr>
            <a:r>
              <a:rPr lang="en-US" sz="1100" dirty="0">
                <a:solidFill>
                  <a:srgbClr val="757575"/>
                </a:solidFill>
                <a:latin typeface="Calibri" pitchFamily="34" charset="0"/>
                <a:ea typeface="Calibri" pitchFamily="34" charset="-122"/>
                <a:cs typeface="Calibri" pitchFamily="34" charset="-120"/>
              </a:rPr>
              <a:t>HTTP, email</a:t>
            </a:r>
            <a:endParaRPr lang="en-US" sz="1100" dirty="0"/>
          </a:p>
        </p:txBody>
      </p:sp>
      <p:sp>
        <p:nvSpPr>
          <p:cNvPr id="29" name="Shape 27"/>
          <p:cNvSpPr/>
          <p:nvPr/>
        </p:nvSpPr>
        <p:spPr>
          <a:xfrm>
            <a:off x="256032" y="3383280"/>
            <a:ext cx="4206240" cy="530352"/>
          </a:xfrm>
          <a:prstGeom prst="rect">
            <a:avLst/>
          </a:prstGeom>
          <a:solidFill>
            <a:srgbClr val="F5F5F5"/>
          </a:solidFill>
          <a:ln w="3810">
            <a:solidFill>
              <a:srgbClr val="BDBDBD"/>
            </a:solidFill>
            <a:prstDash val="solid"/>
          </a:ln>
        </p:spPr>
      </p:sp>
      <p:sp>
        <p:nvSpPr>
          <p:cNvPr id="30" name="Shape 28"/>
          <p:cNvSpPr/>
          <p:nvPr/>
        </p:nvSpPr>
        <p:spPr>
          <a:xfrm>
            <a:off x="256032" y="3383280"/>
            <a:ext cx="64008" cy="530352"/>
          </a:xfrm>
          <a:prstGeom prst="rect">
            <a:avLst/>
          </a:prstGeom>
          <a:solidFill>
            <a:srgbClr val="00796B"/>
          </a:solidFill>
          <a:ln/>
        </p:spPr>
      </p:sp>
      <p:sp>
        <p:nvSpPr>
          <p:cNvPr id="31" name="Text 29"/>
          <p:cNvSpPr/>
          <p:nvPr/>
        </p:nvSpPr>
        <p:spPr>
          <a:xfrm>
            <a:off x="384048" y="3419856"/>
            <a:ext cx="822960" cy="201168"/>
          </a:xfrm>
          <a:prstGeom prst="rect">
            <a:avLst/>
          </a:prstGeom>
          <a:noFill/>
          <a:ln/>
        </p:spPr>
        <p:txBody>
          <a:bodyPr wrap="square" rtlCol="0" anchor="ctr"/>
          <a:lstStyle/>
          <a:p>
            <a:pPr marL="0" indent="0">
              <a:buNone/>
            </a:pPr>
            <a:r>
              <a:rPr lang="en-US" sz="1100" b="1" dirty="0">
                <a:solidFill>
                  <a:srgbClr val="00796B"/>
                </a:solidFill>
                <a:latin typeface="Calibri" pitchFamily="34" charset="0"/>
                <a:ea typeface="Calibri" pitchFamily="34" charset="-122"/>
                <a:cs typeface="Calibri" pitchFamily="34" charset="-120"/>
              </a:rPr>
              <a:t>AC_BK</a:t>
            </a:r>
            <a:endParaRPr lang="en-US" sz="1100" dirty="0"/>
          </a:p>
        </p:txBody>
      </p:sp>
      <p:sp>
        <p:nvSpPr>
          <p:cNvPr id="32" name="Text 30"/>
          <p:cNvSpPr/>
          <p:nvPr/>
        </p:nvSpPr>
        <p:spPr>
          <a:xfrm>
            <a:off x="1261872" y="3419856"/>
            <a:ext cx="960120" cy="201168"/>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Arriere-plan</a:t>
            </a:r>
            <a:endParaRPr lang="en-US" sz="1100" dirty="0"/>
          </a:p>
        </p:txBody>
      </p:sp>
      <p:sp>
        <p:nvSpPr>
          <p:cNvPr id="33" name="Shape 31"/>
          <p:cNvSpPr/>
          <p:nvPr/>
        </p:nvSpPr>
        <p:spPr>
          <a:xfrm>
            <a:off x="2286000" y="3447288"/>
            <a:ext cx="1078992" cy="274320"/>
          </a:xfrm>
          <a:prstGeom prst="rect">
            <a:avLst/>
          </a:prstGeom>
          <a:solidFill>
            <a:srgbClr val="00796B">
              <a:alpha val="22000"/>
            </a:srgbClr>
          </a:solidFill>
          <a:ln w="6350">
            <a:solidFill>
              <a:srgbClr val="00796B"/>
            </a:solidFill>
            <a:prstDash val="solid"/>
          </a:ln>
        </p:spPr>
      </p:sp>
      <p:sp>
        <p:nvSpPr>
          <p:cNvPr id="34" name="Text 32"/>
          <p:cNvSpPr/>
          <p:nvPr/>
        </p:nvSpPr>
        <p:spPr>
          <a:xfrm>
            <a:off x="2286000" y="3447288"/>
            <a:ext cx="1078992" cy="274320"/>
          </a:xfrm>
          <a:prstGeom prst="rect">
            <a:avLst/>
          </a:prstGeom>
          <a:noFill/>
          <a:ln/>
        </p:spPr>
        <p:txBody>
          <a:bodyPr wrap="square" rtlCol="0" anchor="ctr"/>
          <a:lstStyle/>
          <a:p>
            <a:pPr marL="0" indent="0" algn="ctr">
              <a:buNone/>
            </a:pPr>
            <a:r>
              <a:rPr lang="en-US" sz="1050" b="1" dirty="0">
                <a:solidFill>
                  <a:srgbClr val="00796B"/>
                </a:solidFill>
                <a:latin typeface="Calibri" pitchFamily="34" charset="0"/>
                <a:ea typeface="Calibri" pitchFamily="34" charset="-122"/>
                <a:cs typeface="Calibri" pitchFamily="34" charset="-120"/>
              </a:rPr>
              <a:t>Faible</a:t>
            </a:r>
            <a:endParaRPr lang="en-US" sz="1050" dirty="0"/>
          </a:p>
        </p:txBody>
      </p:sp>
      <p:sp>
        <p:nvSpPr>
          <p:cNvPr id="35" name="Text 33"/>
          <p:cNvSpPr/>
          <p:nvPr/>
        </p:nvSpPr>
        <p:spPr>
          <a:xfrm>
            <a:off x="3429000" y="3447288"/>
            <a:ext cx="960120" cy="274320"/>
          </a:xfrm>
          <a:prstGeom prst="rect">
            <a:avLst/>
          </a:prstGeom>
          <a:noFill/>
          <a:ln/>
        </p:spPr>
        <p:txBody>
          <a:bodyPr wrap="square" rtlCol="0" anchor="ctr"/>
          <a:lstStyle/>
          <a:p>
            <a:pPr marL="0" indent="0">
              <a:buNone/>
            </a:pPr>
            <a:r>
              <a:rPr lang="en-US" sz="1050" dirty="0">
                <a:solidFill>
                  <a:srgbClr val="757575"/>
                </a:solidFill>
                <a:latin typeface="Calibri" pitchFamily="34" charset="0"/>
                <a:ea typeface="Calibri" pitchFamily="34" charset="-122"/>
                <a:cs typeface="Calibri" pitchFamily="34" charset="-120"/>
              </a:rPr>
              <a:t>P2P, sauvegardes</a:t>
            </a:r>
            <a:endParaRPr lang="en-US" sz="1050" dirty="0"/>
          </a:p>
        </p:txBody>
      </p:sp>
      <p:sp>
        <p:nvSpPr>
          <p:cNvPr id="36" name="Text 34"/>
          <p:cNvSpPr/>
          <p:nvPr/>
        </p:nvSpPr>
        <p:spPr>
          <a:xfrm>
            <a:off x="256032" y="4023360"/>
            <a:ext cx="4206240" cy="530352"/>
          </a:xfrm>
          <a:prstGeom prst="rect">
            <a:avLst/>
          </a:prstGeom>
          <a:noFill/>
          <a:ln/>
        </p:spPr>
        <p:txBody>
          <a:bodyPr wrap="square" rtlCol="0" anchor="ctr"/>
          <a:lstStyle/>
          <a:p>
            <a:pPr marL="0" indent="0">
              <a:buNone/>
            </a:pPr>
            <a:r>
              <a:rPr lang="en-US" sz="1050" i="1" dirty="0">
                <a:latin typeface="Calibri" pitchFamily="34" charset="0"/>
                <a:ea typeface="Calibri" pitchFamily="34" charset="-122"/>
                <a:cs typeface="Calibri" pitchFamily="34" charset="-120"/>
              </a:rPr>
              <a:t>EDCA : chaque AC a un AIFS different (plus court = acces canal plus rapide).</a:t>
            </a:r>
            <a:endParaRPr lang="en-US" sz="1050" dirty="0"/>
          </a:p>
          <a:p>
            <a:pPr marL="0" indent="0">
              <a:buNone/>
            </a:pPr>
            <a:r>
              <a:rPr lang="en-US" sz="1050" i="1" dirty="0">
                <a:latin typeface="Calibri" pitchFamily="34" charset="0"/>
                <a:ea typeface="Calibri" pitchFamily="34" charset="-122"/>
                <a:cs typeface="Calibri" pitchFamily="34" charset="-120"/>
              </a:rPr>
              <a:t>TXOP : duree max d emission continue apres obtention du canal.</a:t>
            </a:r>
            <a:endParaRPr lang="en-US" sz="1050" dirty="0"/>
          </a:p>
        </p:txBody>
      </p:sp>
      <p:sp>
        <p:nvSpPr>
          <p:cNvPr id="37" name="Shape 35"/>
          <p:cNvSpPr/>
          <p:nvPr/>
        </p:nvSpPr>
        <p:spPr>
          <a:xfrm>
            <a:off x="4901184" y="758952"/>
            <a:ext cx="4206240" cy="411480"/>
          </a:xfrm>
          <a:prstGeom prst="rect">
            <a:avLst/>
          </a:prstGeom>
          <a:solidFill>
            <a:srgbClr val="00796B"/>
          </a:solidFill>
          <a:ln/>
        </p:spPr>
        <p:txBody>
          <a:bodyPr/>
          <a:lstStyle/>
          <a:p>
            <a:endParaRPr lang="fr-FR" dirty="0"/>
          </a:p>
        </p:txBody>
      </p:sp>
      <p:sp>
        <p:nvSpPr>
          <p:cNvPr id="38" name="Text 36"/>
          <p:cNvSpPr/>
          <p:nvPr/>
        </p:nvSpPr>
        <p:spPr>
          <a:xfrm>
            <a:off x="4681728" y="822960"/>
            <a:ext cx="420624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5G — Network Slicing et QoS native</a:t>
            </a:r>
            <a:endParaRPr lang="en-US" sz="1300" dirty="0"/>
          </a:p>
        </p:txBody>
      </p:sp>
      <p:sp>
        <p:nvSpPr>
          <p:cNvPr id="39" name="Text 37"/>
          <p:cNvSpPr/>
          <p:nvPr/>
        </p:nvSpPr>
        <p:spPr>
          <a:xfrm>
            <a:off x="4681728" y="1280160"/>
            <a:ext cx="4206240" cy="301752"/>
          </a:xfrm>
          <a:prstGeom prst="rect">
            <a:avLst/>
          </a:prstGeom>
          <a:noFill/>
          <a:ln/>
        </p:spPr>
        <p:txBody>
          <a:bodyPr wrap="square" rtlCol="0" anchor="ctr"/>
          <a:lstStyle/>
          <a:p>
            <a:pPr marL="0" indent="0">
              <a:buNone/>
            </a:pPr>
            <a:r>
              <a:rPr lang="en-US" sz="1050" i="1" dirty="0">
                <a:solidFill>
                  <a:srgbClr val="757575"/>
                </a:solidFill>
                <a:latin typeface="Calibri" pitchFamily="34" charset="0"/>
                <a:ea typeface="Calibri" pitchFamily="34" charset="-122"/>
                <a:cs typeface="Calibri" pitchFamily="34" charset="-120"/>
              </a:rPr>
              <a:t>La 5G cree plusieurs reseaux virtuels sur une meme infrastructure physique.</a:t>
            </a:r>
            <a:endParaRPr lang="en-US" sz="1050" dirty="0"/>
          </a:p>
        </p:txBody>
      </p:sp>
      <p:sp>
        <p:nvSpPr>
          <p:cNvPr id="40" name="Shape 38"/>
          <p:cNvSpPr/>
          <p:nvPr/>
        </p:nvSpPr>
        <p:spPr>
          <a:xfrm>
            <a:off x="4681728" y="1600200"/>
            <a:ext cx="4206240" cy="822960"/>
          </a:xfrm>
          <a:prstGeom prst="rect">
            <a:avLst/>
          </a:prstGeom>
          <a:solidFill>
            <a:srgbClr val="FFFFFF"/>
          </a:solidFill>
          <a:ln w="15240">
            <a:solidFill>
              <a:srgbClr val="1565C0"/>
            </a:solidFill>
            <a:prstDash val="solid"/>
          </a:ln>
          <a:effectLst>
            <a:outerShdw blurRad="63500" dist="25400" dir="8100000" algn="bl" rotWithShape="0">
              <a:srgbClr val="000000">
                <a:alpha val="10000"/>
              </a:srgbClr>
            </a:outerShdw>
          </a:effectLst>
        </p:spPr>
      </p:sp>
      <p:sp>
        <p:nvSpPr>
          <p:cNvPr id="41" name="Shape 39"/>
          <p:cNvSpPr/>
          <p:nvPr/>
        </p:nvSpPr>
        <p:spPr>
          <a:xfrm>
            <a:off x="4681728" y="1600200"/>
            <a:ext cx="640080" cy="822960"/>
          </a:xfrm>
          <a:prstGeom prst="rect">
            <a:avLst/>
          </a:prstGeom>
          <a:solidFill>
            <a:srgbClr val="1565C0"/>
          </a:solidFill>
          <a:ln/>
        </p:spPr>
      </p:sp>
      <p:sp>
        <p:nvSpPr>
          <p:cNvPr id="42" name="Text 40"/>
          <p:cNvSpPr/>
          <p:nvPr/>
        </p:nvSpPr>
        <p:spPr>
          <a:xfrm>
            <a:off x="4681728" y="1600200"/>
            <a:ext cx="640080" cy="8229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eMBB</a:t>
            </a:r>
            <a:endParaRPr lang="en-US" sz="1200" dirty="0"/>
          </a:p>
        </p:txBody>
      </p:sp>
      <p:sp>
        <p:nvSpPr>
          <p:cNvPr id="43" name="Text 41"/>
          <p:cNvSpPr/>
          <p:nvPr/>
        </p:nvSpPr>
        <p:spPr>
          <a:xfrm>
            <a:off x="5394960" y="1636776"/>
            <a:ext cx="2423160" cy="256032"/>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Tres haut debit</a:t>
            </a:r>
            <a:endParaRPr lang="en-US" sz="1100" dirty="0"/>
          </a:p>
        </p:txBody>
      </p:sp>
      <p:sp>
        <p:nvSpPr>
          <p:cNvPr id="44" name="Text 42"/>
          <p:cNvSpPr/>
          <p:nvPr/>
        </p:nvSpPr>
        <p:spPr>
          <a:xfrm>
            <a:off x="5394960" y="1911096"/>
            <a:ext cx="2423160" cy="457200"/>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Streaming 4K/8K, realite augmentee.</a:t>
            </a:r>
            <a:endParaRPr lang="en-US" sz="1100" dirty="0"/>
          </a:p>
          <a:p>
            <a:pPr marL="0" indent="0">
              <a:buNone/>
            </a:pPr>
            <a:r>
              <a:rPr lang="en-US" sz="1100" dirty="0">
                <a:latin typeface="Calibri" pitchFamily="34" charset="0"/>
                <a:ea typeface="Calibri" pitchFamily="34" charset="-122"/>
                <a:cs typeface="Calibri" pitchFamily="34" charset="-120"/>
              </a:rPr>
              <a:t>Debit &gt; 1 Gbps par utilisateur.</a:t>
            </a:r>
            <a:endParaRPr lang="en-US" sz="1100" dirty="0"/>
          </a:p>
        </p:txBody>
      </p:sp>
      <p:sp>
        <p:nvSpPr>
          <p:cNvPr id="45" name="Shape 43"/>
          <p:cNvSpPr/>
          <p:nvPr/>
        </p:nvSpPr>
        <p:spPr>
          <a:xfrm>
            <a:off x="7882128" y="1764792"/>
            <a:ext cx="932688" cy="384048"/>
          </a:xfrm>
          <a:prstGeom prst="rect">
            <a:avLst/>
          </a:prstGeom>
          <a:solidFill>
            <a:srgbClr val="1565C0">
              <a:alpha val="22000"/>
            </a:srgbClr>
          </a:solidFill>
          <a:ln w="6350">
            <a:solidFill>
              <a:srgbClr val="1565C0"/>
            </a:solidFill>
            <a:prstDash val="solid"/>
          </a:ln>
        </p:spPr>
      </p:sp>
      <p:sp>
        <p:nvSpPr>
          <p:cNvPr id="46" name="Text 44"/>
          <p:cNvSpPr/>
          <p:nvPr/>
        </p:nvSpPr>
        <p:spPr>
          <a:xfrm>
            <a:off x="7882128" y="1764792"/>
            <a:ext cx="932688" cy="384048"/>
          </a:xfrm>
          <a:prstGeom prst="rect">
            <a:avLst/>
          </a:prstGeom>
          <a:noFill/>
          <a:ln/>
        </p:spPr>
        <p:txBody>
          <a:bodyPr wrap="square" rtlCol="0" anchor="ctr"/>
          <a:lstStyle/>
          <a:p>
            <a:pPr marL="0" indent="0" algn="ctr">
              <a:buNone/>
            </a:pPr>
            <a:r>
              <a:rPr lang="en-US" sz="1100" b="1" dirty="0">
                <a:solidFill>
                  <a:srgbClr val="1565C0"/>
                </a:solidFill>
                <a:latin typeface="Calibri" pitchFamily="34" charset="0"/>
                <a:ea typeface="Calibri" pitchFamily="34" charset="-122"/>
                <a:cs typeface="Calibri" pitchFamily="34" charset="-120"/>
              </a:rPr>
              <a:t>Debit++</a:t>
            </a:r>
            <a:endParaRPr lang="en-US" sz="1100" dirty="0"/>
          </a:p>
        </p:txBody>
      </p:sp>
      <p:sp>
        <p:nvSpPr>
          <p:cNvPr id="47" name="Shape 45"/>
          <p:cNvSpPr/>
          <p:nvPr/>
        </p:nvSpPr>
        <p:spPr>
          <a:xfrm>
            <a:off x="4681728" y="2514600"/>
            <a:ext cx="4206240" cy="822960"/>
          </a:xfrm>
          <a:prstGeom prst="rect">
            <a:avLst/>
          </a:prstGeom>
          <a:solidFill>
            <a:srgbClr val="FFFFFF"/>
          </a:solidFill>
          <a:ln w="15240">
            <a:solidFill>
              <a:srgbClr val="C62828"/>
            </a:solidFill>
            <a:prstDash val="solid"/>
          </a:ln>
          <a:effectLst>
            <a:outerShdw blurRad="63500" dist="25400" dir="8100000" algn="bl" rotWithShape="0">
              <a:srgbClr val="000000">
                <a:alpha val="10000"/>
              </a:srgbClr>
            </a:outerShdw>
          </a:effectLst>
        </p:spPr>
      </p:sp>
      <p:sp>
        <p:nvSpPr>
          <p:cNvPr id="48" name="Shape 46"/>
          <p:cNvSpPr/>
          <p:nvPr/>
        </p:nvSpPr>
        <p:spPr>
          <a:xfrm>
            <a:off x="4681728" y="2514600"/>
            <a:ext cx="640080" cy="822960"/>
          </a:xfrm>
          <a:prstGeom prst="rect">
            <a:avLst/>
          </a:prstGeom>
          <a:solidFill>
            <a:srgbClr val="C62828"/>
          </a:solidFill>
          <a:ln/>
        </p:spPr>
      </p:sp>
      <p:sp>
        <p:nvSpPr>
          <p:cNvPr id="49" name="Text 47"/>
          <p:cNvSpPr/>
          <p:nvPr/>
        </p:nvSpPr>
        <p:spPr>
          <a:xfrm>
            <a:off x="4681728" y="2514600"/>
            <a:ext cx="640080" cy="8229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URLLC</a:t>
            </a:r>
            <a:endParaRPr lang="en-US" sz="1200" dirty="0"/>
          </a:p>
        </p:txBody>
      </p:sp>
      <p:sp>
        <p:nvSpPr>
          <p:cNvPr id="50" name="Text 48"/>
          <p:cNvSpPr/>
          <p:nvPr/>
        </p:nvSpPr>
        <p:spPr>
          <a:xfrm>
            <a:off x="5394960" y="2551176"/>
            <a:ext cx="2423160" cy="256032"/>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Latence critique</a:t>
            </a:r>
            <a:endParaRPr lang="en-US" sz="1100" dirty="0"/>
          </a:p>
        </p:txBody>
      </p:sp>
      <p:sp>
        <p:nvSpPr>
          <p:cNvPr id="51" name="Text 49"/>
          <p:cNvSpPr/>
          <p:nvPr/>
        </p:nvSpPr>
        <p:spPr>
          <a:xfrm>
            <a:off x="5394960" y="2825496"/>
            <a:ext cx="2423160" cy="45720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Vehicules autonomes, chirurgie distance.</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Latence &lt; 1 ms, fiabilite &gt; 99.9999%.</a:t>
            </a:r>
            <a:endParaRPr lang="en-US" sz="1100" dirty="0"/>
          </a:p>
        </p:txBody>
      </p:sp>
      <p:sp>
        <p:nvSpPr>
          <p:cNvPr id="52" name="Shape 50"/>
          <p:cNvSpPr/>
          <p:nvPr/>
        </p:nvSpPr>
        <p:spPr>
          <a:xfrm>
            <a:off x="7726680" y="2679192"/>
            <a:ext cx="1088136" cy="384048"/>
          </a:xfrm>
          <a:prstGeom prst="rect">
            <a:avLst/>
          </a:prstGeom>
          <a:solidFill>
            <a:srgbClr val="C62828">
              <a:alpha val="22000"/>
            </a:srgbClr>
          </a:solidFill>
          <a:ln w="6350">
            <a:solidFill>
              <a:srgbClr val="C62828"/>
            </a:solidFill>
            <a:prstDash val="solid"/>
          </a:ln>
        </p:spPr>
        <p:txBody>
          <a:bodyPr/>
          <a:lstStyle/>
          <a:p>
            <a:endParaRPr lang="fr-FR" dirty="0"/>
          </a:p>
        </p:txBody>
      </p:sp>
      <p:sp>
        <p:nvSpPr>
          <p:cNvPr id="53" name="Text 51"/>
          <p:cNvSpPr/>
          <p:nvPr/>
        </p:nvSpPr>
        <p:spPr>
          <a:xfrm>
            <a:off x="7726680" y="2679192"/>
            <a:ext cx="1088136" cy="384048"/>
          </a:xfrm>
          <a:prstGeom prst="rect">
            <a:avLst/>
          </a:prstGeom>
          <a:noFill/>
          <a:ln/>
        </p:spPr>
        <p:txBody>
          <a:bodyPr wrap="square" rtlCol="0" anchor="ctr"/>
          <a:lstStyle/>
          <a:p>
            <a:pPr marL="0" indent="0" algn="ctr">
              <a:buNone/>
            </a:pPr>
            <a:r>
              <a:rPr lang="en-US" sz="1100" b="1" dirty="0">
                <a:solidFill>
                  <a:srgbClr val="C62828"/>
                </a:solidFill>
                <a:latin typeface="Calibri" pitchFamily="34" charset="0"/>
                <a:ea typeface="Calibri" pitchFamily="34" charset="-122"/>
                <a:cs typeface="Calibri" pitchFamily="34" charset="-120"/>
              </a:rPr>
              <a:t>Latence &lt; 1ms</a:t>
            </a:r>
            <a:endParaRPr lang="en-US" sz="1100" dirty="0"/>
          </a:p>
        </p:txBody>
      </p:sp>
      <p:sp>
        <p:nvSpPr>
          <p:cNvPr id="54" name="Shape 52"/>
          <p:cNvSpPr/>
          <p:nvPr/>
        </p:nvSpPr>
        <p:spPr>
          <a:xfrm>
            <a:off x="4681728" y="3429000"/>
            <a:ext cx="4206240" cy="822960"/>
          </a:xfrm>
          <a:prstGeom prst="rect">
            <a:avLst/>
          </a:prstGeom>
          <a:solidFill>
            <a:srgbClr val="FFFFFF"/>
          </a:solidFill>
          <a:ln w="15240">
            <a:solidFill>
              <a:srgbClr val="00796B"/>
            </a:solidFill>
            <a:prstDash val="solid"/>
          </a:ln>
          <a:effectLst>
            <a:outerShdw blurRad="63500" dist="25400" dir="8100000" algn="bl" rotWithShape="0">
              <a:srgbClr val="000000">
                <a:alpha val="10000"/>
              </a:srgbClr>
            </a:outerShdw>
          </a:effectLst>
        </p:spPr>
      </p:sp>
      <p:sp>
        <p:nvSpPr>
          <p:cNvPr id="55" name="Shape 53"/>
          <p:cNvSpPr/>
          <p:nvPr/>
        </p:nvSpPr>
        <p:spPr>
          <a:xfrm>
            <a:off x="4681728" y="3429000"/>
            <a:ext cx="640080" cy="822960"/>
          </a:xfrm>
          <a:prstGeom prst="rect">
            <a:avLst/>
          </a:prstGeom>
          <a:solidFill>
            <a:srgbClr val="00796B"/>
          </a:solidFill>
          <a:ln/>
        </p:spPr>
      </p:sp>
      <p:sp>
        <p:nvSpPr>
          <p:cNvPr id="56" name="Text 54"/>
          <p:cNvSpPr/>
          <p:nvPr/>
        </p:nvSpPr>
        <p:spPr>
          <a:xfrm>
            <a:off x="4681728" y="3429000"/>
            <a:ext cx="640080" cy="8229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mMTC</a:t>
            </a:r>
            <a:endParaRPr lang="en-US" sz="1200" dirty="0"/>
          </a:p>
        </p:txBody>
      </p:sp>
      <p:sp>
        <p:nvSpPr>
          <p:cNvPr id="57" name="Text 55"/>
          <p:cNvSpPr/>
          <p:nvPr/>
        </p:nvSpPr>
        <p:spPr>
          <a:xfrm>
            <a:off x="5394960" y="3465576"/>
            <a:ext cx="2423160" cy="256032"/>
          </a:xfrm>
          <a:prstGeom prst="rect">
            <a:avLst/>
          </a:prstGeom>
          <a:noFill/>
          <a:ln/>
        </p:spPr>
        <p:txBody>
          <a:bodyPr wrap="square" rtlCol="0" anchor="ctr"/>
          <a:lstStyle/>
          <a:p>
            <a:pPr marL="0" indent="0">
              <a:buNone/>
            </a:pPr>
            <a:r>
              <a:rPr lang="en-US" sz="1100" b="1" dirty="0">
                <a:solidFill>
                  <a:srgbClr val="00796B"/>
                </a:solidFill>
                <a:latin typeface="Calibri" pitchFamily="34" charset="0"/>
                <a:ea typeface="Calibri" pitchFamily="34" charset="-122"/>
                <a:cs typeface="Calibri" pitchFamily="34" charset="-120"/>
              </a:rPr>
              <a:t>Objets connectes</a:t>
            </a:r>
            <a:endParaRPr lang="en-US" sz="1100" dirty="0"/>
          </a:p>
        </p:txBody>
      </p:sp>
      <p:sp>
        <p:nvSpPr>
          <p:cNvPr id="58" name="Text 56"/>
          <p:cNvSpPr/>
          <p:nvPr/>
        </p:nvSpPr>
        <p:spPr>
          <a:xfrm>
            <a:off x="5394960" y="3739896"/>
            <a:ext cx="2423160" cy="457200"/>
          </a:xfrm>
          <a:prstGeom prst="rect">
            <a:avLst/>
          </a:prstGeom>
          <a:noFill/>
          <a:ln/>
        </p:spPr>
        <p:txBody>
          <a:bodyPr wrap="square" rtlCol="0" anchor="ctr"/>
          <a:lstStyle/>
          <a:p>
            <a:pPr marL="0" indent="0">
              <a:buNone/>
            </a:pPr>
            <a:r>
              <a:rPr lang="en-US" sz="1050" dirty="0">
                <a:solidFill>
                  <a:srgbClr val="212121"/>
                </a:solidFill>
                <a:latin typeface="Calibri" pitchFamily="34" charset="0"/>
                <a:ea typeface="Calibri" pitchFamily="34" charset="-122"/>
                <a:cs typeface="Calibri" pitchFamily="34" charset="-120"/>
              </a:rPr>
              <a:t>Villes intelligentes, millions de capteurs.</a:t>
            </a:r>
            <a:endParaRPr lang="en-US" sz="1050" dirty="0"/>
          </a:p>
          <a:p>
            <a:pPr marL="0" indent="0">
              <a:buNone/>
            </a:pPr>
            <a:r>
              <a:rPr lang="en-US" sz="1050" dirty="0">
                <a:solidFill>
                  <a:srgbClr val="212121"/>
                </a:solidFill>
                <a:latin typeface="Calibri" pitchFamily="34" charset="0"/>
                <a:ea typeface="Calibri" pitchFamily="34" charset="-122"/>
                <a:cs typeface="Calibri" pitchFamily="34" charset="-120"/>
              </a:rPr>
              <a:t>Faible consommation, grande densite.</a:t>
            </a:r>
            <a:endParaRPr lang="en-US" sz="1050" dirty="0"/>
          </a:p>
        </p:txBody>
      </p:sp>
      <p:sp>
        <p:nvSpPr>
          <p:cNvPr id="59" name="Shape 57"/>
          <p:cNvSpPr/>
          <p:nvPr/>
        </p:nvSpPr>
        <p:spPr>
          <a:xfrm>
            <a:off x="7882128" y="3593592"/>
            <a:ext cx="932688" cy="384048"/>
          </a:xfrm>
          <a:prstGeom prst="rect">
            <a:avLst/>
          </a:prstGeom>
          <a:solidFill>
            <a:srgbClr val="00796B">
              <a:alpha val="22000"/>
            </a:srgbClr>
          </a:solidFill>
          <a:ln w="6350">
            <a:solidFill>
              <a:srgbClr val="00796B"/>
            </a:solidFill>
            <a:prstDash val="solid"/>
          </a:ln>
        </p:spPr>
      </p:sp>
      <p:sp>
        <p:nvSpPr>
          <p:cNvPr id="60" name="Text 58"/>
          <p:cNvSpPr/>
          <p:nvPr/>
        </p:nvSpPr>
        <p:spPr>
          <a:xfrm>
            <a:off x="7882128" y="3593592"/>
            <a:ext cx="932688" cy="384048"/>
          </a:xfrm>
          <a:prstGeom prst="rect">
            <a:avLst/>
          </a:prstGeom>
          <a:noFill/>
          <a:ln/>
        </p:spPr>
        <p:txBody>
          <a:bodyPr wrap="square" rtlCol="0" anchor="ctr"/>
          <a:lstStyle/>
          <a:p>
            <a:pPr marL="0" indent="0" algn="ctr">
              <a:buNone/>
            </a:pPr>
            <a:r>
              <a:rPr lang="en-US" sz="1050" b="1" dirty="0">
                <a:solidFill>
                  <a:srgbClr val="00796B"/>
                </a:solidFill>
                <a:latin typeface="Calibri" pitchFamily="34" charset="0"/>
                <a:ea typeface="Calibri" pitchFamily="34" charset="-122"/>
                <a:cs typeface="Calibri" pitchFamily="34" charset="-120"/>
              </a:rPr>
              <a:t>Densite max</a:t>
            </a:r>
            <a:endParaRPr lang="en-US" sz="1050" dirty="0"/>
          </a:p>
        </p:txBody>
      </p:sp>
      <p:sp>
        <p:nvSpPr>
          <p:cNvPr id="61" name="Text 59"/>
          <p:cNvSpPr/>
          <p:nvPr/>
        </p:nvSpPr>
        <p:spPr>
          <a:xfrm>
            <a:off x="4681728" y="4370832"/>
            <a:ext cx="4206240" cy="356616"/>
          </a:xfrm>
          <a:prstGeom prst="rect">
            <a:avLst/>
          </a:prstGeom>
          <a:noFill/>
          <a:ln/>
        </p:spPr>
        <p:txBody>
          <a:bodyPr wrap="square" rtlCol="0" anchor="ctr"/>
          <a:lstStyle/>
          <a:p>
            <a:pPr marL="0" indent="0">
              <a:buNone/>
            </a:pPr>
            <a:r>
              <a:rPr lang="en-US" sz="1050" i="1" dirty="0">
                <a:solidFill>
                  <a:srgbClr val="757575"/>
                </a:solidFill>
                <a:latin typeface="Calibri" pitchFamily="34" charset="0"/>
                <a:ea typeface="Calibri" pitchFamily="34" charset="-122"/>
                <a:cs typeface="Calibri" pitchFamily="34" charset="-120"/>
              </a:rPr>
              <a:t>QFI (QoS Flow Indicator) et 5QI (5G QoS Identifier) : parametres standardises des flux QoS 5G.</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796B"/>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SDN, NFV et Cloud — QoS dans les reseaux virtualises</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256032" y="822960"/>
            <a:ext cx="4206240" cy="1234440"/>
          </a:xfrm>
          <a:prstGeom prst="rect">
            <a:avLst/>
          </a:prstGeom>
          <a:solidFill>
            <a:srgbClr val="E3F2FD"/>
          </a:solidFill>
          <a:ln w="6350">
            <a:solidFill>
              <a:srgbClr val="BDBDBD"/>
            </a:solidFill>
            <a:prstDash val="solid"/>
          </a:ln>
          <a:effectLst>
            <a:outerShdw blurRad="63500" dist="25400" dir="8100000" algn="bl" rotWithShape="0">
              <a:srgbClr val="000000">
                <a:alpha val="10000"/>
              </a:srgbClr>
            </a:outerShdw>
          </a:effectLst>
        </p:spPr>
      </p:sp>
      <p:sp>
        <p:nvSpPr>
          <p:cNvPr id="6" name="Shape 4"/>
          <p:cNvSpPr/>
          <p:nvPr/>
        </p:nvSpPr>
        <p:spPr>
          <a:xfrm>
            <a:off x="256032" y="822960"/>
            <a:ext cx="4206240" cy="54864"/>
          </a:xfrm>
          <a:prstGeom prst="rect">
            <a:avLst/>
          </a:prstGeom>
          <a:solidFill>
            <a:srgbClr val="1565C0"/>
          </a:solidFill>
          <a:ln/>
        </p:spPr>
      </p:sp>
      <p:sp>
        <p:nvSpPr>
          <p:cNvPr id="7" name="Text 5"/>
          <p:cNvSpPr/>
          <p:nvPr/>
        </p:nvSpPr>
        <p:spPr>
          <a:xfrm>
            <a:off x="374904" y="914400"/>
            <a:ext cx="3977640" cy="320040"/>
          </a:xfrm>
          <a:prstGeom prst="rect">
            <a:avLst/>
          </a:prstGeom>
          <a:noFill/>
          <a:ln/>
        </p:spPr>
        <p:txBody>
          <a:bodyPr wrap="square" rtlCol="0" anchor="ctr"/>
          <a:lstStyle/>
          <a:p>
            <a:pPr marL="0" indent="0">
              <a:buNone/>
            </a:pPr>
            <a:r>
              <a:rPr lang="en-US" sz="1250" b="1" dirty="0">
                <a:solidFill>
                  <a:srgbClr val="1565C0"/>
                </a:solidFill>
                <a:latin typeface="Calibri" pitchFamily="34" charset="0"/>
                <a:ea typeface="Calibri" pitchFamily="34" charset="-122"/>
                <a:cs typeface="Calibri" pitchFamily="34" charset="-120"/>
              </a:rPr>
              <a:t>SDN — Software Defined Networking</a:t>
            </a:r>
            <a:endParaRPr lang="en-US" sz="1250" dirty="0"/>
          </a:p>
        </p:txBody>
      </p:sp>
      <p:sp>
        <p:nvSpPr>
          <p:cNvPr id="8" name="Text 6"/>
          <p:cNvSpPr/>
          <p:nvPr/>
        </p:nvSpPr>
        <p:spPr>
          <a:xfrm>
            <a:off x="374904" y="1261872"/>
            <a:ext cx="3977640" cy="704088"/>
          </a:xfrm>
          <a:prstGeom prst="rect">
            <a:avLst/>
          </a:prstGeom>
          <a:noFill/>
          <a:ln/>
        </p:spPr>
        <p:txBody>
          <a:bodyPr wrap="square" rtlCol="0" anchor="t"/>
          <a:lstStyle/>
          <a:p>
            <a:pPr marL="0" indent="0">
              <a:buNone/>
            </a:pPr>
            <a:r>
              <a:rPr lang="en-US" sz="1100" dirty="0">
                <a:solidFill>
                  <a:srgbClr val="212121"/>
                </a:solidFill>
                <a:latin typeface="Calibri" pitchFamily="34" charset="0"/>
                <a:ea typeface="Calibri" pitchFamily="34" charset="-122"/>
                <a:cs typeface="Calibri" pitchFamily="34" charset="-120"/>
              </a:rPr>
              <a:t>Separe le plan de controle (decisions de routage) du plan de donnees (transmission). Un controleur central voit TOUT le reseau et le programme dynamiquement.</a:t>
            </a:r>
            <a:endParaRPr lang="en-US" sz="1100" dirty="0"/>
          </a:p>
          <a:p>
            <a:pPr marL="0" indent="0">
              <a:buNone/>
            </a:pP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OpenFlow, ONOS, OpenDaylight. Modification des politiques QoS en secondes sans toucher chaque equipement.</a:t>
            </a:r>
            <a:endParaRPr lang="en-US" sz="1100" dirty="0"/>
          </a:p>
        </p:txBody>
      </p:sp>
      <p:sp>
        <p:nvSpPr>
          <p:cNvPr id="9" name="Shape 7"/>
          <p:cNvSpPr/>
          <p:nvPr/>
        </p:nvSpPr>
        <p:spPr>
          <a:xfrm>
            <a:off x="4681728" y="822960"/>
            <a:ext cx="4206240" cy="1234440"/>
          </a:xfrm>
          <a:prstGeom prst="rect">
            <a:avLst/>
          </a:prstGeom>
          <a:solidFill>
            <a:srgbClr val="E0F2F1"/>
          </a:solidFill>
          <a:ln w="6350">
            <a:solidFill>
              <a:srgbClr val="BDBDBD"/>
            </a:solidFill>
            <a:prstDash val="solid"/>
          </a:ln>
          <a:effectLst>
            <a:outerShdw blurRad="63500" dist="25400" dir="8100000" algn="bl" rotWithShape="0">
              <a:srgbClr val="000000">
                <a:alpha val="10000"/>
              </a:srgbClr>
            </a:outerShdw>
          </a:effectLst>
        </p:spPr>
      </p:sp>
      <p:sp>
        <p:nvSpPr>
          <p:cNvPr id="10" name="Shape 8"/>
          <p:cNvSpPr/>
          <p:nvPr/>
        </p:nvSpPr>
        <p:spPr>
          <a:xfrm>
            <a:off x="4681728" y="822960"/>
            <a:ext cx="4206240" cy="54864"/>
          </a:xfrm>
          <a:prstGeom prst="rect">
            <a:avLst/>
          </a:prstGeom>
          <a:solidFill>
            <a:srgbClr val="00796B"/>
          </a:solidFill>
          <a:ln/>
        </p:spPr>
      </p:sp>
      <p:sp>
        <p:nvSpPr>
          <p:cNvPr id="11" name="Text 9"/>
          <p:cNvSpPr/>
          <p:nvPr/>
        </p:nvSpPr>
        <p:spPr>
          <a:xfrm>
            <a:off x="4800600" y="914400"/>
            <a:ext cx="3977640" cy="320040"/>
          </a:xfrm>
          <a:prstGeom prst="rect">
            <a:avLst/>
          </a:prstGeom>
          <a:noFill/>
          <a:ln/>
        </p:spPr>
        <p:txBody>
          <a:bodyPr wrap="square" rtlCol="0" anchor="ctr"/>
          <a:lstStyle/>
          <a:p>
            <a:pPr marL="0" indent="0">
              <a:buNone/>
            </a:pPr>
            <a:r>
              <a:rPr lang="en-US" sz="1250" b="1" dirty="0">
                <a:solidFill>
                  <a:srgbClr val="00796B"/>
                </a:solidFill>
                <a:latin typeface="Calibri" pitchFamily="34" charset="0"/>
                <a:ea typeface="Calibri" pitchFamily="34" charset="-122"/>
                <a:cs typeface="Calibri" pitchFamily="34" charset="-120"/>
              </a:rPr>
              <a:t>NFV — Network Function Virtualization</a:t>
            </a:r>
            <a:endParaRPr lang="en-US" sz="1250" dirty="0"/>
          </a:p>
        </p:txBody>
      </p:sp>
      <p:sp>
        <p:nvSpPr>
          <p:cNvPr id="12" name="Text 10"/>
          <p:cNvSpPr/>
          <p:nvPr/>
        </p:nvSpPr>
        <p:spPr>
          <a:xfrm>
            <a:off x="4800600" y="1261872"/>
            <a:ext cx="3977640" cy="841248"/>
          </a:xfrm>
          <a:prstGeom prst="rect">
            <a:avLst/>
          </a:prstGeom>
          <a:noFill/>
          <a:ln/>
        </p:spPr>
        <p:txBody>
          <a:bodyPr wrap="square" rtlCol="0" anchor="t"/>
          <a:lstStyle/>
          <a:p>
            <a:pPr marL="0" indent="0">
              <a:buNone/>
            </a:pPr>
            <a:r>
              <a:rPr lang="en-US" sz="1100" dirty="0">
                <a:solidFill>
                  <a:srgbClr val="212121"/>
                </a:solidFill>
                <a:latin typeface="Calibri" pitchFamily="34" charset="0"/>
                <a:ea typeface="Calibri" pitchFamily="34" charset="-122"/>
                <a:cs typeface="Calibri" pitchFamily="34" charset="-120"/>
              </a:rPr>
              <a:t>Remplace les equipements materiels dedies (pare-feux, load balancers, DPI) par des fonctions logicielles sur serveurs standards.</a:t>
            </a:r>
            <a:endParaRPr lang="en-US" sz="1100" dirty="0"/>
          </a:p>
          <a:p>
            <a:pPr marL="0" indent="0">
              <a:buNone/>
            </a:pP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Elasticite : ajout dynamique de ressources QoS selon la demande. Reduce les couts de 60-80%.</a:t>
            </a:r>
            <a:endParaRPr lang="en-US" sz="1100" dirty="0"/>
          </a:p>
        </p:txBody>
      </p:sp>
      <p:sp>
        <p:nvSpPr>
          <p:cNvPr id="13" name="Shape 11"/>
          <p:cNvSpPr/>
          <p:nvPr/>
        </p:nvSpPr>
        <p:spPr>
          <a:xfrm>
            <a:off x="256032" y="2176272"/>
            <a:ext cx="4206240" cy="1143000"/>
          </a:xfrm>
          <a:prstGeom prst="rect">
            <a:avLst/>
          </a:prstGeom>
          <a:solidFill>
            <a:srgbClr val="EDE7F6"/>
          </a:solidFill>
          <a:ln w="6350">
            <a:solidFill>
              <a:srgbClr val="BDBDBD"/>
            </a:solidFill>
            <a:prstDash val="solid"/>
          </a:ln>
          <a:effectLst>
            <a:outerShdw blurRad="63500" dist="25400" dir="8100000" algn="bl" rotWithShape="0">
              <a:srgbClr val="000000">
                <a:alpha val="10000"/>
              </a:srgbClr>
            </a:outerShdw>
          </a:effectLst>
        </p:spPr>
      </p:sp>
      <p:sp>
        <p:nvSpPr>
          <p:cNvPr id="14" name="Shape 12"/>
          <p:cNvSpPr/>
          <p:nvPr/>
        </p:nvSpPr>
        <p:spPr>
          <a:xfrm>
            <a:off x="256032" y="2176272"/>
            <a:ext cx="4206240" cy="54864"/>
          </a:xfrm>
          <a:prstGeom prst="rect">
            <a:avLst/>
          </a:prstGeom>
          <a:solidFill>
            <a:srgbClr val="4527A0"/>
          </a:solidFill>
          <a:ln/>
        </p:spPr>
      </p:sp>
      <p:sp>
        <p:nvSpPr>
          <p:cNvPr id="15" name="Text 13"/>
          <p:cNvSpPr/>
          <p:nvPr/>
        </p:nvSpPr>
        <p:spPr>
          <a:xfrm>
            <a:off x="374904" y="2267712"/>
            <a:ext cx="3977640" cy="320040"/>
          </a:xfrm>
          <a:prstGeom prst="rect">
            <a:avLst/>
          </a:prstGeom>
          <a:noFill/>
          <a:ln/>
        </p:spPr>
        <p:txBody>
          <a:bodyPr wrap="square" rtlCol="0" anchor="ctr"/>
          <a:lstStyle/>
          <a:p>
            <a:pPr marL="0" indent="0">
              <a:buNone/>
            </a:pPr>
            <a:r>
              <a:rPr lang="en-US" sz="1250" b="1" dirty="0">
                <a:solidFill>
                  <a:srgbClr val="4527A0"/>
                </a:solidFill>
                <a:latin typeface="Calibri" pitchFamily="34" charset="0"/>
                <a:ea typeface="Calibri" pitchFamily="34" charset="-122"/>
                <a:cs typeface="Calibri" pitchFamily="34" charset="-120"/>
              </a:rPr>
              <a:t>QoS dans Kubernetes / Cloud</a:t>
            </a:r>
            <a:endParaRPr lang="en-US" sz="1250" dirty="0"/>
          </a:p>
        </p:txBody>
      </p:sp>
      <p:sp>
        <p:nvSpPr>
          <p:cNvPr id="16" name="Text 14"/>
          <p:cNvSpPr/>
          <p:nvPr/>
        </p:nvSpPr>
        <p:spPr>
          <a:xfrm>
            <a:off x="374904" y="2615184"/>
            <a:ext cx="3977640" cy="740664"/>
          </a:xfrm>
          <a:prstGeom prst="rect">
            <a:avLst/>
          </a:prstGeom>
          <a:noFill/>
          <a:ln/>
        </p:spPr>
        <p:txBody>
          <a:bodyPr wrap="square" rtlCol="0" anchor="t"/>
          <a:lstStyle/>
          <a:p>
            <a:pPr marL="0" indent="0">
              <a:buNone/>
            </a:pPr>
            <a:r>
              <a:rPr lang="en-US" sz="1100" dirty="0">
                <a:solidFill>
                  <a:srgbClr val="212121"/>
                </a:solidFill>
                <a:latin typeface="Calibri" pitchFamily="34" charset="0"/>
                <a:ea typeface="Calibri" pitchFamily="34" charset="-122"/>
                <a:cs typeface="Calibri" pitchFamily="34" charset="-120"/>
              </a:rPr>
              <a:t>Classes QoS pour les pods :</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 Guaranteed : CPU/RAM garantis. Priorite max.</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 Burstable : limites souples. Priorite moyenne.</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 BestEffort : aucune garantie. Peut etre tue en cas de contention.</a:t>
            </a:r>
            <a:endParaRPr lang="en-US" sz="1100" dirty="0"/>
          </a:p>
        </p:txBody>
      </p:sp>
      <p:sp>
        <p:nvSpPr>
          <p:cNvPr id="17" name="Shape 15"/>
          <p:cNvSpPr/>
          <p:nvPr/>
        </p:nvSpPr>
        <p:spPr>
          <a:xfrm>
            <a:off x="4681728" y="2176272"/>
            <a:ext cx="4206240" cy="1143000"/>
          </a:xfrm>
          <a:prstGeom prst="rect">
            <a:avLst/>
          </a:prstGeom>
          <a:solidFill>
            <a:srgbClr val="E8F5E9"/>
          </a:solidFill>
          <a:ln w="6350">
            <a:solidFill>
              <a:srgbClr val="BDBDBD"/>
            </a:solidFill>
            <a:prstDash val="solid"/>
          </a:ln>
          <a:effectLst>
            <a:outerShdw blurRad="63500" dist="25400" dir="8100000" algn="bl" rotWithShape="0">
              <a:srgbClr val="000000">
                <a:alpha val="10000"/>
              </a:srgbClr>
            </a:outerShdw>
          </a:effectLst>
        </p:spPr>
      </p:sp>
      <p:sp>
        <p:nvSpPr>
          <p:cNvPr id="18" name="Shape 16"/>
          <p:cNvSpPr/>
          <p:nvPr/>
        </p:nvSpPr>
        <p:spPr>
          <a:xfrm>
            <a:off x="4681728" y="2176272"/>
            <a:ext cx="4206240" cy="54864"/>
          </a:xfrm>
          <a:prstGeom prst="rect">
            <a:avLst/>
          </a:prstGeom>
          <a:solidFill>
            <a:srgbClr val="2E7D32"/>
          </a:solidFill>
          <a:ln/>
        </p:spPr>
      </p:sp>
      <p:sp>
        <p:nvSpPr>
          <p:cNvPr id="19" name="Text 17"/>
          <p:cNvSpPr/>
          <p:nvPr/>
        </p:nvSpPr>
        <p:spPr>
          <a:xfrm>
            <a:off x="4800600" y="2267712"/>
            <a:ext cx="3977640" cy="320040"/>
          </a:xfrm>
          <a:prstGeom prst="rect">
            <a:avLst/>
          </a:prstGeom>
          <a:noFill/>
          <a:ln/>
        </p:spPr>
        <p:txBody>
          <a:bodyPr wrap="square" rtlCol="0" anchor="ctr"/>
          <a:lstStyle/>
          <a:p>
            <a:pPr marL="0" indent="0">
              <a:buNone/>
            </a:pPr>
            <a:r>
              <a:rPr lang="en-US" sz="1250" b="1" dirty="0">
                <a:solidFill>
                  <a:srgbClr val="2E7D32"/>
                </a:solidFill>
                <a:latin typeface="Calibri" pitchFamily="34" charset="0"/>
                <a:ea typeface="Calibri" pitchFamily="34" charset="-122"/>
                <a:cs typeface="Calibri" pitchFamily="34" charset="-120"/>
              </a:rPr>
              <a:t>vSwitch / OVS / SR-IOV</a:t>
            </a:r>
            <a:endParaRPr lang="en-US" sz="1250" dirty="0"/>
          </a:p>
        </p:txBody>
      </p:sp>
      <p:sp>
        <p:nvSpPr>
          <p:cNvPr id="20" name="Text 18"/>
          <p:cNvSpPr/>
          <p:nvPr/>
        </p:nvSpPr>
        <p:spPr>
          <a:xfrm>
            <a:off x="4800600" y="2615184"/>
            <a:ext cx="3977640" cy="612648"/>
          </a:xfrm>
          <a:prstGeom prst="rect">
            <a:avLst/>
          </a:prstGeom>
          <a:noFill/>
          <a:ln/>
        </p:spPr>
        <p:txBody>
          <a:bodyPr wrap="square" rtlCol="0" anchor="t"/>
          <a:lstStyle/>
          <a:p>
            <a:pPr marL="0" indent="0">
              <a:buNone/>
            </a:pPr>
            <a:r>
              <a:rPr lang="en-US" sz="1100" dirty="0">
                <a:solidFill>
                  <a:srgbClr val="212121"/>
                </a:solidFill>
                <a:latin typeface="Calibri" pitchFamily="34" charset="0"/>
                <a:ea typeface="Calibri" pitchFamily="34" charset="-122"/>
                <a:cs typeface="Calibri" pitchFamily="34" charset="-120"/>
              </a:rPr>
              <a:t>vSwitch (Open vSwitch) : commutateur logiciel entre VMs. Applique des politiques QoS par VM.</a:t>
            </a:r>
            <a:endParaRPr lang="en-US" sz="1100" dirty="0"/>
          </a:p>
          <a:p>
            <a:pPr marL="0" indent="0">
              <a:buNone/>
            </a:pPr>
            <a:r>
              <a:rPr lang="en-US" sz="1100" dirty="0">
                <a:solidFill>
                  <a:srgbClr val="212121"/>
                </a:solidFill>
                <a:latin typeface="Calibri" pitchFamily="34" charset="0"/>
                <a:ea typeface="Calibri" pitchFamily="34" charset="-122"/>
                <a:cs typeface="Calibri" pitchFamily="34" charset="-120"/>
              </a:rPr>
              <a:t>SR-IOV : acces direct au materiel reseau pour les VMs critiques. Contourne l overhead de virtualisation.</a:t>
            </a:r>
            <a:endParaRPr lang="en-US" sz="1100" dirty="0"/>
          </a:p>
        </p:txBody>
      </p:sp>
      <p:sp>
        <p:nvSpPr>
          <p:cNvPr id="21" name="Shape 19"/>
          <p:cNvSpPr/>
          <p:nvPr/>
        </p:nvSpPr>
        <p:spPr>
          <a:xfrm>
            <a:off x="256032" y="3429000"/>
            <a:ext cx="8631936" cy="1261872"/>
          </a:xfrm>
          <a:prstGeom prst="rect">
            <a:avLst/>
          </a:prstGeom>
          <a:solidFill>
            <a:srgbClr val="FFFFFF"/>
          </a:solidFill>
          <a:ln w="12700">
            <a:solidFill>
              <a:srgbClr val="0D1B2A"/>
            </a:solidFill>
            <a:prstDash val="solid"/>
          </a:ln>
          <a:effectLst>
            <a:outerShdw blurRad="63500" dist="25400" dir="8100000" algn="bl" rotWithShape="0">
              <a:srgbClr val="000000">
                <a:alpha val="10000"/>
              </a:srgbClr>
            </a:outerShdw>
          </a:effectLst>
        </p:spPr>
      </p:sp>
      <p:sp>
        <p:nvSpPr>
          <p:cNvPr id="22" name="Text 20"/>
          <p:cNvSpPr/>
          <p:nvPr/>
        </p:nvSpPr>
        <p:spPr>
          <a:xfrm>
            <a:off x="384048" y="3474720"/>
            <a:ext cx="8229600" cy="32004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Pourquoi SDN + NFV changent tout pour la QoS :</a:t>
            </a:r>
            <a:endParaRPr lang="en-US" sz="1300" dirty="0"/>
          </a:p>
        </p:txBody>
      </p:sp>
      <p:sp>
        <p:nvSpPr>
          <p:cNvPr id="23" name="Shape 21"/>
          <p:cNvSpPr/>
          <p:nvPr/>
        </p:nvSpPr>
        <p:spPr>
          <a:xfrm>
            <a:off x="402336" y="3840480"/>
            <a:ext cx="146304" cy="146304"/>
          </a:xfrm>
          <a:prstGeom prst="ellipse">
            <a:avLst/>
          </a:prstGeom>
          <a:solidFill>
            <a:srgbClr val="00796B"/>
          </a:solidFill>
          <a:ln/>
        </p:spPr>
      </p:sp>
      <p:sp>
        <p:nvSpPr>
          <p:cNvPr id="24" name="Text 22"/>
          <p:cNvSpPr/>
          <p:nvPr/>
        </p:nvSpPr>
        <p:spPr>
          <a:xfrm>
            <a:off x="594360" y="3831336"/>
            <a:ext cx="8229600" cy="228600"/>
          </a:xfrm>
          <a:prstGeom prst="rect">
            <a:avLst/>
          </a:prstGeom>
          <a:noFill/>
          <a:ln/>
        </p:spPr>
        <p:txBody>
          <a:bodyPr wrap="square" rtlCol="0" anchor="ctr"/>
          <a:lstStyle/>
          <a:p>
            <a:pPr marL="0" indent="0">
              <a:buNone/>
            </a:pPr>
            <a:r>
              <a:rPr lang="en-US" sz="1050" dirty="0">
                <a:solidFill>
                  <a:srgbClr val="212121"/>
                </a:solidFill>
                <a:latin typeface="Calibri" pitchFamily="34" charset="0"/>
                <a:ea typeface="Calibri" pitchFamily="34" charset="-122"/>
                <a:cs typeface="Calibri" pitchFamily="34" charset="-120"/>
              </a:rPr>
              <a:t>Vue centralisee : le controleur connait l etat de TOUT le reseau en temps reel. Il peut optimiser les chemins QoS globalement.</a:t>
            </a:r>
            <a:endParaRPr lang="en-US" sz="1050" dirty="0"/>
          </a:p>
        </p:txBody>
      </p:sp>
      <p:sp>
        <p:nvSpPr>
          <p:cNvPr id="25" name="Shape 23"/>
          <p:cNvSpPr/>
          <p:nvPr/>
        </p:nvSpPr>
        <p:spPr>
          <a:xfrm>
            <a:off x="402336" y="4041648"/>
            <a:ext cx="146304" cy="146304"/>
          </a:xfrm>
          <a:prstGeom prst="ellipse">
            <a:avLst/>
          </a:prstGeom>
          <a:solidFill>
            <a:srgbClr val="00796B"/>
          </a:solidFill>
          <a:ln/>
        </p:spPr>
      </p:sp>
      <p:sp>
        <p:nvSpPr>
          <p:cNvPr id="26" name="Text 24"/>
          <p:cNvSpPr/>
          <p:nvPr/>
        </p:nvSpPr>
        <p:spPr>
          <a:xfrm>
            <a:off x="594360" y="4032504"/>
            <a:ext cx="8229600" cy="228600"/>
          </a:xfrm>
          <a:prstGeom prst="rect">
            <a:avLst/>
          </a:prstGeom>
          <a:noFill/>
          <a:ln/>
        </p:spPr>
        <p:txBody>
          <a:bodyPr wrap="square" rtlCol="0" anchor="ctr"/>
          <a:lstStyle/>
          <a:p>
            <a:pPr marL="0" indent="0">
              <a:buNone/>
            </a:pPr>
            <a:r>
              <a:rPr lang="en-US" sz="1050" dirty="0">
                <a:solidFill>
                  <a:srgbClr val="212121"/>
                </a:solidFill>
                <a:latin typeface="Calibri" pitchFamily="34" charset="0"/>
                <a:ea typeface="Calibri" pitchFamily="34" charset="-122"/>
                <a:cs typeface="Calibri" pitchFamily="34" charset="-120"/>
              </a:rPr>
              <a:t>Reconfiguration instantanee : modification des priorites sans intervention manuelle sur chaque routeur.</a:t>
            </a:r>
            <a:endParaRPr lang="en-US" sz="1050" dirty="0"/>
          </a:p>
        </p:txBody>
      </p:sp>
      <p:sp>
        <p:nvSpPr>
          <p:cNvPr id="27" name="Shape 25"/>
          <p:cNvSpPr/>
          <p:nvPr/>
        </p:nvSpPr>
        <p:spPr>
          <a:xfrm>
            <a:off x="402336" y="4242816"/>
            <a:ext cx="146304" cy="146304"/>
          </a:xfrm>
          <a:prstGeom prst="ellipse">
            <a:avLst/>
          </a:prstGeom>
          <a:solidFill>
            <a:srgbClr val="00796B"/>
          </a:solidFill>
          <a:ln/>
        </p:spPr>
      </p:sp>
      <p:sp>
        <p:nvSpPr>
          <p:cNvPr id="28" name="Text 26"/>
          <p:cNvSpPr/>
          <p:nvPr/>
        </p:nvSpPr>
        <p:spPr>
          <a:xfrm>
            <a:off x="594360" y="4233672"/>
            <a:ext cx="8229600" cy="228600"/>
          </a:xfrm>
          <a:prstGeom prst="rect">
            <a:avLst/>
          </a:prstGeom>
          <a:noFill/>
          <a:ln/>
        </p:spPr>
        <p:txBody>
          <a:bodyPr wrap="square" rtlCol="0" anchor="ctr"/>
          <a:lstStyle/>
          <a:p>
            <a:pPr marL="0" indent="0">
              <a:buNone/>
            </a:pPr>
            <a:r>
              <a:rPr lang="en-US" sz="1050" dirty="0">
                <a:solidFill>
                  <a:srgbClr val="212121"/>
                </a:solidFill>
                <a:latin typeface="Calibri" pitchFamily="34" charset="0"/>
                <a:ea typeface="Calibri" pitchFamily="34" charset="-122"/>
                <a:cs typeface="Calibri" pitchFamily="34" charset="-120"/>
              </a:rPr>
              <a:t>Automatisation : scripts qui ajustent la QoS automatiquement selon les metriques (charge CPU, alertes SLA).</a:t>
            </a:r>
            <a:endParaRPr lang="en-US" sz="1050" dirty="0"/>
          </a:p>
        </p:txBody>
      </p:sp>
      <p:sp>
        <p:nvSpPr>
          <p:cNvPr id="29" name="Shape 27"/>
          <p:cNvSpPr/>
          <p:nvPr/>
        </p:nvSpPr>
        <p:spPr>
          <a:xfrm>
            <a:off x="402336" y="4443984"/>
            <a:ext cx="146304" cy="146304"/>
          </a:xfrm>
          <a:prstGeom prst="ellipse">
            <a:avLst/>
          </a:prstGeom>
          <a:solidFill>
            <a:srgbClr val="00796B"/>
          </a:solidFill>
          <a:ln/>
        </p:spPr>
      </p:sp>
      <p:sp>
        <p:nvSpPr>
          <p:cNvPr id="30" name="Text 28"/>
          <p:cNvSpPr/>
          <p:nvPr/>
        </p:nvSpPr>
        <p:spPr>
          <a:xfrm>
            <a:off x="594360" y="4434840"/>
            <a:ext cx="8229600" cy="228600"/>
          </a:xfrm>
          <a:prstGeom prst="rect">
            <a:avLst/>
          </a:prstGeom>
          <a:noFill/>
          <a:ln/>
        </p:spPr>
        <p:txBody>
          <a:bodyPr wrap="square" rtlCol="0" anchor="ctr"/>
          <a:lstStyle/>
          <a:p>
            <a:pPr marL="0" indent="0">
              <a:buNone/>
            </a:pPr>
            <a:r>
              <a:rPr lang="en-US" sz="1050" dirty="0">
                <a:solidFill>
                  <a:srgbClr val="212121"/>
                </a:solidFill>
                <a:latin typeface="Calibri" pitchFamily="34" charset="0"/>
                <a:ea typeface="Calibri" pitchFamily="34" charset="-122"/>
                <a:cs typeface="Calibri" pitchFamily="34" charset="-120"/>
              </a:rPr>
              <a:t>Scalabilite cloud-native : le reseau peut s etendre ou se retrecir a la demande (elasticite).</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D1B2A"/>
          </a:solidFill>
          <a:ln/>
        </p:spPr>
      </p:sp>
      <p:sp>
        <p:nvSpPr>
          <p:cNvPr id="3" name="Text 1"/>
          <p:cNvSpPr/>
          <p:nvPr/>
        </p:nvSpPr>
        <p:spPr>
          <a:xfrm>
            <a:off x="502920" y="548640"/>
            <a:ext cx="2286000" cy="1371600"/>
          </a:xfrm>
          <a:prstGeom prst="rect">
            <a:avLst/>
          </a:prstGeom>
          <a:noFill/>
          <a:ln/>
        </p:spPr>
        <p:txBody>
          <a:bodyPr wrap="square" rtlCol="0" anchor="ctr"/>
          <a:lstStyle/>
          <a:p>
            <a:pPr marL="0" indent="0">
              <a:buNone/>
            </a:pPr>
            <a:r>
              <a:rPr lang="en-US" sz="7200" b="1" dirty="0">
                <a:solidFill>
                  <a:srgbClr val="0D1B2A">
                    <a:alpha val="75000"/>
                  </a:srgbClr>
                </a:solidFill>
                <a:latin typeface="Calibri" pitchFamily="34" charset="0"/>
                <a:ea typeface="Calibri" pitchFamily="34" charset="-122"/>
                <a:cs typeface="Calibri" pitchFamily="34" charset="-120"/>
              </a:rPr>
              <a:t>09</a:t>
            </a:r>
            <a:endParaRPr lang="en-US" sz="7200" dirty="0"/>
          </a:p>
        </p:txBody>
      </p:sp>
      <p:sp>
        <p:nvSpPr>
          <p:cNvPr id="4" name="Text 2"/>
          <p:cNvSpPr/>
          <p:nvPr/>
        </p:nvSpPr>
        <p:spPr>
          <a:xfrm>
            <a:off x="502920" y="1828800"/>
            <a:ext cx="8321040" cy="8229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Securite et Supervision</a:t>
            </a:r>
            <a:endParaRPr lang="en-US" sz="3400" dirty="0"/>
          </a:p>
        </p:txBody>
      </p:sp>
      <p:sp>
        <p:nvSpPr>
          <p:cNvPr id="5" name="Text 3"/>
          <p:cNvSpPr/>
          <p:nvPr/>
        </p:nvSpPr>
        <p:spPr>
          <a:xfrm>
            <a:off x="502920" y="2697480"/>
            <a:ext cx="8229600" cy="457200"/>
          </a:xfrm>
          <a:prstGeom prst="rect">
            <a:avLst/>
          </a:prstGeom>
          <a:noFill/>
          <a:ln/>
        </p:spPr>
        <p:txBody>
          <a:bodyPr wrap="square" rtlCol="0" anchor="ctr"/>
          <a:lstStyle/>
          <a:p>
            <a:pPr marL="0" indent="0">
              <a:buNone/>
            </a:pPr>
            <a:r>
              <a:rPr lang="en-US" sz="1400" i="1" dirty="0">
                <a:solidFill>
                  <a:srgbClr val="BDBDBD"/>
                </a:solidFill>
                <a:latin typeface="Calibri" pitchFamily="34" charset="0"/>
                <a:ea typeface="Calibri" pitchFamily="34" charset="-122"/>
                <a:cs typeface="Calibri" pitchFamily="34" charset="-120"/>
              </a:rPr>
              <a:t>DDoS · Chiffrement · Ping · Traceroute · TWAMP · Deploiement</a:t>
            </a:r>
            <a:endParaRPr lang="en-US" sz="1400" dirty="0"/>
          </a:p>
        </p:txBody>
      </p:sp>
      <p:sp>
        <p:nvSpPr>
          <p:cNvPr id="6" name="Shape 4"/>
          <p:cNvSpPr/>
          <p:nvPr/>
        </p:nvSpPr>
        <p:spPr>
          <a:xfrm>
            <a:off x="0" y="4919472"/>
            <a:ext cx="9144000" cy="228600"/>
          </a:xfrm>
          <a:prstGeom prst="rect">
            <a:avLst/>
          </a:prstGeom>
          <a:solidFill>
            <a:srgbClr val="0D1B2A"/>
          </a:solidFill>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Securite et QoS — Attaques DDoS et chiffrement</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256032" y="822960"/>
            <a:ext cx="4206240" cy="411480"/>
          </a:xfrm>
          <a:prstGeom prst="rect">
            <a:avLst/>
          </a:prstGeom>
          <a:solidFill>
            <a:srgbClr val="C62828"/>
          </a:solidFill>
          <a:ln/>
        </p:spPr>
      </p:sp>
      <p:sp>
        <p:nvSpPr>
          <p:cNvPr id="6" name="Text 4"/>
          <p:cNvSpPr/>
          <p:nvPr/>
        </p:nvSpPr>
        <p:spPr>
          <a:xfrm>
            <a:off x="256032" y="822960"/>
            <a:ext cx="420624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Attaques DDoS — La QoS devient inutile</a:t>
            </a:r>
            <a:endParaRPr lang="en-US" sz="1300" dirty="0"/>
          </a:p>
        </p:txBody>
      </p:sp>
      <p:sp>
        <p:nvSpPr>
          <p:cNvPr id="7" name="Shape 5"/>
          <p:cNvSpPr/>
          <p:nvPr/>
        </p:nvSpPr>
        <p:spPr>
          <a:xfrm>
            <a:off x="256032" y="1298448"/>
            <a:ext cx="4206240" cy="621792"/>
          </a:xfrm>
          <a:prstGeom prst="rect">
            <a:avLst/>
          </a:prstGeom>
          <a:solidFill>
            <a:srgbClr val="FFEBEE"/>
          </a:solidFill>
          <a:ln w="6350">
            <a:solidFill>
              <a:srgbClr val="C62828"/>
            </a:solidFill>
            <a:prstDash val="solid"/>
          </a:ln>
        </p:spPr>
      </p:sp>
      <p:sp>
        <p:nvSpPr>
          <p:cNvPr id="8" name="Text 6"/>
          <p:cNvSpPr/>
          <p:nvPr/>
        </p:nvSpPr>
        <p:spPr>
          <a:xfrm>
            <a:off x="365760" y="1316736"/>
            <a:ext cx="3977640" cy="237744"/>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Inondation UDP/ICMP</a:t>
            </a:r>
            <a:endParaRPr lang="en-US" sz="1100" dirty="0"/>
          </a:p>
        </p:txBody>
      </p:sp>
      <p:sp>
        <p:nvSpPr>
          <p:cNvPr id="9" name="Text 7"/>
          <p:cNvSpPr/>
          <p:nvPr/>
        </p:nvSpPr>
        <p:spPr>
          <a:xfrm>
            <a:off x="365760" y="1572768"/>
            <a:ext cx="3977640" cy="32004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Sature completement la bande passante. Meme la file EF est noyee car le LIEN physique est plein.</a:t>
            </a:r>
            <a:endParaRPr lang="en-US" sz="1100" dirty="0"/>
          </a:p>
        </p:txBody>
      </p:sp>
      <p:sp>
        <p:nvSpPr>
          <p:cNvPr id="10" name="Shape 8"/>
          <p:cNvSpPr/>
          <p:nvPr/>
        </p:nvSpPr>
        <p:spPr>
          <a:xfrm>
            <a:off x="256032" y="1984248"/>
            <a:ext cx="4206240" cy="621792"/>
          </a:xfrm>
          <a:prstGeom prst="rect">
            <a:avLst/>
          </a:prstGeom>
          <a:solidFill>
            <a:srgbClr val="FFEBEE"/>
          </a:solidFill>
          <a:ln w="6350">
            <a:solidFill>
              <a:srgbClr val="C62828"/>
            </a:solidFill>
            <a:prstDash val="solid"/>
          </a:ln>
        </p:spPr>
      </p:sp>
      <p:sp>
        <p:nvSpPr>
          <p:cNvPr id="11" name="Text 9"/>
          <p:cNvSpPr/>
          <p:nvPr/>
        </p:nvSpPr>
        <p:spPr>
          <a:xfrm>
            <a:off x="365760" y="2002536"/>
            <a:ext cx="3977640" cy="237744"/>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SYN Flood</a:t>
            </a:r>
            <a:endParaRPr lang="en-US" sz="1100" dirty="0"/>
          </a:p>
        </p:txBody>
      </p:sp>
      <p:sp>
        <p:nvSpPr>
          <p:cNvPr id="12" name="Text 10"/>
          <p:cNvSpPr/>
          <p:nvPr/>
        </p:nvSpPr>
        <p:spPr>
          <a:xfrm>
            <a:off x="365760" y="2258568"/>
            <a:ext cx="3977640" cy="32004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Remplit les tables de connexion des serveurs. Aucune nouvelle connexion TCP possible.</a:t>
            </a:r>
            <a:endParaRPr lang="en-US" sz="1100" dirty="0"/>
          </a:p>
        </p:txBody>
      </p:sp>
      <p:sp>
        <p:nvSpPr>
          <p:cNvPr id="13" name="Shape 11"/>
          <p:cNvSpPr/>
          <p:nvPr/>
        </p:nvSpPr>
        <p:spPr>
          <a:xfrm>
            <a:off x="256032" y="2670048"/>
            <a:ext cx="4206240" cy="621792"/>
          </a:xfrm>
          <a:prstGeom prst="rect">
            <a:avLst/>
          </a:prstGeom>
          <a:solidFill>
            <a:srgbClr val="FFEBEE"/>
          </a:solidFill>
          <a:ln w="6350">
            <a:solidFill>
              <a:srgbClr val="C62828"/>
            </a:solidFill>
            <a:prstDash val="solid"/>
          </a:ln>
        </p:spPr>
      </p:sp>
      <p:sp>
        <p:nvSpPr>
          <p:cNvPr id="14" name="Text 12"/>
          <p:cNvSpPr/>
          <p:nvPr/>
        </p:nvSpPr>
        <p:spPr>
          <a:xfrm>
            <a:off x="365760" y="2688336"/>
            <a:ext cx="3977640" cy="237744"/>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Amplification DNS/NTP</a:t>
            </a:r>
            <a:endParaRPr lang="en-US" sz="1100" dirty="0"/>
          </a:p>
        </p:txBody>
      </p:sp>
      <p:sp>
        <p:nvSpPr>
          <p:cNvPr id="15" name="Text 13"/>
          <p:cNvSpPr/>
          <p:nvPr/>
        </p:nvSpPr>
        <p:spPr>
          <a:xfrm>
            <a:off x="365760" y="2944368"/>
            <a:ext cx="3977640" cy="32004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Attaquant envoie 1 Mbps → amplificateurs renvoient 50 Mbps vers la victime.</a:t>
            </a:r>
            <a:endParaRPr lang="en-US" sz="1100" dirty="0"/>
          </a:p>
        </p:txBody>
      </p:sp>
      <p:sp>
        <p:nvSpPr>
          <p:cNvPr id="16" name="Shape 14"/>
          <p:cNvSpPr/>
          <p:nvPr/>
        </p:nvSpPr>
        <p:spPr>
          <a:xfrm>
            <a:off x="256032" y="3401568"/>
            <a:ext cx="4206240" cy="777240"/>
          </a:xfrm>
          <a:prstGeom prst="rect">
            <a:avLst/>
          </a:prstGeom>
          <a:solidFill>
            <a:srgbClr val="E8F5E9"/>
          </a:solidFill>
          <a:ln w="12700">
            <a:solidFill>
              <a:srgbClr val="2E7D32"/>
            </a:solidFill>
            <a:prstDash val="solid"/>
          </a:ln>
        </p:spPr>
      </p:sp>
      <p:sp>
        <p:nvSpPr>
          <p:cNvPr id="17" name="Text 15"/>
          <p:cNvSpPr/>
          <p:nvPr/>
        </p:nvSpPr>
        <p:spPr>
          <a:xfrm>
            <a:off x="365760" y="3429000"/>
            <a:ext cx="3977640" cy="256032"/>
          </a:xfrm>
          <a:prstGeom prst="rect">
            <a:avLst/>
          </a:prstGeom>
          <a:noFill/>
          <a:ln/>
        </p:spPr>
        <p:txBody>
          <a:bodyPr wrap="square" rtlCol="0" anchor="ctr"/>
          <a:lstStyle/>
          <a:p>
            <a:pPr marL="0" indent="0">
              <a:buNone/>
            </a:pPr>
            <a:r>
              <a:rPr lang="en-US" sz="1150" b="1" dirty="0">
                <a:latin typeface="Calibri" pitchFamily="34" charset="0"/>
                <a:ea typeface="Calibri" pitchFamily="34" charset="-122"/>
                <a:cs typeface="Calibri" pitchFamily="34" charset="-120"/>
              </a:rPr>
              <a:t>Contre-mesures :</a:t>
            </a:r>
            <a:endParaRPr lang="en-US" sz="1150" dirty="0"/>
          </a:p>
        </p:txBody>
      </p:sp>
      <p:sp>
        <p:nvSpPr>
          <p:cNvPr id="18" name="Text 16"/>
          <p:cNvSpPr/>
          <p:nvPr/>
        </p:nvSpPr>
        <p:spPr>
          <a:xfrm>
            <a:off x="365760" y="3703320"/>
            <a:ext cx="3977640" cy="438912"/>
          </a:xfrm>
          <a:prstGeom prst="rect">
            <a:avLst/>
          </a:prstGeom>
          <a:noFill/>
          <a:ln/>
        </p:spPr>
        <p:txBody>
          <a:bodyPr wrap="square" rtlCol="0" anchor="ctr"/>
          <a:lstStyle/>
          <a:p>
            <a:pPr marL="0" indent="0">
              <a:buNone/>
            </a:pPr>
            <a:r>
              <a:rPr lang="en-US" sz="1050" dirty="0">
                <a:latin typeface="Calibri" pitchFamily="34" charset="0"/>
                <a:ea typeface="Calibri" pitchFamily="34" charset="-122"/>
                <a:cs typeface="Calibri" pitchFamily="34" charset="-120"/>
              </a:rPr>
              <a:t>Rate Limiting (limiter debit suspects) | Scrubbing Centers (filtrage amont) | RTBH = Remote Triggered Black Hole (BGP : bloquer pres des sources) | Blacklisting dynamique</a:t>
            </a:r>
            <a:endParaRPr lang="en-US" sz="1050" dirty="0"/>
          </a:p>
        </p:txBody>
      </p:sp>
      <p:sp>
        <p:nvSpPr>
          <p:cNvPr id="19" name="Shape 17"/>
          <p:cNvSpPr/>
          <p:nvPr/>
        </p:nvSpPr>
        <p:spPr>
          <a:xfrm>
            <a:off x="4681728" y="822960"/>
            <a:ext cx="4206240" cy="411480"/>
          </a:xfrm>
          <a:prstGeom prst="rect">
            <a:avLst/>
          </a:prstGeom>
          <a:solidFill>
            <a:srgbClr val="1565C0"/>
          </a:solidFill>
          <a:ln/>
        </p:spPr>
      </p:sp>
      <p:sp>
        <p:nvSpPr>
          <p:cNvPr id="20" name="Text 18"/>
          <p:cNvSpPr/>
          <p:nvPr/>
        </p:nvSpPr>
        <p:spPr>
          <a:xfrm>
            <a:off x="4681728" y="822960"/>
            <a:ext cx="420624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Chiffrement — Impact sur la QoS</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2488979804"/>
              </p:ext>
            </p:extLst>
          </p:nvPr>
        </p:nvGraphicFramePr>
        <p:xfrm>
          <a:off x="4667416" y="1298448"/>
          <a:ext cx="4220552" cy="1874520"/>
        </p:xfrm>
        <a:graphic>
          <a:graphicData uri="http://schemas.openxmlformats.org/drawingml/2006/table">
            <a:tbl>
              <a:tblPr/>
              <a:tblGrid>
                <a:gridCol w="1248752">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32004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Protocole</a:t>
                      </a:r>
                      <a:endParaRPr lang="en-US" sz="12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Overhead</a:t>
                      </a:r>
                      <a:endParaRPr lang="en-US" sz="12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Impact QoS</a:t>
                      </a:r>
                      <a:endParaRPr lang="en-US" sz="12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20040">
                <a:tc>
                  <a:txBody>
                    <a:bodyPr/>
                    <a:lstStyle/>
                    <a:p>
                      <a:pPr marL="0" indent="0">
                        <a:buNone/>
                      </a:pPr>
                      <a:r>
                        <a:rPr lang="en-US" sz="1200" b="1" dirty="0">
                          <a:solidFill>
                            <a:srgbClr val="0D1B2A"/>
                          </a:solidFill>
                          <a:latin typeface="Calibri" pitchFamily="34" charset="0"/>
                          <a:ea typeface="Calibri" pitchFamily="34" charset="-122"/>
                          <a:cs typeface="Calibri" pitchFamily="34" charset="-120"/>
                        </a:rPr>
                        <a:t>TLS 1.3</a:t>
                      </a:r>
                      <a:endParaRPr lang="en-US" sz="12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E7D32"/>
                          </a:solidFill>
                          <a:latin typeface="Calibri" pitchFamily="34" charset="0"/>
                          <a:ea typeface="Calibri" pitchFamily="34" charset="-122"/>
                          <a:cs typeface="Calibri" pitchFamily="34" charset="-120"/>
                        </a:rPr>
                        <a:t>&lt; 1%</a:t>
                      </a:r>
                      <a:endParaRPr lang="en-US" sz="11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buNone/>
                      </a:pPr>
                      <a:r>
                        <a:rPr lang="en-US" sz="1050" dirty="0">
                          <a:solidFill>
                            <a:srgbClr val="212121"/>
                          </a:solidFill>
                          <a:latin typeface="Calibri" pitchFamily="34" charset="0"/>
                          <a:ea typeface="Calibri" pitchFamily="34" charset="-122"/>
                          <a:cs typeface="Calibri" pitchFamily="34" charset="-120"/>
                        </a:rPr>
                        <a:t>Quasi transparent. Seul le handshake initial ajoute 1-5ms.</a:t>
                      </a:r>
                      <a:endParaRPr lang="en-US" sz="105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buNone/>
                      </a:pPr>
                      <a:r>
                        <a:rPr lang="en-US" sz="1200" b="1" dirty="0">
                          <a:solidFill>
                            <a:srgbClr val="0D1B2A"/>
                          </a:solidFill>
                          <a:latin typeface="Calibri" pitchFamily="34" charset="0"/>
                          <a:ea typeface="Calibri" pitchFamily="34" charset="-122"/>
                          <a:cs typeface="Calibri" pitchFamily="34" charset="-120"/>
                        </a:rPr>
                        <a:t>IPSec tunnel</a:t>
                      </a:r>
                      <a:endParaRPr lang="en-US" sz="12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ctr">
                        <a:buNone/>
                      </a:pPr>
                      <a:r>
                        <a:rPr lang="en-US" sz="1100" b="1" dirty="0">
                          <a:solidFill>
                            <a:srgbClr val="E65100"/>
                          </a:solidFill>
                          <a:latin typeface="Calibri" pitchFamily="34" charset="0"/>
                          <a:ea typeface="Calibri" pitchFamily="34" charset="-122"/>
                          <a:cs typeface="Calibri" pitchFamily="34" charset="-120"/>
                        </a:rPr>
                        <a:t>10-15%</a:t>
                      </a:r>
                      <a:endParaRPr lang="en-US" sz="11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buNone/>
                      </a:pPr>
                      <a:r>
                        <a:rPr lang="en-US" sz="1050" dirty="0">
                          <a:solidFill>
                            <a:srgbClr val="212121"/>
                          </a:solidFill>
                          <a:latin typeface="Calibri" pitchFamily="34" charset="0"/>
                          <a:ea typeface="Calibri" pitchFamily="34" charset="-122"/>
                          <a:cs typeface="Calibri" pitchFamily="34" charset="-120"/>
                        </a:rPr>
                        <a:t>Fragmentation possible. Delai accru sur liens lents.</a:t>
                      </a:r>
                      <a:endParaRPr lang="en-US" sz="105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20040">
                <a:tc>
                  <a:txBody>
                    <a:bodyPr/>
                    <a:lstStyle/>
                    <a:p>
                      <a:pPr marL="0" indent="0">
                        <a:buNone/>
                      </a:pPr>
                      <a:r>
                        <a:rPr lang="en-US" sz="1200" b="1" dirty="0">
                          <a:solidFill>
                            <a:srgbClr val="0D1B2A"/>
                          </a:solidFill>
                          <a:latin typeface="Calibri" pitchFamily="34" charset="0"/>
                          <a:ea typeface="Calibri" pitchFamily="34" charset="-122"/>
                          <a:cs typeface="Calibri" pitchFamily="34" charset="-120"/>
                        </a:rPr>
                        <a:t>IPSec transport</a:t>
                      </a:r>
                      <a:endParaRPr lang="en-US" sz="12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57F17"/>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buNone/>
                      </a:pPr>
                      <a:r>
                        <a:rPr lang="en-US" sz="1050" dirty="0">
                          <a:solidFill>
                            <a:srgbClr val="212121"/>
                          </a:solidFill>
                          <a:latin typeface="Calibri" pitchFamily="34" charset="0"/>
                          <a:ea typeface="Calibri" pitchFamily="34" charset="-122"/>
                          <a:cs typeface="Calibri" pitchFamily="34" charset="-120"/>
                        </a:rPr>
                        <a:t>Plus leger que le tunnel.</a:t>
                      </a:r>
                      <a:endParaRPr lang="en-US" sz="105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buNone/>
                      </a:pPr>
                      <a:r>
                        <a:rPr lang="en-US" sz="1200" b="1" dirty="0">
                          <a:solidFill>
                            <a:srgbClr val="0D1B2A"/>
                          </a:solidFill>
                          <a:latin typeface="Calibri" pitchFamily="34" charset="0"/>
                          <a:ea typeface="Calibri" pitchFamily="34" charset="-122"/>
                          <a:cs typeface="Calibri" pitchFamily="34" charset="-120"/>
                        </a:rPr>
                        <a:t>SRTP (VoIP)</a:t>
                      </a:r>
                      <a:endParaRPr lang="en-US" sz="12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ctr">
                        <a:buNone/>
                      </a:pPr>
                      <a:r>
                        <a:rPr lang="en-US" sz="1100" b="1" dirty="0">
                          <a:solidFill>
                            <a:srgbClr val="00796B"/>
                          </a:solidFill>
                          <a:latin typeface="Calibri" pitchFamily="34" charset="0"/>
                          <a:ea typeface="Calibri" pitchFamily="34" charset="-122"/>
                          <a:cs typeface="Calibri" pitchFamily="34" charset="-120"/>
                        </a:rPr>
                        <a:t>Minimal</a:t>
                      </a:r>
                      <a:endParaRPr lang="en-US" sz="11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buNone/>
                      </a:pPr>
                      <a:r>
                        <a:rPr lang="en-US" sz="1050" dirty="0">
                          <a:solidFill>
                            <a:srgbClr val="212121"/>
                          </a:solidFill>
                          <a:latin typeface="Calibri" pitchFamily="34" charset="0"/>
                          <a:ea typeface="Calibri" pitchFamily="34" charset="-122"/>
                          <a:cs typeface="Calibri" pitchFamily="34" charset="-120"/>
                        </a:rPr>
                        <a:t>Transparent pour la voix. Recommande.</a:t>
                      </a:r>
                      <a:endParaRPr lang="en-US" sz="105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22" name="Shape 19"/>
          <p:cNvSpPr/>
          <p:nvPr/>
        </p:nvSpPr>
        <p:spPr>
          <a:xfrm>
            <a:off x="4681728" y="2999232"/>
            <a:ext cx="4206240" cy="566928"/>
          </a:xfrm>
          <a:prstGeom prst="rect">
            <a:avLst/>
          </a:prstGeom>
          <a:solidFill>
            <a:srgbClr val="FFF8E1"/>
          </a:solidFill>
          <a:ln w="12700">
            <a:solidFill>
              <a:srgbClr val="E65100"/>
            </a:solidFill>
            <a:prstDash val="solid"/>
          </a:ln>
        </p:spPr>
      </p:sp>
      <p:sp>
        <p:nvSpPr>
          <p:cNvPr id="23" name="Text 20"/>
          <p:cNvSpPr/>
          <p:nvPr/>
        </p:nvSpPr>
        <p:spPr>
          <a:xfrm>
            <a:off x="4800600" y="3017520"/>
            <a:ext cx="3977640" cy="256032"/>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Probleme DSCP + IPSec tunnel :</a:t>
            </a:r>
            <a:endParaRPr lang="en-US" sz="1100" dirty="0"/>
          </a:p>
        </p:txBody>
      </p:sp>
      <p:sp>
        <p:nvSpPr>
          <p:cNvPr id="24" name="Text 21"/>
          <p:cNvSpPr/>
          <p:nvPr/>
        </p:nvSpPr>
        <p:spPr>
          <a:xfrm>
            <a:off x="4800600" y="3273552"/>
            <a:ext cx="3977640" cy="25603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Le DSCP original est cache dans le tunnel. Il faut le copier dans l en-tete externe.</a:t>
            </a:r>
            <a:endParaRPr lang="en-US" sz="1100" dirty="0"/>
          </a:p>
        </p:txBody>
      </p:sp>
      <p:sp>
        <p:nvSpPr>
          <p:cNvPr id="25" name="Shape 22"/>
          <p:cNvSpPr/>
          <p:nvPr/>
        </p:nvSpPr>
        <p:spPr>
          <a:xfrm>
            <a:off x="4681728" y="3639312"/>
            <a:ext cx="4206240" cy="566928"/>
          </a:xfrm>
          <a:prstGeom prst="rect">
            <a:avLst/>
          </a:prstGeom>
          <a:solidFill>
            <a:srgbClr val="E3F2FD"/>
          </a:solidFill>
          <a:ln w="12700">
            <a:solidFill>
              <a:srgbClr val="1565C0"/>
            </a:solidFill>
            <a:prstDash val="solid"/>
          </a:ln>
        </p:spPr>
      </p:sp>
      <p:sp>
        <p:nvSpPr>
          <p:cNvPr id="26" name="Text 23"/>
          <p:cNvSpPr/>
          <p:nvPr/>
        </p:nvSpPr>
        <p:spPr>
          <a:xfrm>
            <a:off x="4800600" y="3657600"/>
            <a:ext cx="3977640" cy="256032"/>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DPI (Deep Packet Inspection) :</a:t>
            </a:r>
            <a:endParaRPr lang="en-US" sz="1200" dirty="0"/>
          </a:p>
        </p:txBody>
      </p:sp>
      <p:sp>
        <p:nvSpPr>
          <p:cNvPr id="27" name="Text 24"/>
          <p:cNvSpPr/>
          <p:nvPr/>
        </p:nvSpPr>
        <p:spPr>
          <a:xfrm>
            <a:off x="4800600" y="3913632"/>
            <a:ext cx="3977640" cy="256032"/>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Inspecte le contenu pour classer le trafic. Efficace pour QoS mais souleve des questions de vie privee (RGPD).</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Outils de supervision QoS — Mesurer pour garantir</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'On ne gere que ce qu on mesure.' Sans outils de mesure, impossible de verifier le respect du SLA.</a:t>
            </a:r>
            <a:endParaRPr lang="en-US" sz="1100" dirty="0"/>
          </a:p>
        </p:txBody>
      </p:sp>
      <p:sp>
        <p:nvSpPr>
          <p:cNvPr id="6" name="Shape 4"/>
          <p:cNvSpPr/>
          <p:nvPr/>
        </p:nvSpPr>
        <p:spPr>
          <a:xfrm>
            <a:off x="201168" y="1170432"/>
            <a:ext cx="2834640" cy="1737360"/>
          </a:xfrm>
          <a:prstGeom prst="rect">
            <a:avLst/>
          </a:prstGeom>
          <a:solidFill>
            <a:srgbClr val="FFFFFF"/>
          </a:solidFill>
          <a:ln w="12700">
            <a:solidFill>
              <a:srgbClr val="1565C0"/>
            </a:solidFill>
            <a:prstDash val="solid"/>
          </a:ln>
          <a:effectLst>
            <a:outerShdw blurRad="63500" dist="25400" dir="8100000" algn="bl" rotWithShape="0">
              <a:srgbClr val="000000">
                <a:alpha val="10000"/>
              </a:srgbClr>
            </a:outerShdw>
          </a:effectLst>
        </p:spPr>
      </p:sp>
      <p:sp>
        <p:nvSpPr>
          <p:cNvPr id="7" name="Shape 5"/>
          <p:cNvSpPr/>
          <p:nvPr/>
        </p:nvSpPr>
        <p:spPr>
          <a:xfrm>
            <a:off x="201168" y="1170432"/>
            <a:ext cx="2834640" cy="438912"/>
          </a:xfrm>
          <a:prstGeom prst="rect">
            <a:avLst/>
          </a:prstGeom>
          <a:solidFill>
            <a:srgbClr val="1565C0"/>
          </a:solidFill>
          <a:ln/>
        </p:spPr>
      </p:sp>
      <p:sp>
        <p:nvSpPr>
          <p:cNvPr id="8" name="Text 6"/>
          <p:cNvSpPr/>
          <p:nvPr/>
        </p:nvSpPr>
        <p:spPr>
          <a:xfrm>
            <a:off x="274320" y="1170432"/>
            <a:ext cx="214884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Ping</a:t>
            </a:r>
            <a:endParaRPr lang="en-US" sz="1300" dirty="0"/>
          </a:p>
        </p:txBody>
      </p:sp>
      <p:sp>
        <p:nvSpPr>
          <p:cNvPr id="9" name="Shape 7"/>
          <p:cNvSpPr/>
          <p:nvPr/>
        </p:nvSpPr>
        <p:spPr>
          <a:xfrm>
            <a:off x="2468880" y="1225296"/>
            <a:ext cx="512064" cy="274320"/>
          </a:xfrm>
          <a:prstGeom prst="rect">
            <a:avLst/>
          </a:prstGeom>
          <a:solidFill>
            <a:srgbClr val="FFFFFF">
              <a:alpha val="35000"/>
            </a:srgbClr>
          </a:solidFill>
          <a:ln/>
        </p:spPr>
      </p:sp>
      <p:sp>
        <p:nvSpPr>
          <p:cNvPr id="10" name="Text 8"/>
          <p:cNvSpPr/>
          <p:nvPr/>
        </p:nvSpPr>
        <p:spPr>
          <a:xfrm>
            <a:off x="2468880" y="1225296"/>
            <a:ext cx="512064" cy="27432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ICMP Echo</a:t>
            </a:r>
            <a:endParaRPr lang="en-US" sz="700" dirty="0"/>
          </a:p>
        </p:txBody>
      </p:sp>
      <p:sp>
        <p:nvSpPr>
          <p:cNvPr id="11" name="Text 9"/>
          <p:cNvSpPr/>
          <p:nvPr/>
        </p:nvSpPr>
        <p:spPr>
          <a:xfrm>
            <a:off x="292608" y="1645920"/>
            <a:ext cx="2651760" cy="274320"/>
          </a:xfrm>
          <a:prstGeom prst="rect">
            <a:avLst/>
          </a:prstGeom>
          <a:noFill/>
          <a:ln/>
        </p:spPr>
        <p:txBody>
          <a:bodyPr wrap="square" rtlCol="0" anchor="ctr"/>
          <a:lstStyle/>
          <a:p>
            <a:pPr marL="0" indent="0">
              <a:buNone/>
            </a:pPr>
            <a:r>
              <a:rPr lang="en-US" sz="950" b="1" dirty="0">
                <a:latin typeface="Calibri" pitchFamily="34" charset="0"/>
                <a:ea typeface="Calibri" pitchFamily="34" charset="-122"/>
                <a:cs typeface="Calibri" pitchFamily="34" charset="-120"/>
              </a:rPr>
              <a:t>RTT, perte, gigue approx.</a:t>
            </a:r>
            <a:endParaRPr lang="en-US" sz="950" dirty="0"/>
          </a:p>
        </p:txBody>
      </p:sp>
      <p:sp>
        <p:nvSpPr>
          <p:cNvPr id="12" name="Text 10"/>
          <p:cNvSpPr/>
          <p:nvPr/>
        </p:nvSpPr>
        <p:spPr>
          <a:xfrm>
            <a:off x="292608" y="1920240"/>
            <a:ext cx="2651760" cy="228600"/>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Diagnostic rapide : connectivite et latence</a:t>
            </a:r>
            <a:endParaRPr lang="en-US" sz="1100" dirty="0"/>
          </a:p>
        </p:txBody>
      </p:sp>
      <p:sp>
        <p:nvSpPr>
          <p:cNvPr id="13" name="Shape 11"/>
          <p:cNvSpPr/>
          <p:nvPr/>
        </p:nvSpPr>
        <p:spPr>
          <a:xfrm>
            <a:off x="274320" y="2176272"/>
            <a:ext cx="2688336" cy="274320"/>
          </a:xfrm>
          <a:prstGeom prst="rect">
            <a:avLst/>
          </a:prstGeom>
          <a:solidFill>
            <a:srgbClr val="F5F5F5"/>
          </a:solidFill>
          <a:ln w="3810">
            <a:solidFill>
              <a:srgbClr val="BDBDBD"/>
            </a:solidFill>
            <a:prstDash val="solid"/>
          </a:ln>
        </p:spPr>
      </p:sp>
      <p:sp>
        <p:nvSpPr>
          <p:cNvPr id="14" name="Text 12"/>
          <p:cNvSpPr/>
          <p:nvPr/>
        </p:nvSpPr>
        <p:spPr>
          <a:xfrm>
            <a:off x="310896" y="2194560"/>
            <a:ext cx="2633472" cy="237744"/>
          </a:xfrm>
          <a:prstGeom prst="rect">
            <a:avLst/>
          </a:prstGeom>
          <a:noFill/>
          <a:ln/>
        </p:spPr>
        <p:txBody>
          <a:bodyPr wrap="square" rtlCol="0" anchor="ctr"/>
          <a:lstStyle/>
          <a:p>
            <a:pPr marL="0" indent="0">
              <a:buNone/>
            </a:pPr>
            <a:r>
              <a:rPr lang="en-US" sz="1050" dirty="0">
                <a:latin typeface="Calibri" pitchFamily="34" charset="0"/>
                <a:ea typeface="Calibri" pitchFamily="34" charset="-122"/>
                <a:cs typeface="Calibri" pitchFamily="34" charset="-120"/>
              </a:rPr>
              <a:t>$ ping -c 100 192.168.1.1</a:t>
            </a:r>
            <a:endParaRPr lang="en-US" sz="1050" dirty="0"/>
          </a:p>
        </p:txBody>
      </p:sp>
      <p:sp>
        <p:nvSpPr>
          <p:cNvPr id="15" name="Text 13"/>
          <p:cNvSpPr/>
          <p:nvPr/>
        </p:nvSpPr>
        <p:spPr>
          <a:xfrm>
            <a:off x="292608" y="2487168"/>
            <a:ext cx="2651760" cy="365760"/>
          </a:xfrm>
          <a:prstGeom prst="rect">
            <a:avLst/>
          </a:prstGeom>
          <a:noFill/>
          <a:ln/>
        </p:spPr>
        <p:txBody>
          <a:bodyPr wrap="square" rtlCol="0" anchor="ctr"/>
          <a:lstStyle/>
          <a:p>
            <a:pPr marL="0" indent="0">
              <a:buNone/>
            </a:pPr>
            <a:r>
              <a:rPr lang="en-US" sz="1050" i="1" dirty="0">
                <a:latin typeface="Calibri" pitchFamily="34" charset="0"/>
                <a:ea typeface="Calibri" pitchFamily="34" charset="-122"/>
                <a:cs typeface="Calibri" pitchFamily="34" charset="-120"/>
              </a:rPr>
              <a:t>Limite : RTT seulement (pas OWD), ICMP peut etre filtre</a:t>
            </a:r>
            <a:endParaRPr lang="en-US" sz="1050" dirty="0"/>
          </a:p>
        </p:txBody>
      </p:sp>
      <p:sp>
        <p:nvSpPr>
          <p:cNvPr id="16" name="Shape 14"/>
          <p:cNvSpPr/>
          <p:nvPr/>
        </p:nvSpPr>
        <p:spPr>
          <a:xfrm>
            <a:off x="3200400" y="1170432"/>
            <a:ext cx="2834640" cy="1737360"/>
          </a:xfrm>
          <a:prstGeom prst="rect">
            <a:avLst/>
          </a:prstGeom>
          <a:solidFill>
            <a:srgbClr val="FFFFFF"/>
          </a:solidFill>
          <a:ln w="12700">
            <a:solidFill>
              <a:srgbClr val="00796B"/>
            </a:solidFill>
            <a:prstDash val="solid"/>
          </a:ln>
          <a:effectLst>
            <a:outerShdw blurRad="63500" dist="25400" dir="8100000" algn="bl" rotWithShape="0">
              <a:srgbClr val="000000">
                <a:alpha val="10000"/>
              </a:srgbClr>
            </a:outerShdw>
          </a:effectLst>
        </p:spPr>
      </p:sp>
      <p:sp>
        <p:nvSpPr>
          <p:cNvPr id="17" name="Shape 15"/>
          <p:cNvSpPr/>
          <p:nvPr/>
        </p:nvSpPr>
        <p:spPr>
          <a:xfrm>
            <a:off x="3200400" y="1170432"/>
            <a:ext cx="2834640" cy="438912"/>
          </a:xfrm>
          <a:prstGeom prst="rect">
            <a:avLst/>
          </a:prstGeom>
          <a:solidFill>
            <a:srgbClr val="00796B"/>
          </a:solidFill>
          <a:ln/>
        </p:spPr>
      </p:sp>
      <p:sp>
        <p:nvSpPr>
          <p:cNvPr id="18" name="Text 16"/>
          <p:cNvSpPr/>
          <p:nvPr/>
        </p:nvSpPr>
        <p:spPr>
          <a:xfrm>
            <a:off x="3273552" y="1170432"/>
            <a:ext cx="214884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Traceroute/MTR</a:t>
            </a:r>
            <a:endParaRPr lang="en-US" sz="1300" dirty="0"/>
          </a:p>
        </p:txBody>
      </p:sp>
      <p:sp>
        <p:nvSpPr>
          <p:cNvPr id="19" name="Shape 17"/>
          <p:cNvSpPr/>
          <p:nvPr/>
        </p:nvSpPr>
        <p:spPr>
          <a:xfrm>
            <a:off x="5468112" y="1225296"/>
            <a:ext cx="512064" cy="274320"/>
          </a:xfrm>
          <a:prstGeom prst="rect">
            <a:avLst/>
          </a:prstGeom>
          <a:solidFill>
            <a:srgbClr val="FFFFFF">
              <a:alpha val="35000"/>
            </a:srgbClr>
          </a:solidFill>
          <a:ln/>
        </p:spPr>
      </p:sp>
      <p:sp>
        <p:nvSpPr>
          <p:cNvPr id="20" name="Text 18"/>
          <p:cNvSpPr/>
          <p:nvPr/>
        </p:nvSpPr>
        <p:spPr>
          <a:xfrm>
            <a:off x="5468112" y="1225296"/>
            <a:ext cx="512064" cy="27432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TTL+ICMP</a:t>
            </a:r>
            <a:endParaRPr lang="en-US" sz="700" dirty="0"/>
          </a:p>
        </p:txBody>
      </p:sp>
      <p:sp>
        <p:nvSpPr>
          <p:cNvPr id="21" name="Text 19"/>
          <p:cNvSpPr/>
          <p:nvPr/>
        </p:nvSpPr>
        <p:spPr>
          <a:xfrm>
            <a:off x="3291840" y="1645920"/>
            <a:ext cx="2651760" cy="274320"/>
          </a:xfrm>
          <a:prstGeom prst="rect">
            <a:avLst/>
          </a:prstGeom>
          <a:noFill/>
          <a:ln/>
        </p:spPr>
        <p:txBody>
          <a:bodyPr wrap="square" rtlCol="0" anchor="ctr"/>
          <a:lstStyle/>
          <a:p>
            <a:pPr marL="0" indent="0">
              <a:buNone/>
            </a:pPr>
            <a:r>
              <a:rPr lang="en-US" sz="950" b="1" dirty="0">
                <a:solidFill>
                  <a:srgbClr val="00796B"/>
                </a:solidFill>
                <a:latin typeface="Calibri" pitchFamily="34" charset="0"/>
                <a:ea typeface="Calibri" pitchFamily="34" charset="-122"/>
                <a:cs typeface="Calibri" pitchFamily="34" charset="-120"/>
              </a:rPr>
              <a:t>Chemin, RTT par saut, perte par hop</a:t>
            </a:r>
            <a:endParaRPr lang="en-US" sz="950" dirty="0"/>
          </a:p>
        </p:txBody>
      </p:sp>
      <p:sp>
        <p:nvSpPr>
          <p:cNvPr id="22" name="Text 20"/>
          <p:cNvSpPr/>
          <p:nvPr/>
        </p:nvSpPr>
        <p:spPr>
          <a:xfrm>
            <a:off x="3291840" y="1920240"/>
            <a:ext cx="2651760" cy="228600"/>
          </a:xfrm>
          <a:prstGeom prst="rect">
            <a:avLst/>
          </a:prstGeom>
          <a:noFill/>
          <a:ln/>
        </p:spPr>
        <p:txBody>
          <a:bodyPr wrap="square" rtlCol="0" anchor="ctr"/>
          <a:lstStyle/>
          <a:p>
            <a:pPr marL="0" indent="0">
              <a:buNone/>
            </a:pPr>
            <a:r>
              <a:rPr lang="en-US" sz="1050" dirty="0">
                <a:latin typeface="Calibri" pitchFamily="34" charset="0"/>
                <a:ea typeface="Calibri" pitchFamily="34" charset="-122"/>
                <a:cs typeface="Calibri" pitchFamily="34" charset="-120"/>
              </a:rPr>
              <a:t>Localiser un goulot d etranglement</a:t>
            </a:r>
            <a:endParaRPr lang="en-US" sz="1050" dirty="0"/>
          </a:p>
        </p:txBody>
      </p:sp>
      <p:sp>
        <p:nvSpPr>
          <p:cNvPr id="23" name="Shape 21"/>
          <p:cNvSpPr/>
          <p:nvPr/>
        </p:nvSpPr>
        <p:spPr>
          <a:xfrm>
            <a:off x="3273552" y="2176272"/>
            <a:ext cx="2688336" cy="274320"/>
          </a:xfrm>
          <a:prstGeom prst="rect">
            <a:avLst/>
          </a:prstGeom>
          <a:solidFill>
            <a:srgbClr val="F5F5F5"/>
          </a:solidFill>
          <a:ln w="3810">
            <a:solidFill>
              <a:srgbClr val="BDBDBD"/>
            </a:solidFill>
            <a:prstDash val="solid"/>
          </a:ln>
        </p:spPr>
      </p:sp>
      <p:sp>
        <p:nvSpPr>
          <p:cNvPr id="24" name="Text 22"/>
          <p:cNvSpPr/>
          <p:nvPr/>
        </p:nvSpPr>
        <p:spPr>
          <a:xfrm>
            <a:off x="3310128" y="2194560"/>
            <a:ext cx="2633472" cy="237744"/>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 mtr --report google.com</a:t>
            </a:r>
            <a:endParaRPr lang="en-US" sz="1100" dirty="0"/>
          </a:p>
        </p:txBody>
      </p:sp>
      <p:sp>
        <p:nvSpPr>
          <p:cNvPr id="25" name="Text 23"/>
          <p:cNvSpPr/>
          <p:nvPr/>
        </p:nvSpPr>
        <p:spPr>
          <a:xfrm>
            <a:off x="3291840" y="2487168"/>
            <a:ext cx="2651760" cy="365760"/>
          </a:xfrm>
          <a:prstGeom prst="rect">
            <a:avLst/>
          </a:prstGeom>
          <a:noFill/>
          <a:ln/>
        </p:spPr>
        <p:txBody>
          <a:bodyPr wrap="square" rtlCol="0" anchor="ctr"/>
          <a:lstStyle/>
          <a:p>
            <a:pPr marL="0" indent="0">
              <a:buNone/>
            </a:pPr>
            <a:r>
              <a:rPr lang="en-US" sz="1000" i="1" dirty="0">
                <a:latin typeface="Calibri" pitchFamily="34" charset="0"/>
                <a:ea typeface="Calibri" pitchFamily="34" charset="-122"/>
                <a:cs typeface="Calibri" pitchFamily="34" charset="-120"/>
              </a:rPr>
              <a:t>Limite : Sauts silencieux (***), asymetrie possible</a:t>
            </a:r>
            <a:endParaRPr lang="en-US" sz="1000" dirty="0"/>
          </a:p>
        </p:txBody>
      </p:sp>
      <p:sp>
        <p:nvSpPr>
          <p:cNvPr id="26" name="Shape 24"/>
          <p:cNvSpPr/>
          <p:nvPr/>
        </p:nvSpPr>
        <p:spPr>
          <a:xfrm>
            <a:off x="6199632" y="1170432"/>
            <a:ext cx="2834640" cy="1737360"/>
          </a:xfrm>
          <a:prstGeom prst="rect">
            <a:avLst/>
          </a:prstGeom>
          <a:solidFill>
            <a:srgbClr val="FFFFFF"/>
          </a:solidFill>
          <a:ln w="12700">
            <a:solidFill>
              <a:srgbClr val="0D1B2A"/>
            </a:solidFill>
            <a:prstDash val="solid"/>
          </a:ln>
          <a:effectLst>
            <a:outerShdw blurRad="63500" dist="25400" dir="8100000" algn="bl" rotWithShape="0">
              <a:srgbClr val="000000">
                <a:alpha val="10000"/>
              </a:srgbClr>
            </a:outerShdw>
          </a:effectLst>
        </p:spPr>
      </p:sp>
      <p:sp>
        <p:nvSpPr>
          <p:cNvPr id="27" name="Shape 25"/>
          <p:cNvSpPr/>
          <p:nvPr/>
        </p:nvSpPr>
        <p:spPr>
          <a:xfrm>
            <a:off x="6199632" y="1170432"/>
            <a:ext cx="2834640" cy="438912"/>
          </a:xfrm>
          <a:prstGeom prst="rect">
            <a:avLst/>
          </a:prstGeom>
          <a:solidFill>
            <a:srgbClr val="0D1B2A"/>
          </a:solidFill>
          <a:ln/>
        </p:spPr>
      </p:sp>
      <p:sp>
        <p:nvSpPr>
          <p:cNvPr id="28" name="Text 26"/>
          <p:cNvSpPr/>
          <p:nvPr/>
        </p:nvSpPr>
        <p:spPr>
          <a:xfrm>
            <a:off x="6272784" y="1170432"/>
            <a:ext cx="214884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SNMP</a:t>
            </a:r>
            <a:endParaRPr lang="en-US" sz="1300" dirty="0"/>
          </a:p>
        </p:txBody>
      </p:sp>
      <p:sp>
        <p:nvSpPr>
          <p:cNvPr id="30" name="Text 28"/>
          <p:cNvSpPr/>
          <p:nvPr/>
        </p:nvSpPr>
        <p:spPr>
          <a:xfrm>
            <a:off x="8102379" y="1115568"/>
            <a:ext cx="877029" cy="475488"/>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UDP / v1/v2c/v3</a:t>
            </a:r>
            <a:endParaRPr lang="en-US" sz="900" dirty="0"/>
          </a:p>
        </p:txBody>
      </p:sp>
      <p:sp>
        <p:nvSpPr>
          <p:cNvPr id="31" name="Text 29"/>
          <p:cNvSpPr/>
          <p:nvPr/>
        </p:nvSpPr>
        <p:spPr>
          <a:xfrm>
            <a:off x="6291072" y="1645920"/>
            <a:ext cx="2651760" cy="274320"/>
          </a:xfrm>
          <a:prstGeom prst="rect">
            <a:avLst/>
          </a:prstGeom>
          <a:noFill/>
          <a:ln/>
        </p:spPr>
        <p:txBody>
          <a:bodyPr wrap="square"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Compteurs interfaces, files, CPU</a:t>
            </a:r>
            <a:endParaRPr lang="en-US" sz="950" dirty="0"/>
          </a:p>
        </p:txBody>
      </p:sp>
      <p:sp>
        <p:nvSpPr>
          <p:cNvPr id="32" name="Text 30"/>
          <p:cNvSpPr/>
          <p:nvPr/>
        </p:nvSpPr>
        <p:spPr>
          <a:xfrm>
            <a:off x="6291072" y="1920240"/>
            <a:ext cx="2651760" cy="228600"/>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Supervision continue des equipements</a:t>
            </a:r>
            <a:endParaRPr lang="en-US" sz="1100" dirty="0"/>
          </a:p>
        </p:txBody>
      </p:sp>
      <p:sp>
        <p:nvSpPr>
          <p:cNvPr id="33" name="Shape 31"/>
          <p:cNvSpPr/>
          <p:nvPr/>
        </p:nvSpPr>
        <p:spPr>
          <a:xfrm>
            <a:off x="6272784" y="2176272"/>
            <a:ext cx="2688336" cy="274320"/>
          </a:xfrm>
          <a:prstGeom prst="rect">
            <a:avLst/>
          </a:prstGeom>
          <a:solidFill>
            <a:srgbClr val="F5F5F5"/>
          </a:solidFill>
          <a:ln w="3810">
            <a:solidFill>
              <a:srgbClr val="BDBDBD"/>
            </a:solidFill>
            <a:prstDash val="solid"/>
          </a:ln>
        </p:spPr>
      </p:sp>
      <p:sp>
        <p:nvSpPr>
          <p:cNvPr id="34" name="Text 32"/>
          <p:cNvSpPr/>
          <p:nvPr/>
        </p:nvSpPr>
        <p:spPr>
          <a:xfrm>
            <a:off x="6309360" y="2194560"/>
            <a:ext cx="2633472" cy="237744"/>
          </a:xfrm>
          <a:prstGeom prst="rect">
            <a:avLst/>
          </a:prstGeom>
          <a:noFill/>
          <a:ln/>
        </p:spPr>
        <p:txBody>
          <a:bodyPr wrap="square" rtlCol="0" anchor="ctr"/>
          <a:lstStyle/>
          <a:p>
            <a:pPr marL="0" indent="0">
              <a:buNone/>
            </a:pPr>
            <a:r>
              <a:rPr lang="en-US" sz="1050" dirty="0">
                <a:latin typeface="Calibri" pitchFamily="34" charset="0"/>
                <a:ea typeface="Calibri" pitchFamily="34" charset="-122"/>
                <a:cs typeface="Calibri" pitchFamily="34" charset="-120"/>
              </a:rPr>
              <a:t>$ snmpwalk -v2c -c public 10.0.0.1</a:t>
            </a:r>
            <a:endParaRPr lang="en-US" sz="1050" dirty="0"/>
          </a:p>
        </p:txBody>
      </p:sp>
      <p:sp>
        <p:nvSpPr>
          <p:cNvPr id="35" name="Text 33"/>
          <p:cNvSpPr/>
          <p:nvPr/>
        </p:nvSpPr>
        <p:spPr>
          <a:xfrm>
            <a:off x="6291072" y="2487168"/>
            <a:ext cx="2651760" cy="365760"/>
          </a:xfrm>
          <a:prstGeom prst="rect">
            <a:avLst/>
          </a:prstGeom>
          <a:noFill/>
          <a:ln/>
        </p:spPr>
        <p:txBody>
          <a:bodyPr wrap="square" rtlCol="0" anchor="ctr"/>
          <a:lstStyle/>
          <a:p>
            <a:pPr marL="0" indent="0">
              <a:buNone/>
            </a:pPr>
            <a:r>
              <a:rPr lang="en-US" sz="1100" i="1" dirty="0">
                <a:latin typeface="Calibri" pitchFamily="34" charset="0"/>
                <a:ea typeface="Calibri" pitchFamily="34" charset="-122"/>
                <a:cs typeface="Calibri" pitchFamily="34" charset="-120"/>
              </a:rPr>
              <a:t>Limite : Polling periodique, pas de mesure de delai direct</a:t>
            </a:r>
            <a:endParaRPr lang="en-US" sz="1100" dirty="0"/>
          </a:p>
        </p:txBody>
      </p:sp>
      <p:sp>
        <p:nvSpPr>
          <p:cNvPr id="36" name="Shape 34"/>
          <p:cNvSpPr/>
          <p:nvPr/>
        </p:nvSpPr>
        <p:spPr>
          <a:xfrm>
            <a:off x="201168" y="3017520"/>
            <a:ext cx="2834640" cy="1737360"/>
          </a:xfrm>
          <a:prstGeom prst="rect">
            <a:avLst/>
          </a:prstGeom>
          <a:solidFill>
            <a:srgbClr val="FFFFFF"/>
          </a:solidFill>
          <a:ln w="12700">
            <a:solidFill>
              <a:srgbClr val="E65100"/>
            </a:solidFill>
            <a:prstDash val="solid"/>
          </a:ln>
          <a:effectLst>
            <a:outerShdw blurRad="63500" dist="25400" dir="8100000" algn="bl" rotWithShape="0">
              <a:srgbClr val="000000">
                <a:alpha val="10000"/>
              </a:srgbClr>
            </a:outerShdw>
          </a:effectLst>
        </p:spPr>
        <p:txBody>
          <a:bodyPr/>
          <a:lstStyle/>
          <a:p>
            <a:endParaRPr lang="fr-FR" dirty="0"/>
          </a:p>
        </p:txBody>
      </p:sp>
      <p:sp>
        <p:nvSpPr>
          <p:cNvPr id="37" name="Shape 35"/>
          <p:cNvSpPr/>
          <p:nvPr/>
        </p:nvSpPr>
        <p:spPr>
          <a:xfrm>
            <a:off x="201168" y="3017520"/>
            <a:ext cx="2834640" cy="438912"/>
          </a:xfrm>
          <a:prstGeom prst="rect">
            <a:avLst/>
          </a:prstGeom>
          <a:solidFill>
            <a:srgbClr val="E65100"/>
          </a:solidFill>
          <a:ln/>
        </p:spPr>
      </p:sp>
      <p:sp>
        <p:nvSpPr>
          <p:cNvPr id="38" name="Text 36"/>
          <p:cNvSpPr/>
          <p:nvPr/>
        </p:nvSpPr>
        <p:spPr>
          <a:xfrm>
            <a:off x="274320" y="3017520"/>
            <a:ext cx="214884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NetFlow/IPFIX</a:t>
            </a:r>
            <a:endParaRPr lang="en-US" sz="1300" dirty="0"/>
          </a:p>
        </p:txBody>
      </p:sp>
      <p:sp>
        <p:nvSpPr>
          <p:cNvPr id="39" name="Shape 37"/>
          <p:cNvSpPr/>
          <p:nvPr/>
        </p:nvSpPr>
        <p:spPr>
          <a:xfrm>
            <a:off x="2468880" y="3072384"/>
            <a:ext cx="512064" cy="274320"/>
          </a:xfrm>
          <a:prstGeom prst="rect">
            <a:avLst/>
          </a:prstGeom>
          <a:solidFill>
            <a:srgbClr val="FFFFFF">
              <a:alpha val="35000"/>
            </a:srgbClr>
          </a:solidFill>
          <a:ln/>
        </p:spPr>
      </p:sp>
      <p:sp>
        <p:nvSpPr>
          <p:cNvPr id="40" name="Text 38"/>
          <p:cNvSpPr/>
          <p:nvPr/>
        </p:nvSpPr>
        <p:spPr>
          <a:xfrm>
            <a:off x="2468880" y="3072384"/>
            <a:ext cx="512064" cy="27432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UDP export</a:t>
            </a:r>
            <a:endParaRPr lang="en-US" sz="700" dirty="0"/>
          </a:p>
        </p:txBody>
      </p:sp>
      <p:sp>
        <p:nvSpPr>
          <p:cNvPr id="41" name="Text 39"/>
          <p:cNvSpPr/>
          <p:nvPr/>
        </p:nvSpPr>
        <p:spPr>
          <a:xfrm>
            <a:off x="292608" y="3493008"/>
            <a:ext cx="2651760" cy="274320"/>
          </a:xfrm>
          <a:prstGeom prst="rect">
            <a:avLst/>
          </a:prstGeom>
          <a:noFill/>
          <a:ln/>
        </p:spPr>
        <p:txBody>
          <a:bodyPr wrap="square" rtlCol="0" anchor="ctr"/>
          <a:lstStyle/>
          <a:p>
            <a:pPr marL="0" indent="0">
              <a:buNone/>
            </a:pPr>
            <a:r>
              <a:rPr lang="en-US" sz="1200" b="1" dirty="0">
                <a:solidFill>
                  <a:srgbClr val="E65100"/>
                </a:solidFill>
                <a:latin typeface="Calibri" pitchFamily="34" charset="0"/>
                <a:ea typeface="Calibri" pitchFamily="34" charset="-122"/>
                <a:cs typeface="Calibri" pitchFamily="34" charset="-120"/>
              </a:rPr>
              <a:t>Stats par flux, DSCP utilise, ports</a:t>
            </a:r>
            <a:endParaRPr lang="en-US" sz="1200" dirty="0"/>
          </a:p>
        </p:txBody>
      </p:sp>
      <p:sp>
        <p:nvSpPr>
          <p:cNvPr id="42" name="Text 40"/>
          <p:cNvSpPr/>
          <p:nvPr/>
        </p:nvSpPr>
        <p:spPr>
          <a:xfrm>
            <a:off x="292608" y="3767328"/>
            <a:ext cx="2651760" cy="22860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Analyse trafic, detection anomalies</a:t>
            </a:r>
            <a:endParaRPr lang="en-US" sz="1100" dirty="0"/>
          </a:p>
        </p:txBody>
      </p:sp>
      <p:sp>
        <p:nvSpPr>
          <p:cNvPr id="43" name="Shape 41"/>
          <p:cNvSpPr/>
          <p:nvPr/>
        </p:nvSpPr>
        <p:spPr>
          <a:xfrm>
            <a:off x="274320" y="4023360"/>
            <a:ext cx="2688336" cy="274320"/>
          </a:xfrm>
          <a:prstGeom prst="rect">
            <a:avLst/>
          </a:prstGeom>
          <a:solidFill>
            <a:srgbClr val="F5F5F5"/>
          </a:solidFill>
          <a:ln w="3810">
            <a:solidFill>
              <a:srgbClr val="BDBDBD"/>
            </a:solidFill>
            <a:prstDash val="solid"/>
          </a:ln>
        </p:spPr>
      </p:sp>
      <p:sp>
        <p:nvSpPr>
          <p:cNvPr id="44" name="Text 42"/>
          <p:cNvSpPr/>
          <p:nvPr/>
        </p:nvSpPr>
        <p:spPr>
          <a:xfrm>
            <a:off x="310896" y="4041648"/>
            <a:ext cx="2633472" cy="237744"/>
          </a:xfrm>
          <a:prstGeom prst="rect">
            <a:avLst/>
          </a:prstGeom>
          <a:noFill/>
          <a:ln/>
        </p:spPr>
        <p:txBody>
          <a:bodyPr wrap="square" rtlCol="0" anchor="ctr"/>
          <a:lstStyle/>
          <a:p>
            <a:pPr marL="0" indent="0">
              <a:buNone/>
            </a:pPr>
            <a:r>
              <a:rPr lang="en-US" sz="1050" dirty="0">
                <a:solidFill>
                  <a:srgbClr val="0D1B2A"/>
                </a:solidFill>
                <a:latin typeface="Calibri" pitchFamily="34" charset="0"/>
                <a:ea typeface="Calibri" pitchFamily="34" charset="-122"/>
                <a:cs typeface="Calibri" pitchFamily="34" charset="-120"/>
              </a:rPr>
              <a:t>$ show ip cache flow (Cisco)</a:t>
            </a:r>
            <a:endParaRPr lang="en-US" sz="1050" dirty="0"/>
          </a:p>
        </p:txBody>
      </p:sp>
      <p:sp>
        <p:nvSpPr>
          <p:cNvPr id="45" name="Text 43"/>
          <p:cNvSpPr/>
          <p:nvPr/>
        </p:nvSpPr>
        <p:spPr>
          <a:xfrm>
            <a:off x="292608" y="4334256"/>
            <a:ext cx="2651760" cy="365760"/>
          </a:xfrm>
          <a:prstGeom prst="rect">
            <a:avLst/>
          </a:prstGeom>
          <a:noFill/>
          <a:ln/>
        </p:spPr>
        <p:txBody>
          <a:bodyPr wrap="square" rtlCol="0" anchor="ctr"/>
          <a:lstStyle/>
          <a:p>
            <a:pPr marL="0" indent="0">
              <a:buNone/>
            </a:pPr>
            <a:r>
              <a:rPr lang="en-US" sz="1050" i="1" dirty="0">
                <a:latin typeface="Calibri" pitchFamily="34" charset="0"/>
                <a:ea typeface="Calibri" pitchFamily="34" charset="-122"/>
                <a:cs typeface="Calibri" pitchFamily="34" charset="-120"/>
              </a:rPr>
              <a:t>Limite : Pas de mesure de delai ni de gigue</a:t>
            </a:r>
            <a:endParaRPr lang="en-US" sz="1050" dirty="0"/>
          </a:p>
        </p:txBody>
      </p:sp>
      <p:sp>
        <p:nvSpPr>
          <p:cNvPr id="46" name="Shape 44"/>
          <p:cNvSpPr/>
          <p:nvPr/>
        </p:nvSpPr>
        <p:spPr>
          <a:xfrm>
            <a:off x="3200400" y="3017520"/>
            <a:ext cx="2834640" cy="1737360"/>
          </a:xfrm>
          <a:prstGeom prst="rect">
            <a:avLst/>
          </a:prstGeom>
          <a:solidFill>
            <a:srgbClr val="FFFFFF"/>
          </a:solidFill>
          <a:ln w="12700">
            <a:solidFill>
              <a:srgbClr val="2E7D32"/>
            </a:solidFill>
            <a:prstDash val="solid"/>
          </a:ln>
          <a:effectLst>
            <a:outerShdw blurRad="63500" dist="25400" dir="8100000" algn="bl" rotWithShape="0">
              <a:srgbClr val="000000">
                <a:alpha val="10000"/>
              </a:srgbClr>
            </a:outerShdw>
          </a:effectLst>
        </p:spPr>
      </p:sp>
      <p:sp>
        <p:nvSpPr>
          <p:cNvPr id="47" name="Shape 45"/>
          <p:cNvSpPr/>
          <p:nvPr/>
        </p:nvSpPr>
        <p:spPr>
          <a:xfrm>
            <a:off x="3200400" y="3017520"/>
            <a:ext cx="2834640" cy="438912"/>
          </a:xfrm>
          <a:prstGeom prst="rect">
            <a:avLst/>
          </a:prstGeom>
          <a:solidFill>
            <a:srgbClr val="2E7D32"/>
          </a:solidFill>
          <a:ln/>
        </p:spPr>
      </p:sp>
      <p:sp>
        <p:nvSpPr>
          <p:cNvPr id="48" name="Text 46"/>
          <p:cNvSpPr/>
          <p:nvPr/>
        </p:nvSpPr>
        <p:spPr>
          <a:xfrm>
            <a:off x="3273552" y="3017520"/>
            <a:ext cx="214884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TWAMP</a:t>
            </a:r>
            <a:endParaRPr lang="en-US" sz="1300" dirty="0"/>
          </a:p>
        </p:txBody>
      </p:sp>
      <p:sp>
        <p:nvSpPr>
          <p:cNvPr id="49" name="Shape 47"/>
          <p:cNvSpPr/>
          <p:nvPr/>
        </p:nvSpPr>
        <p:spPr>
          <a:xfrm>
            <a:off x="5468112" y="3072384"/>
            <a:ext cx="512064" cy="274320"/>
          </a:xfrm>
          <a:prstGeom prst="rect">
            <a:avLst/>
          </a:prstGeom>
          <a:solidFill>
            <a:srgbClr val="FFFFFF">
              <a:alpha val="35000"/>
            </a:srgbClr>
          </a:solidFill>
          <a:ln/>
        </p:spPr>
      </p:sp>
      <p:sp>
        <p:nvSpPr>
          <p:cNvPr id="50" name="Text 48"/>
          <p:cNvSpPr/>
          <p:nvPr/>
        </p:nvSpPr>
        <p:spPr>
          <a:xfrm>
            <a:off x="5468112" y="3072384"/>
            <a:ext cx="512064" cy="27432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UDP / RFC 5357</a:t>
            </a:r>
            <a:endParaRPr lang="en-US" sz="700" dirty="0"/>
          </a:p>
        </p:txBody>
      </p:sp>
      <p:sp>
        <p:nvSpPr>
          <p:cNvPr id="51" name="Text 49"/>
          <p:cNvSpPr/>
          <p:nvPr/>
        </p:nvSpPr>
        <p:spPr>
          <a:xfrm>
            <a:off x="3291840" y="3493008"/>
            <a:ext cx="2651760" cy="274320"/>
          </a:xfrm>
          <a:prstGeom prst="rect">
            <a:avLst/>
          </a:prstGeom>
          <a:noFill/>
          <a:ln/>
        </p:spPr>
        <p:txBody>
          <a:bodyPr wrap="square" rtlCol="0" anchor="ctr"/>
          <a:lstStyle/>
          <a:p>
            <a:pPr marL="0" indent="0">
              <a:buNone/>
            </a:pPr>
            <a:r>
              <a:rPr lang="en-US" sz="950" b="1" dirty="0">
                <a:solidFill>
                  <a:srgbClr val="2E7D32"/>
                </a:solidFill>
                <a:latin typeface="Calibri" pitchFamily="34" charset="0"/>
                <a:ea typeface="Calibri" pitchFamily="34" charset="-122"/>
                <a:cs typeface="Calibri" pitchFamily="34" charset="-120"/>
              </a:rPr>
              <a:t>OWD, RTT, gigue, perte — avec DSCP</a:t>
            </a:r>
            <a:endParaRPr lang="en-US" sz="950" dirty="0"/>
          </a:p>
        </p:txBody>
      </p:sp>
      <p:sp>
        <p:nvSpPr>
          <p:cNvPr id="52" name="Text 50"/>
          <p:cNvSpPr/>
          <p:nvPr/>
        </p:nvSpPr>
        <p:spPr>
          <a:xfrm>
            <a:off x="3291840" y="3767328"/>
            <a:ext cx="2651760" cy="228600"/>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Verification SLA et validation DiffServ</a:t>
            </a:r>
            <a:endParaRPr lang="en-US" sz="1100" dirty="0"/>
          </a:p>
        </p:txBody>
      </p:sp>
      <p:sp>
        <p:nvSpPr>
          <p:cNvPr id="53" name="Shape 51"/>
          <p:cNvSpPr/>
          <p:nvPr/>
        </p:nvSpPr>
        <p:spPr>
          <a:xfrm>
            <a:off x="3273552" y="4023360"/>
            <a:ext cx="2688336" cy="274320"/>
          </a:xfrm>
          <a:prstGeom prst="rect">
            <a:avLst/>
          </a:prstGeom>
          <a:solidFill>
            <a:srgbClr val="F5F5F5"/>
          </a:solidFill>
          <a:ln w="3810">
            <a:solidFill>
              <a:srgbClr val="BDBDBD"/>
            </a:solidFill>
            <a:prstDash val="solid"/>
          </a:ln>
        </p:spPr>
      </p:sp>
      <p:sp>
        <p:nvSpPr>
          <p:cNvPr id="54" name="Text 52"/>
          <p:cNvSpPr/>
          <p:nvPr/>
        </p:nvSpPr>
        <p:spPr>
          <a:xfrm>
            <a:off x="3310128" y="4041648"/>
            <a:ext cx="2633472" cy="237744"/>
          </a:xfrm>
          <a:prstGeom prst="rect">
            <a:avLst/>
          </a:prstGeom>
          <a:noFill/>
          <a:ln/>
        </p:spPr>
        <p:txBody>
          <a:bodyPr wrap="square" rtlCol="0" anchor="ctr"/>
          <a:lstStyle/>
          <a:p>
            <a:pPr marL="0" indent="0">
              <a:buNone/>
            </a:pPr>
            <a:r>
              <a:rPr lang="en-US" sz="1050" dirty="0">
                <a:latin typeface="Calibri" pitchFamily="34" charset="0"/>
                <a:ea typeface="Calibri" pitchFamily="34" charset="-122"/>
                <a:cs typeface="Calibri" pitchFamily="34" charset="-120"/>
              </a:rPr>
              <a:t>$ ip sla 1, udp-jitter X 5000</a:t>
            </a:r>
            <a:endParaRPr lang="en-US" sz="1050" dirty="0"/>
          </a:p>
        </p:txBody>
      </p:sp>
      <p:sp>
        <p:nvSpPr>
          <p:cNvPr id="55" name="Text 53"/>
          <p:cNvSpPr/>
          <p:nvPr/>
        </p:nvSpPr>
        <p:spPr>
          <a:xfrm>
            <a:off x="3291840" y="4334256"/>
            <a:ext cx="2651760" cy="365760"/>
          </a:xfrm>
          <a:prstGeom prst="rect">
            <a:avLst/>
          </a:prstGeom>
          <a:noFill/>
          <a:ln/>
        </p:spPr>
        <p:txBody>
          <a:bodyPr wrap="square" rtlCol="0" anchor="ctr"/>
          <a:lstStyle/>
          <a:p>
            <a:pPr marL="0" indent="0">
              <a:buNone/>
            </a:pPr>
            <a:r>
              <a:rPr lang="en-US" sz="1100" i="1" dirty="0">
                <a:latin typeface="Calibri" pitchFamily="34" charset="0"/>
                <a:ea typeface="Calibri" pitchFamily="34" charset="-122"/>
                <a:cs typeface="Calibri" pitchFamily="34" charset="-120"/>
              </a:rPr>
              <a:t>Limite : Agent requis aux 2 extremites</a:t>
            </a:r>
            <a:endParaRPr lang="en-US" sz="1100" dirty="0"/>
          </a:p>
        </p:txBody>
      </p:sp>
      <p:sp>
        <p:nvSpPr>
          <p:cNvPr id="56" name="Shape 54"/>
          <p:cNvSpPr/>
          <p:nvPr/>
        </p:nvSpPr>
        <p:spPr>
          <a:xfrm>
            <a:off x="6199632" y="3017520"/>
            <a:ext cx="2834640" cy="1737360"/>
          </a:xfrm>
          <a:prstGeom prst="rect">
            <a:avLst/>
          </a:prstGeom>
          <a:solidFill>
            <a:srgbClr val="FFFFFF"/>
          </a:solidFill>
          <a:ln w="12700">
            <a:solidFill>
              <a:srgbClr val="C62828"/>
            </a:solidFill>
            <a:prstDash val="solid"/>
          </a:ln>
          <a:effectLst>
            <a:outerShdw blurRad="63500" dist="25400" dir="8100000" algn="bl" rotWithShape="0">
              <a:srgbClr val="000000">
                <a:alpha val="10000"/>
              </a:srgbClr>
            </a:outerShdw>
          </a:effectLst>
        </p:spPr>
      </p:sp>
      <p:sp>
        <p:nvSpPr>
          <p:cNvPr id="57" name="Shape 55"/>
          <p:cNvSpPr/>
          <p:nvPr/>
        </p:nvSpPr>
        <p:spPr>
          <a:xfrm>
            <a:off x="6199632" y="3017520"/>
            <a:ext cx="2834640" cy="438912"/>
          </a:xfrm>
          <a:prstGeom prst="rect">
            <a:avLst/>
          </a:prstGeom>
          <a:solidFill>
            <a:srgbClr val="C62828"/>
          </a:solidFill>
          <a:ln/>
        </p:spPr>
      </p:sp>
      <p:sp>
        <p:nvSpPr>
          <p:cNvPr id="58" name="Text 56"/>
          <p:cNvSpPr/>
          <p:nvPr/>
        </p:nvSpPr>
        <p:spPr>
          <a:xfrm>
            <a:off x="6272784" y="3017520"/>
            <a:ext cx="214884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iPerf3</a:t>
            </a:r>
            <a:endParaRPr lang="en-US" sz="1300" dirty="0"/>
          </a:p>
        </p:txBody>
      </p:sp>
      <p:sp>
        <p:nvSpPr>
          <p:cNvPr id="60" name="Text 58"/>
          <p:cNvSpPr/>
          <p:nvPr/>
        </p:nvSpPr>
        <p:spPr>
          <a:xfrm>
            <a:off x="7649155" y="2999232"/>
            <a:ext cx="1330253" cy="42062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TCP/UDP open source</a:t>
            </a:r>
            <a:endParaRPr lang="en-US" sz="1050" dirty="0"/>
          </a:p>
        </p:txBody>
      </p:sp>
      <p:sp>
        <p:nvSpPr>
          <p:cNvPr id="61" name="Text 59"/>
          <p:cNvSpPr/>
          <p:nvPr/>
        </p:nvSpPr>
        <p:spPr>
          <a:xfrm>
            <a:off x="6291072" y="3493008"/>
            <a:ext cx="2651760" cy="274320"/>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Debit max, gigue UDP, perte</a:t>
            </a:r>
            <a:endParaRPr lang="en-US" sz="1100" dirty="0"/>
          </a:p>
        </p:txBody>
      </p:sp>
      <p:sp>
        <p:nvSpPr>
          <p:cNvPr id="62" name="Text 60"/>
          <p:cNvSpPr/>
          <p:nvPr/>
        </p:nvSpPr>
        <p:spPr>
          <a:xfrm>
            <a:off x="6291072" y="3767328"/>
            <a:ext cx="2651760" cy="228600"/>
          </a:xfrm>
          <a:prstGeom prst="rect">
            <a:avLst/>
          </a:prstGeom>
          <a:noFill/>
          <a:ln/>
        </p:spPr>
        <p:txBody>
          <a:bodyPr wrap="square" rtlCol="0" anchor="ctr"/>
          <a:lstStyle/>
          <a:p>
            <a:pPr marL="0" indent="0">
              <a:buNone/>
            </a:pPr>
            <a:r>
              <a:rPr lang="en-US" sz="1100" dirty="0">
                <a:solidFill>
                  <a:srgbClr val="212121"/>
                </a:solidFill>
                <a:latin typeface="Calibri" pitchFamily="34" charset="0"/>
                <a:ea typeface="Calibri" pitchFamily="34" charset="-122"/>
                <a:cs typeface="Calibri" pitchFamily="34" charset="-120"/>
              </a:rPr>
              <a:t>Test de debit et validation QoS en lab</a:t>
            </a:r>
            <a:endParaRPr lang="en-US" sz="1100" dirty="0"/>
          </a:p>
        </p:txBody>
      </p:sp>
      <p:sp>
        <p:nvSpPr>
          <p:cNvPr id="63" name="Shape 61"/>
          <p:cNvSpPr/>
          <p:nvPr/>
        </p:nvSpPr>
        <p:spPr>
          <a:xfrm>
            <a:off x="6272784" y="4023360"/>
            <a:ext cx="2688336" cy="274320"/>
          </a:xfrm>
          <a:prstGeom prst="rect">
            <a:avLst/>
          </a:prstGeom>
          <a:solidFill>
            <a:srgbClr val="F5F5F5"/>
          </a:solidFill>
          <a:ln w="3810">
            <a:solidFill>
              <a:srgbClr val="BDBDBD"/>
            </a:solidFill>
            <a:prstDash val="solid"/>
          </a:ln>
        </p:spPr>
      </p:sp>
      <p:sp>
        <p:nvSpPr>
          <p:cNvPr id="64" name="Text 62"/>
          <p:cNvSpPr/>
          <p:nvPr/>
        </p:nvSpPr>
        <p:spPr>
          <a:xfrm>
            <a:off x="6309360" y="4041648"/>
            <a:ext cx="2633472" cy="237744"/>
          </a:xfrm>
          <a:prstGeom prst="rect">
            <a:avLst/>
          </a:prstGeom>
          <a:noFill/>
          <a:ln/>
        </p:spPr>
        <p:txBody>
          <a:bodyPr wrap="square" rtlCol="0" anchor="ctr"/>
          <a:lstStyle/>
          <a:p>
            <a:pPr marL="0" indent="0">
              <a:buNone/>
            </a:pPr>
            <a:r>
              <a:rPr lang="en-US" sz="1050" dirty="0">
                <a:solidFill>
                  <a:srgbClr val="0D1B2A"/>
                </a:solidFill>
                <a:latin typeface="Calibri" pitchFamily="34" charset="0"/>
                <a:ea typeface="Calibri" pitchFamily="34" charset="-122"/>
                <a:cs typeface="Calibri" pitchFamily="34" charset="-120"/>
              </a:rPr>
              <a:t>$ iperf3 -c srv -u -b 10M --dscp 46</a:t>
            </a:r>
            <a:endParaRPr lang="en-US" sz="1050" dirty="0"/>
          </a:p>
        </p:txBody>
      </p:sp>
      <p:sp>
        <p:nvSpPr>
          <p:cNvPr id="65" name="Text 63"/>
          <p:cNvSpPr/>
          <p:nvPr/>
        </p:nvSpPr>
        <p:spPr>
          <a:xfrm>
            <a:off x="6291072" y="4334256"/>
            <a:ext cx="2651760" cy="365760"/>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Limite : Trafic intensif, pas pour la production</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0796B"/>
          </a:solidFill>
          <a:ln/>
        </p:spPr>
      </p:sp>
      <p:sp>
        <p:nvSpPr>
          <p:cNvPr id="3" name="Text 1"/>
          <p:cNvSpPr/>
          <p:nvPr/>
        </p:nvSpPr>
        <p:spPr>
          <a:xfrm>
            <a:off x="457200" y="182880"/>
            <a:ext cx="8412480" cy="475488"/>
          </a:xfrm>
          <a:prstGeom prst="rect">
            <a:avLst/>
          </a:prstGeom>
          <a:noFill/>
          <a:ln/>
        </p:spPr>
        <p:txBody>
          <a:bodyPr wrap="square" rtlCol="0" anchor="ctr"/>
          <a:lstStyle/>
          <a:p>
            <a:pPr marL="0" indent="0">
              <a:buNone/>
            </a:pPr>
            <a:r>
              <a:rPr lang="en-US" sz="2200" b="1" dirty="0">
                <a:solidFill>
                  <a:srgbClr val="00BCD4"/>
                </a:solidFill>
                <a:latin typeface="Calibri" pitchFamily="34" charset="0"/>
                <a:ea typeface="Calibri" pitchFamily="34" charset="-122"/>
                <a:cs typeface="Calibri" pitchFamily="34" charset="-120"/>
              </a:rPr>
              <a:t>Ce qu il faut absolument retenir</a:t>
            </a:r>
            <a:endParaRPr lang="en-US" sz="2200" dirty="0"/>
          </a:p>
        </p:txBody>
      </p:sp>
      <p:sp>
        <p:nvSpPr>
          <p:cNvPr id="4" name="Shape 2"/>
          <p:cNvSpPr/>
          <p:nvPr/>
        </p:nvSpPr>
        <p:spPr>
          <a:xfrm>
            <a:off x="438912" y="804672"/>
            <a:ext cx="4160520" cy="1170432"/>
          </a:xfrm>
          <a:prstGeom prst="rect">
            <a:avLst/>
          </a:prstGeom>
          <a:solidFill>
            <a:srgbClr val="0D2B45"/>
          </a:solidFill>
          <a:ln w="6350">
            <a:solidFill>
              <a:srgbClr val="1E4976"/>
            </a:solidFill>
            <a:prstDash val="solid"/>
          </a:ln>
        </p:spPr>
      </p:sp>
      <p:sp>
        <p:nvSpPr>
          <p:cNvPr id="5" name="Shape 3"/>
          <p:cNvSpPr/>
          <p:nvPr/>
        </p:nvSpPr>
        <p:spPr>
          <a:xfrm>
            <a:off x="512064" y="896112"/>
            <a:ext cx="438912" cy="438912"/>
          </a:xfrm>
          <a:prstGeom prst="ellipse">
            <a:avLst/>
          </a:prstGeom>
          <a:solidFill>
            <a:srgbClr val="1565C0"/>
          </a:solidFill>
          <a:ln/>
        </p:spPr>
      </p:sp>
      <p:sp>
        <p:nvSpPr>
          <p:cNvPr id="6" name="Text 4"/>
          <p:cNvSpPr/>
          <p:nvPr/>
        </p:nvSpPr>
        <p:spPr>
          <a:xfrm>
            <a:off x="512064" y="896112"/>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033272" y="877824"/>
            <a:ext cx="3474720" cy="292608"/>
          </a:xfrm>
          <a:prstGeom prst="rect">
            <a:avLst/>
          </a:prstGeom>
          <a:noFill/>
          <a:ln/>
        </p:spPr>
        <p:txBody>
          <a:bodyPr wrap="square" rtlCol="0" anchor="ctr"/>
          <a:lstStyle/>
          <a:p>
            <a:pPr marL="0" indent="0">
              <a:buNone/>
            </a:pPr>
            <a:r>
              <a:rPr lang="en-US" sz="1200" b="1" dirty="0">
                <a:solidFill>
                  <a:srgbClr val="64B5F6"/>
                </a:solidFill>
                <a:latin typeface="Calibri" pitchFamily="34" charset="0"/>
                <a:ea typeface="Calibri" pitchFamily="34" charset="-122"/>
                <a:cs typeface="Calibri" pitchFamily="34" charset="-120"/>
              </a:rPr>
              <a:t>QoS = arbitrer entre les flux</a:t>
            </a:r>
            <a:endParaRPr lang="en-US" sz="1200" dirty="0"/>
          </a:p>
        </p:txBody>
      </p:sp>
      <p:sp>
        <p:nvSpPr>
          <p:cNvPr id="8" name="Text 6"/>
          <p:cNvSpPr/>
          <p:nvPr/>
        </p:nvSpPr>
        <p:spPr>
          <a:xfrm>
            <a:off x="1033272" y="1188720"/>
            <a:ext cx="3474720" cy="713232"/>
          </a:xfrm>
          <a:prstGeom prst="rect">
            <a:avLst/>
          </a:prstGeom>
          <a:noFill/>
          <a:ln/>
        </p:spPr>
        <p:txBody>
          <a:bodyPr wrap="square" rtlCol="0" anchor="ctr"/>
          <a:lstStyle/>
          <a:p>
            <a:pPr marL="0" indent="0" algn="ctr">
              <a:buNone/>
            </a:pPr>
            <a:r>
              <a:rPr lang="en-US" sz="1100" dirty="0">
                <a:solidFill>
                  <a:srgbClr val="BDBDBD"/>
                </a:solidFill>
                <a:latin typeface="Calibri" pitchFamily="34" charset="0"/>
                <a:ea typeface="Calibri" pitchFamily="34" charset="-122"/>
                <a:cs typeface="Calibri" pitchFamily="34" charset="-120"/>
              </a:rPr>
              <a:t>Sur un reseau limite, tout le monde ne peut pas passer en meme temps. La QoS decide QUI passe en premier et COMMENT partager les ressources.</a:t>
            </a:r>
            <a:endParaRPr lang="en-US" sz="1100" dirty="0"/>
          </a:p>
        </p:txBody>
      </p:sp>
      <p:sp>
        <p:nvSpPr>
          <p:cNvPr id="9" name="Shape 7"/>
          <p:cNvSpPr/>
          <p:nvPr/>
        </p:nvSpPr>
        <p:spPr>
          <a:xfrm>
            <a:off x="4809744" y="804672"/>
            <a:ext cx="4160520" cy="1170432"/>
          </a:xfrm>
          <a:prstGeom prst="rect">
            <a:avLst/>
          </a:prstGeom>
          <a:solidFill>
            <a:srgbClr val="0D2B45"/>
          </a:solidFill>
          <a:ln w="6350">
            <a:solidFill>
              <a:srgbClr val="1E4976"/>
            </a:solidFill>
            <a:prstDash val="solid"/>
          </a:ln>
        </p:spPr>
      </p:sp>
      <p:sp>
        <p:nvSpPr>
          <p:cNvPr id="10" name="Shape 8"/>
          <p:cNvSpPr/>
          <p:nvPr/>
        </p:nvSpPr>
        <p:spPr>
          <a:xfrm>
            <a:off x="4882896" y="896112"/>
            <a:ext cx="438912" cy="438912"/>
          </a:xfrm>
          <a:prstGeom prst="ellipse">
            <a:avLst/>
          </a:prstGeom>
          <a:solidFill>
            <a:srgbClr val="00796B"/>
          </a:solidFill>
          <a:ln/>
        </p:spPr>
      </p:sp>
      <p:sp>
        <p:nvSpPr>
          <p:cNvPr id="11" name="Text 9"/>
          <p:cNvSpPr/>
          <p:nvPr/>
        </p:nvSpPr>
        <p:spPr>
          <a:xfrm>
            <a:off x="4882896" y="896112"/>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5404104" y="877824"/>
            <a:ext cx="3474720" cy="292608"/>
          </a:xfrm>
          <a:prstGeom prst="rect">
            <a:avLst/>
          </a:prstGeom>
          <a:noFill/>
          <a:ln/>
        </p:spPr>
        <p:txBody>
          <a:bodyPr wrap="square" rtlCol="0" anchor="ctr"/>
          <a:lstStyle/>
          <a:p>
            <a:pPr marL="0" indent="0">
              <a:buNone/>
            </a:pPr>
            <a:r>
              <a:rPr lang="en-US" sz="1200" b="1" dirty="0">
                <a:solidFill>
                  <a:srgbClr val="64B5F6"/>
                </a:solidFill>
                <a:latin typeface="Calibri" pitchFamily="34" charset="0"/>
                <a:ea typeface="Calibri" pitchFamily="34" charset="-122"/>
                <a:cs typeface="Calibri" pitchFamily="34" charset="-120"/>
              </a:rPr>
              <a:t>4 parametres a connaitre par coeur</a:t>
            </a:r>
            <a:endParaRPr lang="en-US" sz="1200" dirty="0"/>
          </a:p>
        </p:txBody>
      </p:sp>
      <p:sp>
        <p:nvSpPr>
          <p:cNvPr id="13" name="Text 11"/>
          <p:cNvSpPr/>
          <p:nvPr/>
        </p:nvSpPr>
        <p:spPr>
          <a:xfrm>
            <a:off x="5404104" y="1188720"/>
            <a:ext cx="3474720" cy="713232"/>
          </a:xfrm>
          <a:prstGeom prst="rect">
            <a:avLst/>
          </a:prstGeom>
          <a:noFill/>
          <a:ln/>
        </p:spPr>
        <p:txBody>
          <a:bodyPr wrap="square" rtlCol="0" anchor="ctr"/>
          <a:lstStyle/>
          <a:p>
            <a:pPr marL="0" indent="0" algn="ctr">
              <a:buNone/>
            </a:pPr>
            <a:r>
              <a:rPr lang="en-US" sz="1050" dirty="0">
                <a:solidFill>
                  <a:srgbClr val="BDBDBD"/>
                </a:solidFill>
                <a:latin typeface="Calibri" pitchFamily="34" charset="0"/>
                <a:ea typeface="Calibri" pitchFamily="34" charset="-122"/>
                <a:cs typeface="Calibri" pitchFamily="34" charset="-120"/>
              </a:rPr>
              <a:t>Delai (&lt; 150ms VoIP), Gigue (&lt; 30ms), Perte (&lt; 1% voix), Bande passante. Tout le reste en decoule.</a:t>
            </a:r>
            <a:endParaRPr lang="en-US" sz="1050" dirty="0"/>
          </a:p>
        </p:txBody>
      </p:sp>
      <p:sp>
        <p:nvSpPr>
          <p:cNvPr id="14" name="Shape 12"/>
          <p:cNvSpPr/>
          <p:nvPr/>
        </p:nvSpPr>
        <p:spPr>
          <a:xfrm>
            <a:off x="438912" y="2130552"/>
            <a:ext cx="4160520" cy="1170432"/>
          </a:xfrm>
          <a:prstGeom prst="rect">
            <a:avLst/>
          </a:prstGeom>
          <a:solidFill>
            <a:srgbClr val="0D2B45"/>
          </a:solidFill>
          <a:ln w="6350">
            <a:solidFill>
              <a:srgbClr val="1E4976"/>
            </a:solidFill>
            <a:prstDash val="solid"/>
          </a:ln>
        </p:spPr>
      </p:sp>
      <p:sp>
        <p:nvSpPr>
          <p:cNvPr id="15" name="Shape 13"/>
          <p:cNvSpPr/>
          <p:nvPr/>
        </p:nvSpPr>
        <p:spPr>
          <a:xfrm>
            <a:off x="512064" y="2221992"/>
            <a:ext cx="438912" cy="438912"/>
          </a:xfrm>
          <a:prstGeom prst="ellipse">
            <a:avLst/>
          </a:prstGeom>
          <a:solidFill>
            <a:srgbClr val="E65100"/>
          </a:solidFill>
          <a:ln/>
        </p:spPr>
      </p:sp>
      <p:sp>
        <p:nvSpPr>
          <p:cNvPr id="16" name="Text 14"/>
          <p:cNvSpPr/>
          <p:nvPr/>
        </p:nvSpPr>
        <p:spPr>
          <a:xfrm>
            <a:off x="512064" y="2221992"/>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033272" y="2203704"/>
            <a:ext cx="3474720" cy="292608"/>
          </a:xfrm>
          <a:prstGeom prst="rect">
            <a:avLst/>
          </a:prstGeom>
          <a:noFill/>
          <a:ln/>
        </p:spPr>
        <p:txBody>
          <a:bodyPr wrap="square" rtlCol="0" anchor="ctr"/>
          <a:lstStyle/>
          <a:p>
            <a:pPr marL="0" indent="0">
              <a:buNone/>
            </a:pPr>
            <a:r>
              <a:rPr lang="en-US" sz="1200" b="1" dirty="0">
                <a:solidFill>
                  <a:srgbClr val="64B5F6"/>
                </a:solidFill>
                <a:latin typeface="Calibri" pitchFamily="34" charset="0"/>
                <a:ea typeface="Calibri" pitchFamily="34" charset="-122"/>
                <a:cs typeface="Calibri" pitchFamily="34" charset="-120"/>
              </a:rPr>
              <a:t>DiffServ + MPLS = solution standard des operateurs</a:t>
            </a:r>
            <a:endParaRPr lang="en-US" sz="1200" dirty="0"/>
          </a:p>
        </p:txBody>
      </p:sp>
      <p:sp>
        <p:nvSpPr>
          <p:cNvPr id="18" name="Text 16"/>
          <p:cNvSpPr/>
          <p:nvPr/>
        </p:nvSpPr>
        <p:spPr>
          <a:xfrm>
            <a:off x="1033272" y="2514600"/>
            <a:ext cx="3474720" cy="713232"/>
          </a:xfrm>
          <a:prstGeom prst="rect">
            <a:avLst/>
          </a:prstGeom>
          <a:noFill/>
          <a:ln/>
        </p:spPr>
        <p:txBody>
          <a:bodyPr wrap="square" rtlCol="0" anchor="ctr"/>
          <a:lstStyle/>
          <a:p>
            <a:pPr marL="0" indent="0" algn="ctr">
              <a:buNone/>
            </a:pPr>
            <a:r>
              <a:rPr lang="en-US" sz="1100" dirty="0">
                <a:solidFill>
                  <a:srgbClr val="BDBDBD"/>
                </a:solidFill>
                <a:latin typeface="Calibri" pitchFamily="34" charset="0"/>
                <a:ea typeface="Calibri" pitchFamily="34" charset="-122"/>
                <a:cs typeface="Calibri" pitchFamily="34" charset="-120"/>
              </a:rPr>
              <a:t>DiffServ classe les flux par DSCP. MPLS cree des chemins dedies (LSP). Ensemble = QoS complete et scalable sur tout Internet.</a:t>
            </a:r>
            <a:endParaRPr lang="en-US" sz="1100" dirty="0"/>
          </a:p>
        </p:txBody>
      </p:sp>
      <p:sp>
        <p:nvSpPr>
          <p:cNvPr id="19" name="Shape 17"/>
          <p:cNvSpPr/>
          <p:nvPr/>
        </p:nvSpPr>
        <p:spPr>
          <a:xfrm>
            <a:off x="4809744" y="2130552"/>
            <a:ext cx="4160520" cy="1170432"/>
          </a:xfrm>
          <a:prstGeom prst="rect">
            <a:avLst/>
          </a:prstGeom>
          <a:solidFill>
            <a:srgbClr val="0D2B45"/>
          </a:solidFill>
          <a:ln w="6350">
            <a:solidFill>
              <a:srgbClr val="1E4976"/>
            </a:solidFill>
            <a:prstDash val="solid"/>
          </a:ln>
        </p:spPr>
      </p:sp>
      <p:sp>
        <p:nvSpPr>
          <p:cNvPr id="20" name="Shape 18"/>
          <p:cNvSpPr/>
          <p:nvPr/>
        </p:nvSpPr>
        <p:spPr>
          <a:xfrm>
            <a:off x="4882896" y="2221992"/>
            <a:ext cx="438912" cy="438912"/>
          </a:xfrm>
          <a:prstGeom prst="ellipse">
            <a:avLst/>
          </a:prstGeom>
          <a:solidFill>
            <a:srgbClr val="2E7D32"/>
          </a:solidFill>
          <a:ln/>
        </p:spPr>
      </p:sp>
      <p:sp>
        <p:nvSpPr>
          <p:cNvPr id="21" name="Text 19"/>
          <p:cNvSpPr/>
          <p:nvPr/>
        </p:nvSpPr>
        <p:spPr>
          <a:xfrm>
            <a:off x="4882896" y="2221992"/>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5404104" y="2203704"/>
            <a:ext cx="3474720" cy="292608"/>
          </a:xfrm>
          <a:prstGeom prst="rect">
            <a:avLst/>
          </a:prstGeom>
          <a:noFill/>
          <a:ln/>
        </p:spPr>
        <p:txBody>
          <a:bodyPr wrap="square" rtlCol="0" anchor="ctr"/>
          <a:lstStyle/>
          <a:p>
            <a:pPr marL="0" indent="0">
              <a:buNone/>
            </a:pPr>
            <a:r>
              <a:rPr lang="en-US" sz="1200" b="1" dirty="0">
                <a:solidFill>
                  <a:srgbClr val="64B5F6"/>
                </a:solidFill>
                <a:latin typeface="Calibri" pitchFamily="34" charset="0"/>
                <a:ea typeface="Calibri" pitchFamily="34" charset="-122"/>
                <a:cs typeface="Calibri" pitchFamily="34" charset="-120"/>
              </a:rPr>
              <a:t>QoS = effort collaboratif de toutes les couches OSI</a:t>
            </a:r>
            <a:endParaRPr lang="en-US" sz="1200" dirty="0"/>
          </a:p>
        </p:txBody>
      </p:sp>
      <p:sp>
        <p:nvSpPr>
          <p:cNvPr id="23" name="Text 21"/>
          <p:cNvSpPr/>
          <p:nvPr/>
        </p:nvSpPr>
        <p:spPr>
          <a:xfrm>
            <a:off x="5404104" y="2514600"/>
            <a:ext cx="3474720" cy="713232"/>
          </a:xfrm>
          <a:prstGeom prst="rect">
            <a:avLst/>
          </a:prstGeom>
          <a:noFill/>
          <a:ln/>
        </p:spPr>
        <p:txBody>
          <a:bodyPr wrap="square" rtlCol="0" anchor="ctr"/>
          <a:lstStyle/>
          <a:p>
            <a:pPr marL="0" indent="0" algn="ctr">
              <a:buNone/>
            </a:pPr>
            <a:r>
              <a:rPr lang="en-US" sz="1050" dirty="0">
                <a:solidFill>
                  <a:srgbClr val="BDBDBD"/>
                </a:solidFill>
                <a:latin typeface="Calibri" pitchFamily="34" charset="0"/>
                <a:ea typeface="Calibri" pitchFamily="34" charset="-122"/>
                <a:cs typeface="Calibri" pitchFamily="34" charset="-120"/>
              </a:rPr>
              <a:t>Du physique a l application, chaque couche contribue. Impossible de garantir la QoS de bout en bout sans coordination.</a:t>
            </a:r>
            <a:endParaRPr lang="en-US" sz="1050" dirty="0"/>
          </a:p>
        </p:txBody>
      </p:sp>
      <p:sp>
        <p:nvSpPr>
          <p:cNvPr id="24" name="Shape 22"/>
          <p:cNvSpPr/>
          <p:nvPr/>
        </p:nvSpPr>
        <p:spPr>
          <a:xfrm>
            <a:off x="438912" y="3456432"/>
            <a:ext cx="4160520" cy="1170432"/>
          </a:xfrm>
          <a:prstGeom prst="rect">
            <a:avLst/>
          </a:prstGeom>
          <a:solidFill>
            <a:srgbClr val="0D2B45"/>
          </a:solidFill>
          <a:ln w="6350">
            <a:solidFill>
              <a:srgbClr val="1E4976"/>
            </a:solidFill>
            <a:prstDash val="solid"/>
          </a:ln>
        </p:spPr>
      </p:sp>
      <p:sp>
        <p:nvSpPr>
          <p:cNvPr id="25" name="Shape 23"/>
          <p:cNvSpPr/>
          <p:nvPr/>
        </p:nvSpPr>
        <p:spPr>
          <a:xfrm>
            <a:off x="512064" y="3547872"/>
            <a:ext cx="438912" cy="438912"/>
          </a:xfrm>
          <a:prstGeom prst="ellipse">
            <a:avLst/>
          </a:prstGeom>
          <a:solidFill>
            <a:srgbClr val="4527A0"/>
          </a:solidFill>
          <a:ln/>
        </p:spPr>
      </p:sp>
      <p:sp>
        <p:nvSpPr>
          <p:cNvPr id="26" name="Text 24"/>
          <p:cNvSpPr/>
          <p:nvPr/>
        </p:nvSpPr>
        <p:spPr>
          <a:xfrm>
            <a:off x="512064" y="3547872"/>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1033272" y="3529584"/>
            <a:ext cx="3474720" cy="292608"/>
          </a:xfrm>
          <a:prstGeom prst="rect">
            <a:avLst/>
          </a:prstGeom>
          <a:noFill/>
          <a:ln/>
        </p:spPr>
        <p:txBody>
          <a:bodyPr wrap="square" rtlCol="0" anchor="ctr"/>
          <a:lstStyle/>
          <a:p>
            <a:pPr marL="0" indent="0">
              <a:buNone/>
            </a:pPr>
            <a:r>
              <a:rPr lang="en-US" sz="1200" b="1" dirty="0">
                <a:solidFill>
                  <a:srgbClr val="64B5F6"/>
                </a:solidFill>
                <a:latin typeface="Calibri" pitchFamily="34" charset="0"/>
                <a:ea typeface="Calibri" pitchFamily="34" charset="-122"/>
                <a:cs typeface="Calibri" pitchFamily="34" charset="-120"/>
              </a:rPr>
              <a:t>5G et Cloud : QoS native et dynamique</a:t>
            </a:r>
            <a:endParaRPr lang="en-US" sz="1200" dirty="0"/>
          </a:p>
        </p:txBody>
      </p:sp>
      <p:sp>
        <p:nvSpPr>
          <p:cNvPr id="28" name="Text 26"/>
          <p:cNvSpPr/>
          <p:nvPr/>
        </p:nvSpPr>
        <p:spPr>
          <a:xfrm>
            <a:off x="1033272" y="3840480"/>
            <a:ext cx="3474720" cy="713232"/>
          </a:xfrm>
          <a:prstGeom prst="rect">
            <a:avLst/>
          </a:prstGeom>
          <a:noFill/>
          <a:ln/>
        </p:spPr>
        <p:txBody>
          <a:bodyPr wrap="square" rtlCol="0" anchor="ctr"/>
          <a:lstStyle/>
          <a:p>
            <a:pPr marL="0" indent="0" algn="ctr">
              <a:buNone/>
            </a:pPr>
            <a:r>
              <a:rPr lang="en-US" sz="1100" dirty="0">
                <a:solidFill>
                  <a:srgbClr val="BDBDBD"/>
                </a:solidFill>
                <a:latin typeface="Calibri" pitchFamily="34" charset="0"/>
                <a:ea typeface="Calibri" pitchFamily="34" charset="-122"/>
                <a:cs typeface="Calibri" pitchFamily="34" charset="-120"/>
              </a:rPr>
              <a:t>Network Slicing (5G), SDN, NFV : les reseaux modernes gerent la QoS de facon automatisee et programmable.</a:t>
            </a:r>
            <a:endParaRPr lang="en-US" sz="1100" dirty="0"/>
          </a:p>
        </p:txBody>
      </p:sp>
      <p:sp>
        <p:nvSpPr>
          <p:cNvPr id="29" name="Shape 27"/>
          <p:cNvSpPr/>
          <p:nvPr/>
        </p:nvSpPr>
        <p:spPr>
          <a:xfrm>
            <a:off x="4809744" y="3456432"/>
            <a:ext cx="4160520" cy="1170432"/>
          </a:xfrm>
          <a:prstGeom prst="rect">
            <a:avLst/>
          </a:prstGeom>
          <a:solidFill>
            <a:srgbClr val="0D2B45"/>
          </a:solidFill>
          <a:ln w="6350">
            <a:solidFill>
              <a:srgbClr val="1E4976"/>
            </a:solidFill>
            <a:prstDash val="solid"/>
          </a:ln>
        </p:spPr>
      </p:sp>
      <p:sp>
        <p:nvSpPr>
          <p:cNvPr id="30" name="Shape 28"/>
          <p:cNvSpPr/>
          <p:nvPr/>
        </p:nvSpPr>
        <p:spPr>
          <a:xfrm>
            <a:off x="4882896" y="3547872"/>
            <a:ext cx="438912" cy="438912"/>
          </a:xfrm>
          <a:prstGeom prst="ellipse">
            <a:avLst/>
          </a:prstGeom>
          <a:solidFill>
            <a:srgbClr val="F57F17"/>
          </a:solidFill>
          <a:ln/>
        </p:spPr>
      </p:sp>
      <p:sp>
        <p:nvSpPr>
          <p:cNvPr id="31" name="Text 29"/>
          <p:cNvSpPr/>
          <p:nvPr/>
        </p:nvSpPr>
        <p:spPr>
          <a:xfrm>
            <a:off x="4882896" y="3547872"/>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p:nvPr/>
        </p:nvSpPr>
        <p:spPr>
          <a:xfrm>
            <a:off x="5404104" y="3529584"/>
            <a:ext cx="3474720" cy="292608"/>
          </a:xfrm>
          <a:prstGeom prst="rect">
            <a:avLst/>
          </a:prstGeom>
          <a:noFill/>
          <a:ln/>
        </p:spPr>
        <p:txBody>
          <a:bodyPr wrap="square" rtlCol="0" anchor="ctr"/>
          <a:lstStyle/>
          <a:p>
            <a:pPr marL="0" indent="0">
              <a:buNone/>
            </a:pPr>
            <a:r>
              <a:rPr lang="en-US" sz="1200" b="1" dirty="0">
                <a:solidFill>
                  <a:srgbClr val="64B5F6"/>
                </a:solidFill>
                <a:latin typeface="Calibri" pitchFamily="34" charset="0"/>
                <a:ea typeface="Calibri" pitchFamily="34" charset="-122"/>
                <a:cs typeface="Calibri" pitchFamily="34" charset="-120"/>
              </a:rPr>
              <a:t>Superviser pour garantir</a:t>
            </a:r>
            <a:endParaRPr lang="en-US" sz="1200" dirty="0"/>
          </a:p>
        </p:txBody>
      </p:sp>
      <p:sp>
        <p:nvSpPr>
          <p:cNvPr id="33" name="Text 31"/>
          <p:cNvSpPr/>
          <p:nvPr/>
        </p:nvSpPr>
        <p:spPr>
          <a:xfrm>
            <a:off x="5404104" y="3840480"/>
            <a:ext cx="3474720" cy="713232"/>
          </a:xfrm>
          <a:prstGeom prst="rect">
            <a:avLst/>
          </a:prstGeom>
          <a:noFill/>
          <a:ln/>
        </p:spPr>
        <p:txBody>
          <a:bodyPr wrap="square" rtlCol="0" anchor="ctr"/>
          <a:lstStyle/>
          <a:p>
            <a:pPr marL="0" indent="0" algn="ctr">
              <a:buNone/>
            </a:pPr>
            <a:r>
              <a:rPr lang="en-US" sz="1050" dirty="0">
                <a:solidFill>
                  <a:srgbClr val="BDBDBD"/>
                </a:solidFill>
                <a:latin typeface="Calibri" pitchFamily="34" charset="0"/>
                <a:ea typeface="Calibri" pitchFamily="34" charset="-122"/>
                <a:cs typeface="Calibri" pitchFamily="34" charset="-120"/>
              </a:rPr>
              <a:t>Sans mesure (Ping, TWAMP, SNMP, NetFlow), impossible de prouver le respect du SLA. 'On ne gere que ce qu on mesure.'</a:t>
            </a:r>
            <a:endParaRPr lang="en-US" sz="1050" dirty="0"/>
          </a:p>
        </p:txBody>
      </p:sp>
      <p:sp>
        <p:nvSpPr>
          <p:cNvPr id="34" name="Shape 32"/>
          <p:cNvSpPr/>
          <p:nvPr/>
        </p:nvSpPr>
        <p:spPr>
          <a:xfrm>
            <a:off x="0" y="4828032"/>
            <a:ext cx="9144000" cy="320040"/>
          </a:xfrm>
          <a:prstGeom prst="rect">
            <a:avLst/>
          </a:prstGeom>
          <a:solidFill>
            <a:srgbClr val="00796B"/>
          </a:solidFill>
          <a:ln/>
        </p:spPr>
      </p:sp>
      <p:sp>
        <p:nvSpPr>
          <p:cNvPr id="35" name="Text 33"/>
          <p:cNvSpPr/>
          <p:nvPr/>
        </p:nvSpPr>
        <p:spPr>
          <a:xfrm>
            <a:off x="0" y="4828032"/>
            <a:ext cx="9144000" cy="320040"/>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Reseaux et QoS — Cours complet Niveau Licence  |  35 diapositives  |  Des questions ?</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0796B"/>
          </a:solidFill>
          <a:ln/>
        </p:spPr>
      </p:sp>
      <p:sp>
        <p:nvSpPr>
          <p:cNvPr id="3" name="Shape 1"/>
          <p:cNvSpPr/>
          <p:nvPr/>
        </p:nvSpPr>
        <p:spPr>
          <a:xfrm>
            <a:off x="6858000" y="0"/>
            <a:ext cx="2286000" cy="5143500"/>
          </a:xfrm>
          <a:prstGeom prst="rect">
            <a:avLst/>
          </a:prstGeom>
          <a:solidFill>
            <a:srgbClr val="1565C0">
              <a:alpha val="12000"/>
            </a:srgbClr>
          </a:solidFill>
          <a:ln/>
        </p:spPr>
      </p:sp>
      <p:sp>
        <p:nvSpPr>
          <p:cNvPr id="4" name="Text 2"/>
          <p:cNvSpPr/>
          <p:nvPr/>
        </p:nvSpPr>
        <p:spPr>
          <a:xfrm>
            <a:off x="457200" y="365760"/>
            <a:ext cx="7152198" cy="640080"/>
          </a:xfrm>
          <a:prstGeom prst="rect">
            <a:avLst/>
          </a:prstGeom>
          <a:noFill/>
          <a:ln/>
        </p:spPr>
        <p:txBody>
          <a:bodyPr wrap="square" rtlCol="0" anchor="ctr"/>
          <a:lstStyle/>
          <a:p>
            <a:pPr marL="0" indent="0">
              <a:buNone/>
            </a:pPr>
            <a:r>
              <a:rPr lang="en-US" sz="4200" b="1" dirty="0">
                <a:highlight>
                  <a:srgbClr val="C0C0C0"/>
                </a:highlight>
                <a:latin typeface="Calibri" pitchFamily="34" charset="0"/>
                <a:ea typeface="Calibri" pitchFamily="34" charset="-122"/>
                <a:cs typeface="Calibri" pitchFamily="34" charset="-120"/>
              </a:rPr>
              <a:t>Suite du cours — QoS Avancee</a:t>
            </a:r>
            <a:endParaRPr lang="en-US" sz="4200" dirty="0">
              <a:highlight>
                <a:srgbClr val="C0C0C0"/>
              </a:highlight>
            </a:endParaRPr>
          </a:p>
        </p:txBody>
      </p:sp>
      <p:sp>
        <p:nvSpPr>
          <p:cNvPr id="5" name="Text 3"/>
          <p:cNvSpPr/>
          <p:nvPr/>
        </p:nvSpPr>
        <p:spPr>
          <a:xfrm>
            <a:off x="457200" y="1051560"/>
            <a:ext cx="7315200" cy="457200"/>
          </a:xfrm>
          <a:prstGeom prst="rect">
            <a:avLst/>
          </a:prstGeom>
          <a:noFill/>
          <a:ln/>
        </p:spPr>
        <p:txBody>
          <a:bodyPr wrap="square" rtlCol="0" anchor="ctr"/>
          <a:lstStyle/>
          <a:p>
            <a:pPr marL="0" indent="0">
              <a:buNone/>
            </a:pPr>
            <a:r>
              <a:rPr lang="en-US" sz="1600" i="1" dirty="0">
                <a:solidFill>
                  <a:srgbClr val="90CAF9"/>
                </a:solidFill>
                <a:latin typeface="Calibri" pitchFamily="34" charset="0"/>
                <a:ea typeface="Calibri" pitchFamily="34" charset="-122"/>
                <a:cs typeface="Calibri" pitchFamily="34" charset="-120"/>
              </a:rPr>
              <a:t>Slides 36 a 50 — Approfondissement et applications</a:t>
            </a:r>
            <a:endParaRPr lang="en-US" sz="1600" dirty="0"/>
          </a:p>
        </p:txBody>
      </p:sp>
      <p:sp>
        <p:nvSpPr>
          <p:cNvPr id="6" name="Shape 4"/>
          <p:cNvSpPr/>
          <p:nvPr/>
        </p:nvSpPr>
        <p:spPr>
          <a:xfrm>
            <a:off x="438912" y="1719072"/>
            <a:ext cx="2788920" cy="530352"/>
          </a:xfrm>
          <a:prstGeom prst="rect">
            <a:avLst/>
          </a:prstGeom>
          <a:solidFill>
            <a:srgbClr val="132A42"/>
          </a:solidFill>
          <a:ln w="6350">
            <a:solidFill>
              <a:srgbClr val="1E4976"/>
            </a:solidFill>
            <a:prstDash val="solid"/>
          </a:ln>
        </p:spPr>
      </p:sp>
      <p:sp>
        <p:nvSpPr>
          <p:cNvPr id="7" name="Shape 5"/>
          <p:cNvSpPr/>
          <p:nvPr/>
        </p:nvSpPr>
        <p:spPr>
          <a:xfrm>
            <a:off x="438912" y="1719072"/>
            <a:ext cx="347472" cy="530352"/>
          </a:xfrm>
          <a:prstGeom prst="rect">
            <a:avLst/>
          </a:prstGeom>
          <a:solidFill>
            <a:srgbClr val="00796B"/>
          </a:solidFill>
          <a:ln/>
        </p:spPr>
      </p:sp>
      <p:sp>
        <p:nvSpPr>
          <p:cNvPr id="8" name="Text 6"/>
          <p:cNvSpPr/>
          <p:nvPr/>
        </p:nvSpPr>
        <p:spPr>
          <a:xfrm>
            <a:off x="438912" y="1719072"/>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36</a:t>
            </a:r>
            <a:endParaRPr lang="en-US" sz="1100" dirty="0"/>
          </a:p>
        </p:txBody>
      </p:sp>
      <p:sp>
        <p:nvSpPr>
          <p:cNvPr id="9" name="Text 7"/>
          <p:cNvSpPr/>
          <p:nvPr/>
        </p:nvSpPr>
        <p:spPr>
          <a:xfrm>
            <a:off x="850392" y="1719072"/>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Recap et intro suite</a:t>
            </a:r>
            <a:endParaRPr lang="en-US" sz="1050" dirty="0"/>
          </a:p>
        </p:txBody>
      </p:sp>
      <p:sp>
        <p:nvSpPr>
          <p:cNvPr id="10" name="Shape 8"/>
          <p:cNvSpPr/>
          <p:nvPr/>
        </p:nvSpPr>
        <p:spPr>
          <a:xfrm>
            <a:off x="3346704" y="1719072"/>
            <a:ext cx="2788920" cy="530352"/>
          </a:xfrm>
          <a:prstGeom prst="rect">
            <a:avLst/>
          </a:prstGeom>
          <a:solidFill>
            <a:srgbClr val="132A42"/>
          </a:solidFill>
          <a:ln w="6350">
            <a:solidFill>
              <a:srgbClr val="1E4976"/>
            </a:solidFill>
            <a:prstDash val="solid"/>
          </a:ln>
        </p:spPr>
      </p:sp>
      <p:sp>
        <p:nvSpPr>
          <p:cNvPr id="11" name="Shape 9"/>
          <p:cNvSpPr/>
          <p:nvPr/>
        </p:nvSpPr>
        <p:spPr>
          <a:xfrm>
            <a:off x="3346704" y="1719072"/>
            <a:ext cx="347472" cy="530352"/>
          </a:xfrm>
          <a:prstGeom prst="rect">
            <a:avLst/>
          </a:prstGeom>
          <a:solidFill>
            <a:srgbClr val="00796B"/>
          </a:solidFill>
          <a:ln/>
        </p:spPr>
      </p:sp>
      <p:sp>
        <p:nvSpPr>
          <p:cNvPr id="12" name="Text 10"/>
          <p:cNvSpPr/>
          <p:nvPr/>
        </p:nvSpPr>
        <p:spPr>
          <a:xfrm>
            <a:off x="3346704" y="1719072"/>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37</a:t>
            </a:r>
            <a:endParaRPr lang="en-US" sz="1100" dirty="0"/>
          </a:p>
        </p:txBody>
      </p:sp>
      <p:sp>
        <p:nvSpPr>
          <p:cNvPr id="13" name="Text 11"/>
          <p:cNvSpPr/>
          <p:nvPr/>
        </p:nvSpPr>
        <p:spPr>
          <a:xfrm>
            <a:off x="3758184" y="1719072"/>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IPv6 et QoS — Flow Label</a:t>
            </a:r>
            <a:endParaRPr lang="en-US" sz="1050" dirty="0"/>
          </a:p>
        </p:txBody>
      </p:sp>
      <p:sp>
        <p:nvSpPr>
          <p:cNvPr id="14" name="Shape 12"/>
          <p:cNvSpPr/>
          <p:nvPr/>
        </p:nvSpPr>
        <p:spPr>
          <a:xfrm>
            <a:off x="6254496" y="1719072"/>
            <a:ext cx="2788920" cy="530352"/>
          </a:xfrm>
          <a:prstGeom prst="rect">
            <a:avLst/>
          </a:prstGeom>
          <a:solidFill>
            <a:srgbClr val="132A42"/>
          </a:solidFill>
          <a:ln w="6350">
            <a:solidFill>
              <a:srgbClr val="1E4976"/>
            </a:solidFill>
            <a:prstDash val="solid"/>
          </a:ln>
        </p:spPr>
      </p:sp>
      <p:sp>
        <p:nvSpPr>
          <p:cNvPr id="15" name="Shape 13"/>
          <p:cNvSpPr/>
          <p:nvPr/>
        </p:nvSpPr>
        <p:spPr>
          <a:xfrm>
            <a:off x="6254496" y="1719072"/>
            <a:ext cx="347472" cy="530352"/>
          </a:xfrm>
          <a:prstGeom prst="rect">
            <a:avLst/>
          </a:prstGeom>
          <a:solidFill>
            <a:srgbClr val="00796B"/>
          </a:solidFill>
          <a:ln/>
        </p:spPr>
      </p:sp>
      <p:sp>
        <p:nvSpPr>
          <p:cNvPr id="16" name="Text 14"/>
          <p:cNvSpPr/>
          <p:nvPr/>
        </p:nvSpPr>
        <p:spPr>
          <a:xfrm>
            <a:off x="6254496" y="1719072"/>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38</a:t>
            </a:r>
            <a:endParaRPr lang="en-US" sz="1100" dirty="0"/>
          </a:p>
        </p:txBody>
      </p:sp>
      <p:sp>
        <p:nvSpPr>
          <p:cNvPr id="17" name="Text 15"/>
          <p:cNvSpPr/>
          <p:nvPr/>
        </p:nvSpPr>
        <p:spPr>
          <a:xfrm>
            <a:off x="6665976" y="1719072"/>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QoS pour la VoIP de A a Z</a:t>
            </a:r>
            <a:endParaRPr lang="en-US" sz="1050" dirty="0"/>
          </a:p>
        </p:txBody>
      </p:sp>
      <p:sp>
        <p:nvSpPr>
          <p:cNvPr id="18" name="Shape 16"/>
          <p:cNvSpPr/>
          <p:nvPr/>
        </p:nvSpPr>
        <p:spPr>
          <a:xfrm>
            <a:off x="438912" y="2340864"/>
            <a:ext cx="2788920" cy="530352"/>
          </a:xfrm>
          <a:prstGeom prst="rect">
            <a:avLst/>
          </a:prstGeom>
          <a:solidFill>
            <a:srgbClr val="132A42"/>
          </a:solidFill>
          <a:ln w="6350">
            <a:solidFill>
              <a:srgbClr val="1E4976"/>
            </a:solidFill>
            <a:prstDash val="solid"/>
          </a:ln>
        </p:spPr>
      </p:sp>
      <p:sp>
        <p:nvSpPr>
          <p:cNvPr id="19" name="Shape 17"/>
          <p:cNvSpPr/>
          <p:nvPr/>
        </p:nvSpPr>
        <p:spPr>
          <a:xfrm>
            <a:off x="438912" y="2340864"/>
            <a:ext cx="347472" cy="530352"/>
          </a:xfrm>
          <a:prstGeom prst="rect">
            <a:avLst/>
          </a:prstGeom>
          <a:solidFill>
            <a:srgbClr val="00796B"/>
          </a:solidFill>
          <a:ln/>
        </p:spPr>
      </p:sp>
      <p:sp>
        <p:nvSpPr>
          <p:cNvPr id="20" name="Text 18"/>
          <p:cNvSpPr/>
          <p:nvPr/>
        </p:nvSpPr>
        <p:spPr>
          <a:xfrm>
            <a:off x="438912" y="2340864"/>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39</a:t>
            </a:r>
            <a:endParaRPr lang="en-US" sz="1100" dirty="0"/>
          </a:p>
        </p:txBody>
      </p:sp>
      <p:sp>
        <p:nvSpPr>
          <p:cNvPr id="21" name="Text 19"/>
          <p:cNvSpPr/>
          <p:nvPr/>
        </p:nvSpPr>
        <p:spPr>
          <a:xfrm>
            <a:off x="850392" y="2340864"/>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QoS pour la video — IPTV et streaming</a:t>
            </a:r>
            <a:endParaRPr lang="en-US" sz="1050" dirty="0"/>
          </a:p>
        </p:txBody>
      </p:sp>
      <p:sp>
        <p:nvSpPr>
          <p:cNvPr id="22" name="Shape 20"/>
          <p:cNvSpPr/>
          <p:nvPr/>
        </p:nvSpPr>
        <p:spPr>
          <a:xfrm>
            <a:off x="3346704" y="2340864"/>
            <a:ext cx="2788920" cy="530352"/>
          </a:xfrm>
          <a:prstGeom prst="rect">
            <a:avLst/>
          </a:prstGeom>
          <a:solidFill>
            <a:srgbClr val="132A42"/>
          </a:solidFill>
          <a:ln w="6350">
            <a:solidFill>
              <a:srgbClr val="1E4976"/>
            </a:solidFill>
            <a:prstDash val="solid"/>
          </a:ln>
        </p:spPr>
      </p:sp>
      <p:sp>
        <p:nvSpPr>
          <p:cNvPr id="23" name="Shape 21"/>
          <p:cNvSpPr/>
          <p:nvPr/>
        </p:nvSpPr>
        <p:spPr>
          <a:xfrm>
            <a:off x="3346704" y="2340864"/>
            <a:ext cx="347472" cy="530352"/>
          </a:xfrm>
          <a:prstGeom prst="rect">
            <a:avLst/>
          </a:prstGeom>
          <a:solidFill>
            <a:srgbClr val="00796B"/>
          </a:solidFill>
          <a:ln/>
        </p:spPr>
      </p:sp>
      <p:sp>
        <p:nvSpPr>
          <p:cNvPr id="24" name="Text 22"/>
          <p:cNvSpPr/>
          <p:nvPr/>
        </p:nvSpPr>
        <p:spPr>
          <a:xfrm>
            <a:off x="3346704" y="2340864"/>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40</a:t>
            </a:r>
            <a:endParaRPr lang="en-US" sz="1100" dirty="0"/>
          </a:p>
        </p:txBody>
      </p:sp>
      <p:sp>
        <p:nvSpPr>
          <p:cNvPr id="25" name="Text 23"/>
          <p:cNvSpPr/>
          <p:nvPr/>
        </p:nvSpPr>
        <p:spPr>
          <a:xfrm>
            <a:off x="3758184" y="2340864"/>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Qualite percue — MOS et E-Model</a:t>
            </a:r>
            <a:endParaRPr lang="en-US" sz="1050" dirty="0"/>
          </a:p>
        </p:txBody>
      </p:sp>
      <p:sp>
        <p:nvSpPr>
          <p:cNvPr id="26" name="Shape 24"/>
          <p:cNvSpPr/>
          <p:nvPr/>
        </p:nvSpPr>
        <p:spPr>
          <a:xfrm>
            <a:off x="6254496" y="2340864"/>
            <a:ext cx="2788920" cy="530352"/>
          </a:xfrm>
          <a:prstGeom prst="rect">
            <a:avLst/>
          </a:prstGeom>
          <a:solidFill>
            <a:srgbClr val="132A42"/>
          </a:solidFill>
          <a:ln w="6350">
            <a:solidFill>
              <a:srgbClr val="1E4976"/>
            </a:solidFill>
            <a:prstDash val="solid"/>
          </a:ln>
        </p:spPr>
      </p:sp>
      <p:sp>
        <p:nvSpPr>
          <p:cNvPr id="27" name="Shape 25"/>
          <p:cNvSpPr/>
          <p:nvPr/>
        </p:nvSpPr>
        <p:spPr>
          <a:xfrm>
            <a:off x="6254496" y="2340864"/>
            <a:ext cx="347472" cy="530352"/>
          </a:xfrm>
          <a:prstGeom prst="rect">
            <a:avLst/>
          </a:prstGeom>
          <a:solidFill>
            <a:srgbClr val="00796B"/>
          </a:solidFill>
          <a:ln/>
        </p:spPr>
      </p:sp>
      <p:sp>
        <p:nvSpPr>
          <p:cNvPr id="28" name="Text 26"/>
          <p:cNvSpPr/>
          <p:nvPr/>
        </p:nvSpPr>
        <p:spPr>
          <a:xfrm>
            <a:off x="6254496" y="2340864"/>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41</a:t>
            </a:r>
            <a:endParaRPr lang="en-US" sz="1100" dirty="0"/>
          </a:p>
        </p:txBody>
      </p:sp>
      <p:sp>
        <p:nvSpPr>
          <p:cNvPr id="29" name="Text 27"/>
          <p:cNvSpPr/>
          <p:nvPr/>
        </p:nvSpPr>
        <p:spPr>
          <a:xfrm>
            <a:off x="6665976" y="2340864"/>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Congestion et buffer bloat</a:t>
            </a:r>
            <a:endParaRPr lang="en-US" sz="1050" dirty="0"/>
          </a:p>
        </p:txBody>
      </p:sp>
      <p:sp>
        <p:nvSpPr>
          <p:cNvPr id="30" name="Shape 28"/>
          <p:cNvSpPr/>
          <p:nvPr/>
        </p:nvSpPr>
        <p:spPr>
          <a:xfrm>
            <a:off x="438912" y="2962656"/>
            <a:ext cx="2788920" cy="530352"/>
          </a:xfrm>
          <a:prstGeom prst="rect">
            <a:avLst/>
          </a:prstGeom>
          <a:solidFill>
            <a:srgbClr val="132A42"/>
          </a:solidFill>
          <a:ln w="6350">
            <a:solidFill>
              <a:srgbClr val="1E4976"/>
            </a:solidFill>
            <a:prstDash val="solid"/>
          </a:ln>
        </p:spPr>
      </p:sp>
      <p:sp>
        <p:nvSpPr>
          <p:cNvPr id="31" name="Shape 29"/>
          <p:cNvSpPr/>
          <p:nvPr/>
        </p:nvSpPr>
        <p:spPr>
          <a:xfrm>
            <a:off x="438912" y="2962656"/>
            <a:ext cx="347472" cy="530352"/>
          </a:xfrm>
          <a:prstGeom prst="rect">
            <a:avLst/>
          </a:prstGeom>
          <a:solidFill>
            <a:srgbClr val="00796B"/>
          </a:solidFill>
          <a:ln/>
        </p:spPr>
      </p:sp>
      <p:sp>
        <p:nvSpPr>
          <p:cNvPr id="32" name="Text 30"/>
          <p:cNvSpPr/>
          <p:nvPr/>
        </p:nvSpPr>
        <p:spPr>
          <a:xfrm>
            <a:off x="438912" y="2962656"/>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42</a:t>
            </a:r>
            <a:endParaRPr lang="en-US" sz="1100" dirty="0"/>
          </a:p>
        </p:txBody>
      </p:sp>
      <p:sp>
        <p:nvSpPr>
          <p:cNvPr id="33" name="Text 31"/>
          <p:cNvSpPr/>
          <p:nvPr/>
        </p:nvSpPr>
        <p:spPr>
          <a:xfrm>
            <a:off x="850392" y="2962656"/>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QoS dans les VPN MPLS</a:t>
            </a:r>
            <a:endParaRPr lang="en-US" sz="1050" dirty="0"/>
          </a:p>
        </p:txBody>
      </p:sp>
      <p:sp>
        <p:nvSpPr>
          <p:cNvPr id="34" name="Shape 32"/>
          <p:cNvSpPr/>
          <p:nvPr/>
        </p:nvSpPr>
        <p:spPr>
          <a:xfrm>
            <a:off x="3346704" y="2962656"/>
            <a:ext cx="2788920" cy="530352"/>
          </a:xfrm>
          <a:prstGeom prst="rect">
            <a:avLst/>
          </a:prstGeom>
          <a:solidFill>
            <a:srgbClr val="132A42"/>
          </a:solidFill>
          <a:ln w="6350">
            <a:solidFill>
              <a:srgbClr val="1E4976"/>
            </a:solidFill>
            <a:prstDash val="solid"/>
          </a:ln>
        </p:spPr>
      </p:sp>
      <p:sp>
        <p:nvSpPr>
          <p:cNvPr id="35" name="Shape 33"/>
          <p:cNvSpPr/>
          <p:nvPr/>
        </p:nvSpPr>
        <p:spPr>
          <a:xfrm>
            <a:off x="3346704" y="2962656"/>
            <a:ext cx="347472" cy="530352"/>
          </a:xfrm>
          <a:prstGeom prst="rect">
            <a:avLst/>
          </a:prstGeom>
          <a:solidFill>
            <a:srgbClr val="00796B"/>
          </a:solidFill>
          <a:ln/>
        </p:spPr>
      </p:sp>
      <p:sp>
        <p:nvSpPr>
          <p:cNvPr id="36" name="Text 34"/>
          <p:cNvSpPr/>
          <p:nvPr/>
        </p:nvSpPr>
        <p:spPr>
          <a:xfrm>
            <a:off x="3346704" y="2962656"/>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43</a:t>
            </a:r>
            <a:endParaRPr lang="en-US" sz="1100" dirty="0"/>
          </a:p>
        </p:txBody>
      </p:sp>
      <p:sp>
        <p:nvSpPr>
          <p:cNvPr id="37" name="Text 35"/>
          <p:cNvSpPr/>
          <p:nvPr/>
        </p:nvSpPr>
        <p:spPr>
          <a:xfrm>
            <a:off x="3758184" y="2962656"/>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IoT et QoS — objets connectes</a:t>
            </a:r>
            <a:endParaRPr lang="en-US" sz="1050" dirty="0"/>
          </a:p>
        </p:txBody>
      </p:sp>
      <p:sp>
        <p:nvSpPr>
          <p:cNvPr id="38" name="Shape 36"/>
          <p:cNvSpPr/>
          <p:nvPr/>
        </p:nvSpPr>
        <p:spPr>
          <a:xfrm>
            <a:off x="6254496" y="2962656"/>
            <a:ext cx="2788920" cy="530352"/>
          </a:xfrm>
          <a:prstGeom prst="rect">
            <a:avLst/>
          </a:prstGeom>
          <a:solidFill>
            <a:srgbClr val="132A42"/>
          </a:solidFill>
          <a:ln w="6350">
            <a:solidFill>
              <a:srgbClr val="1E4976"/>
            </a:solidFill>
            <a:prstDash val="solid"/>
          </a:ln>
        </p:spPr>
      </p:sp>
      <p:sp>
        <p:nvSpPr>
          <p:cNvPr id="39" name="Shape 37"/>
          <p:cNvSpPr/>
          <p:nvPr/>
        </p:nvSpPr>
        <p:spPr>
          <a:xfrm>
            <a:off x="6254496" y="2962656"/>
            <a:ext cx="347472" cy="530352"/>
          </a:xfrm>
          <a:prstGeom prst="rect">
            <a:avLst/>
          </a:prstGeom>
          <a:solidFill>
            <a:srgbClr val="00796B"/>
          </a:solidFill>
          <a:ln/>
        </p:spPr>
      </p:sp>
      <p:sp>
        <p:nvSpPr>
          <p:cNvPr id="40" name="Text 38"/>
          <p:cNvSpPr/>
          <p:nvPr/>
        </p:nvSpPr>
        <p:spPr>
          <a:xfrm>
            <a:off x="6254496" y="2962656"/>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44</a:t>
            </a:r>
            <a:endParaRPr lang="en-US" sz="1100" dirty="0"/>
          </a:p>
        </p:txBody>
      </p:sp>
      <p:sp>
        <p:nvSpPr>
          <p:cNvPr id="41" name="Text 39"/>
          <p:cNvSpPr/>
          <p:nvPr/>
        </p:nvSpPr>
        <p:spPr>
          <a:xfrm>
            <a:off x="6665976" y="2962656"/>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IA et QoS — apprentissage automatique</a:t>
            </a:r>
            <a:endParaRPr lang="en-US" sz="1050" dirty="0"/>
          </a:p>
        </p:txBody>
      </p:sp>
      <p:sp>
        <p:nvSpPr>
          <p:cNvPr id="42" name="Shape 40"/>
          <p:cNvSpPr/>
          <p:nvPr/>
        </p:nvSpPr>
        <p:spPr>
          <a:xfrm>
            <a:off x="438912" y="3584448"/>
            <a:ext cx="2788920" cy="530352"/>
          </a:xfrm>
          <a:prstGeom prst="rect">
            <a:avLst/>
          </a:prstGeom>
          <a:solidFill>
            <a:srgbClr val="132A42"/>
          </a:solidFill>
          <a:ln w="6350">
            <a:solidFill>
              <a:srgbClr val="1E4976"/>
            </a:solidFill>
            <a:prstDash val="solid"/>
          </a:ln>
        </p:spPr>
      </p:sp>
      <p:sp>
        <p:nvSpPr>
          <p:cNvPr id="43" name="Shape 41"/>
          <p:cNvSpPr/>
          <p:nvPr/>
        </p:nvSpPr>
        <p:spPr>
          <a:xfrm>
            <a:off x="438912" y="3584448"/>
            <a:ext cx="347472" cy="530352"/>
          </a:xfrm>
          <a:prstGeom prst="rect">
            <a:avLst/>
          </a:prstGeom>
          <a:solidFill>
            <a:srgbClr val="00796B"/>
          </a:solidFill>
          <a:ln/>
        </p:spPr>
      </p:sp>
      <p:sp>
        <p:nvSpPr>
          <p:cNvPr id="44" name="Text 42"/>
          <p:cNvSpPr/>
          <p:nvPr/>
        </p:nvSpPr>
        <p:spPr>
          <a:xfrm>
            <a:off x="438912" y="3584448"/>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45</a:t>
            </a:r>
            <a:endParaRPr lang="en-US" sz="1100" dirty="0"/>
          </a:p>
        </p:txBody>
      </p:sp>
      <p:sp>
        <p:nvSpPr>
          <p:cNvPr id="45" name="Text 43"/>
          <p:cNvSpPr/>
          <p:nvPr/>
        </p:nvSpPr>
        <p:spPr>
          <a:xfrm>
            <a:off x="850392" y="3584448"/>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Exercices pratiques — Calculs QoS</a:t>
            </a:r>
            <a:endParaRPr lang="en-US" sz="1050" dirty="0"/>
          </a:p>
        </p:txBody>
      </p:sp>
      <p:sp>
        <p:nvSpPr>
          <p:cNvPr id="46" name="Shape 44"/>
          <p:cNvSpPr/>
          <p:nvPr/>
        </p:nvSpPr>
        <p:spPr>
          <a:xfrm>
            <a:off x="3346704" y="3584448"/>
            <a:ext cx="2788920" cy="530352"/>
          </a:xfrm>
          <a:prstGeom prst="rect">
            <a:avLst/>
          </a:prstGeom>
          <a:solidFill>
            <a:srgbClr val="132A42"/>
          </a:solidFill>
          <a:ln w="6350">
            <a:solidFill>
              <a:srgbClr val="1E4976"/>
            </a:solidFill>
            <a:prstDash val="solid"/>
          </a:ln>
        </p:spPr>
      </p:sp>
      <p:sp>
        <p:nvSpPr>
          <p:cNvPr id="47" name="Shape 45"/>
          <p:cNvSpPr/>
          <p:nvPr/>
        </p:nvSpPr>
        <p:spPr>
          <a:xfrm>
            <a:off x="3346704" y="3584448"/>
            <a:ext cx="347472" cy="530352"/>
          </a:xfrm>
          <a:prstGeom prst="rect">
            <a:avLst/>
          </a:prstGeom>
          <a:solidFill>
            <a:srgbClr val="00796B"/>
          </a:solidFill>
          <a:ln/>
        </p:spPr>
      </p:sp>
      <p:sp>
        <p:nvSpPr>
          <p:cNvPr id="48" name="Text 46"/>
          <p:cNvSpPr/>
          <p:nvPr/>
        </p:nvSpPr>
        <p:spPr>
          <a:xfrm>
            <a:off x="3346704" y="3584448"/>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46</a:t>
            </a:r>
            <a:endParaRPr lang="en-US" sz="1100" dirty="0"/>
          </a:p>
        </p:txBody>
      </p:sp>
      <p:sp>
        <p:nvSpPr>
          <p:cNvPr id="49" name="Text 47"/>
          <p:cNvSpPr/>
          <p:nvPr/>
        </p:nvSpPr>
        <p:spPr>
          <a:xfrm>
            <a:off x="3758184" y="3584448"/>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Configuration Cisco — DiffServ IOS</a:t>
            </a:r>
            <a:endParaRPr lang="en-US" sz="1050" dirty="0"/>
          </a:p>
        </p:txBody>
      </p:sp>
      <p:sp>
        <p:nvSpPr>
          <p:cNvPr id="50" name="Shape 48"/>
          <p:cNvSpPr/>
          <p:nvPr/>
        </p:nvSpPr>
        <p:spPr>
          <a:xfrm>
            <a:off x="6254496" y="3584448"/>
            <a:ext cx="2788920" cy="530352"/>
          </a:xfrm>
          <a:prstGeom prst="rect">
            <a:avLst/>
          </a:prstGeom>
          <a:solidFill>
            <a:srgbClr val="132A42"/>
          </a:solidFill>
          <a:ln w="6350">
            <a:solidFill>
              <a:srgbClr val="1E4976"/>
            </a:solidFill>
            <a:prstDash val="solid"/>
          </a:ln>
        </p:spPr>
      </p:sp>
      <p:sp>
        <p:nvSpPr>
          <p:cNvPr id="51" name="Shape 49"/>
          <p:cNvSpPr/>
          <p:nvPr/>
        </p:nvSpPr>
        <p:spPr>
          <a:xfrm>
            <a:off x="6254496" y="3584448"/>
            <a:ext cx="347472" cy="530352"/>
          </a:xfrm>
          <a:prstGeom prst="rect">
            <a:avLst/>
          </a:prstGeom>
          <a:solidFill>
            <a:srgbClr val="00796B"/>
          </a:solidFill>
          <a:ln/>
        </p:spPr>
      </p:sp>
      <p:sp>
        <p:nvSpPr>
          <p:cNvPr id="52" name="Text 50"/>
          <p:cNvSpPr/>
          <p:nvPr/>
        </p:nvSpPr>
        <p:spPr>
          <a:xfrm>
            <a:off x="6254496" y="3584448"/>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47</a:t>
            </a:r>
            <a:endParaRPr lang="en-US" sz="1100" dirty="0"/>
          </a:p>
        </p:txBody>
      </p:sp>
      <p:sp>
        <p:nvSpPr>
          <p:cNvPr id="53" name="Text 51"/>
          <p:cNvSpPr/>
          <p:nvPr/>
        </p:nvSpPr>
        <p:spPr>
          <a:xfrm>
            <a:off x="6665976" y="3584448"/>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Comparatif technologies — tableau final</a:t>
            </a:r>
            <a:endParaRPr lang="en-US" sz="1050" dirty="0"/>
          </a:p>
        </p:txBody>
      </p:sp>
      <p:sp>
        <p:nvSpPr>
          <p:cNvPr id="54" name="Shape 52"/>
          <p:cNvSpPr/>
          <p:nvPr/>
        </p:nvSpPr>
        <p:spPr>
          <a:xfrm>
            <a:off x="438912" y="4206240"/>
            <a:ext cx="2788920" cy="530352"/>
          </a:xfrm>
          <a:prstGeom prst="rect">
            <a:avLst/>
          </a:prstGeom>
          <a:solidFill>
            <a:srgbClr val="132A42"/>
          </a:solidFill>
          <a:ln w="6350">
            <a:solidFill>
              <a:srgbClr val="1E4976"/>
            </a:solidFill>
            <a:prstDash val="solid"/>
          </a:ln>
        </p:spPr>
      </p:sp>
      <p:sp>
        <p:nvSpPr>
          <p:cNvPr id="55" name="Shape 53"/>
          <p:cNvSpPr/>
          <p:nvPr/>
        </p:nvSpPr>
        <p:spPr>
          <a:xfrm>
            <a:off x="438912" y="4206240"/>
            <a:ext cx="347472" cy="530352"/>
          </a:xfrm>
          <a:prstGeom prst="rect">
            <a:avLst/>
          </a:prstGeom>
          <a:solidFill>
            <a:srgbClr val="00796B"/>
          </a:solidFill>
          <a:ln/>
        </p:spPr>
      </p:sp>
      <p:sp>
        <p:nvSpPr>
          <p:cNvPr id="56" name="Text 54"/>
          <p:cNvSpPr/>
          <p:nvPr/>
        </p:nvSpPr>
        <p:spPr>
          <a:xfrm>
            <a:off x="438912" y="4206240"/>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48</a:t>
            </a:r>
            <a:endParaRPr lang="en-US" sz="1100" dirty="0"/>
          </a:p>
        </p:txBody>
      </p:sp>
      <p:sp>
        <p:nvSpPr>
          <p:cNvPr id="57" name="Text 55"/>
          <p:cNvSpPr/>
          <p:nvPr/>
        </p:nvSpPr>
        <p:spPr>
          <a:xfrm>
            <a:off x="850392" y="4206240"/>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Cas pratique — Deploiement entreprise</a:t>
            </a:r>
            <a:endParaRPr lang="en-US" sz="1050" dirty="0"/>
          </a:p>
        </p:txBody>
      </p:sp>
      <p:sp>
        <p:nvSpPr>
          <p:cNvPr id="58" name="Shape 56"/>
          <p:cNvSpPr/>
          <p:nvPr/>
        </p:nvSpPr>
        <p:spPr>
          <a:xfrm>
            <a:off x="3346704" y="4206240"/>
            <a:ext cx="2788920" cy="530352"/>
          </a:xfrm>
          <a:prstGeom prst="rect">
            <a:avLst/>
          </a:prstGeom>
          <a:solidFill>
            <a:srgbClr val="132A42"/>
          </a:solidFill>
          <a:ln w="6350">
            <a:solidFill>
              <a:srgbClr val="1E4976"/>
            </a:solidFill>
            <a:prstDash val="solid"/>
          </a:ln>
        </p:spPr>
      </p:sp>
      <p:sp>
        <p:nvSpPr>
          <p:cNvPr id="59" name="Shape 57"/>
          <p:cNvSpPr/>
          <p:nvPr/>
        </p:nvSpPr>
        <p:spPr>
          <a:xfrm>
            <a:off x="3346704" y="4206240"/>
            <a:ext cx="347472" cy="530352"/>
          </a:xfrm>
          <a:prstGeom prst="rect">
            <a:avLst/>
          </a:prstGeom>
          <a:solidFill>
            <a:srgbClr val="00796B"/>
          </a:solidFill>
          <a:ln/>
        </p:spPr>
      </p:sp>
      <p:sp>
        <p:nvSpPr>
          <p:cNvPr id="60" name="Text 58"/>
          <p:cNvSpPr/>
          <p:nvPr/>
        </p:nvSpPr>
        <p:spPr>
          <a:xfrm>
            <a:off x="3346704" y="4206240"/>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49</a:t>
            </a:r>
            <a:endParaRPr lang="en-US" sz="1100" dirty="0"/>
          </a:p>
        </p:txBody>
      </p:sp>
      <p:sp>
        <p:nvSpPr>
          <p:cNvPr id="61" name="Text 59"/>
          <p:cNvSpPr/>
          <p:nvPr/>
        </p:nvSpPr>
        <p:spPr>
          <a:xfrm>
            <a:off x="3758184" y="4206240"/>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Tendances et futur de la QoS</a:t>
            </a:r>
            <a:endParaRPr lang="en-US" sz="1050" dirty="0"/>
          </a:p>
        </p:txBody>
      </p:sp>
      <p:sp>
        <p:nvSpPr>
          <p:cNvPr id="62" name="Shape 60"/>
          <p:cNvSpPr/>
          <p:nvPr/>
        </p:nvSpPr>
        <p:spPr>
          <a:xfrm>
            <a:off x="6254496" y="4206240"/>
            <a:ext cx="2788920" cy="530352"/>
          </a:xfrm>
          <a:prstGeom prst="rect">
            <a:avLst/>
          </a:prstGeom>
          <a:solidFill>
            <a:srgbClr val="132A42"/>
          </a:solidFill>
          <a:ln w="6350">
            <a:solidFill>
              <a:srgbClr val="1E4976"/>
            </a:solidFill>
            <a:prstDash val="solid"/>
          </a:ln>
        </p:spPr>
      </p:sp>
      <p:sp>
        <p:nvSpPr>
          <p:cNvPr id="63" name="Shape 61"/>
          <p:cNvSpPr/>
          <p:nvPr/>
        </p:nvSpPr>
        <p:spPr>
          <a:xfrm>
            <a:off x="6254496" y="4206240"/>
            <a:ext cx="347472" cy="530352"/>
          </a:xfrm>
          <a:prstGeom prst="rect">
            <a:avLst/>
          </a:prstGeom>
          <a:solidFill>
            <a:srgbClr val="00796B"/>
          </a:solidFill>
          <a:ln/>
        </p:spPr>
      </p:sp>
      <p:sp>
        <p:nvSpPr>
          <p:cNvPr id="64" name="Text 62"/>
          <p:cNvSpPr/>
          <p:nvPr/>
        </p:nvSpPr>
        <p:spPr>
          <a:xfrm>
            <a:off x="6254496" y="4206240"/>
            <a:ext cx="347472" cy="53035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50</a:t>
            </a:r>
            <a:endParaRPr lang="en-US" sz="1100" dirty="0"/>
          </a:p>
        </p:txBody>
      </p:sp>
      <p:sp>
        <p:nvSpPr>
          <p:cNvPr id="65" name="Text 63"/>
          <p:cNvSpPr/>
          <p:nvPr/>
        </p:nvSpPr>
        <p:spPr>
          <a:xfrm>
            <a:off x="6665976" y="4206240"/>
            <a:ext cx="2331720" cy="530352"/>
          </a:xfrm>
          <a:prstGeom prst="rect">
            <a:avLst/>
          </a:prstGeom>
          <a:noFill/>
          <a:ln/>
        </p:spPr>
        <p:txBody>
          <a:bodyPr wrap="square" rtlCol="0" anchor="ctr"/>
          <a:lstStyle/>
          <a:p>
            <a:pPr marL="0" indent="0">
              <a:buNone/>
            </a:pPr>
            <a:r>
              <a:rPr lang="en-US" sz="1050" dirty="0">
                <a:solidFill>
                  <a:srgbClr val="B0BEC5"/>
                </a:solidFill>
                <a:latin typeface="Calibri" pitchFamily="34" charset="0"/>
                <a:ea typeface="Calibri" pitchFamily="34" charset="-122"/>
                <a:cs typeface="Calibri" pitchFamily="34" charset="-120"/>
              </a:rPr>
              <a:t>Questions type examen et conclusion</a:t>
            </a:r>
            <a:endParaRPr lang="en-US" sz="1050" dirty="0"/>
          </a:p>
        </p:txBody>
      </p:sp>
      <p:sp>
        <p:nvSpPr>
          <p:cNvPr id="66" name="Shape 64"/>
          <p:cNvSpPr/>
          <p:nvPr/>
        </p:nvSpPr>
        <p:spPr>
          <a:xfrm>
            <a:off x="0" y="4919472"/>
            <a:ext cx="9144000" cy="228600"/>
          </a:xfrm>
          <a:prstGeom prst="rect">
            <a:avLst/>
          </a:prstGeom>
          <a:solidFill>
            <a:srgbClr val="00796B"/>
          </a:solidFill>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565C0"/>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IPv6 et QoS — Le champ Flow Label et Traffic Class</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IPv6 integre nativement deux champs devoues a la QoS dans son en-tete fixe de 40 octets :</a:t>
            </a:r>
            <a:endParaRPr lang="en-US" sz="1100" dirty="0"/>
          </a:p>
        </p:txBody>
      </p:sp>
      <p:sp>
        <p:nvSpPr>
          <p:cNvPr id="6" name="Text 4"/>
          <p:cNvSpPr/>
          <p:nvPr/>
        </p:nvSpPr>
        <p:spPr>
          <a:xfrm>
            <a:off x="256032" y="1170432"/>
            <a:ext cx="8631936" cy="32004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Structure de l en-tete IPv6 (40 octets) :</a:t>
            </a:r>
            <a:endParaRPr lang="en-US" sz="1250" dirty="0"/>
          </a:p>
        </p:txBody>
      </p:sp>
      <p:sp>
        <p:nvSpPr>
          <p:cNvPr id="7" name="Shape 5"/>
          <p:cNvSpPr/>
          <p:nvPr/>
        </p:nvSpPr>
        <p:spPr>
          <a:xfrm>
            <a:off x="256032" y="1554480"/>
            <a:ext cx="685800" cy="566928"/>
          </a:xfrm>
          <a:prstGeom prst="rect">
            <a:avLst/>
          </a:prstGeom>
          <a:solidFill>
            <a:srgbClr val="BBDEFB"/>
          </a:solidFill>
          <a:ln w="3810">
            <a:solidFill>
              <a:srgbClr val="BDBDBD"/>
            </a:solidFill>
            <a:prstDash val="solid"/>
          </a:ln>
        </p:spPr>
      </p:sp>
      <p:sp>
        <p:nvSpPr>
          <p:cNvPr id="8" name="Text 6"/>
          <p:cNvSpPr/>
          <p:nvPr/>
        </p:nvSpPr>
        <p:spPr>
          <a:xfrm>
            <a:off x="256032" y="1554480"/>
            <a:ext cx="685800" cy="566928"/>
          </a:xfrm>
          <a:prstGeom prst="rect">
            <a:avLst/>
          </a:prstGeom>
          <a:noFill/>
          <a:ln/>
        </p:spPr>
        <p:txBody>
          <a:bodyPr wrap="square" rtlCol="0" anchor="ctr"/>
          <a:lstStyle/>
          <a:p>
            <a:pPr marL="0" indent="0" algn="ctr">
              <a:buNone/>
            </a:pPr>
            <a:r>
              <a:rPr lang="en-US" sz="800" dirty="0">
                <a:solidFill>
                  <a:srgbClr val="212121"/>
                </a:solidFill>
                <a:latin typeface="Calibri" pitchFamily="34" charset="0"/>
                <a:ea typeface="Calibri" pitchFamily="34" charset="-122"/>
                <a:cs typeface="Calibri" pitchFamily="34" charset="-120"/>
              </a:rPr>
              <a:t>Version</a:t>
            </a:r>
            <a:endParaRPr lang="en-US" sz="800" dirty="0"/>
          </a:p>
          <a:p>
            <a:pPr marL="0" indent="0" algn="ctr">
              <a:buNone/>
            </a:pPr>
            <a:r>
              <a:rPr lang="en-US" sz="800" dirty="0">
                <a:solidFill>
                  <a:srgbClr val="212121"/>
                </a:solidFill>
                <a:latin typeface="Calibri" pitchFamily="34" charset="0"/>
                <a:ea typeface="Calibri" pitchFamily="34" charset="-122"/>
                <a:cs typeface="Calibri" pitchFamily="34" charset="-120"/>
              </a:rPr>
              <a:t>(4b)</a:t>
            </a:r>
            <a:endParaRPr lang="en-US" sz="800" dirty="0"/>
          </a:p>
        </p:txBody>
      </p:sp>
      <p:sp>
        <p:nvSpPr>
          <p:cNvPr id="9" name="Shape 7"/>
          <p:cNvSpPr/>
          <p:nvPr/>
        </p:nvSpPr>
        <p:spPr>
          <a:xfrm>
            <a:off x="941832" y="1554480"/>
            <a:ext cx="1188720" cy="566928"/>
          </a:xfrm>
          <a:prstGeom prst="rect">
            <a:avLst/>
          </a:prstGeom>
          <a:solidFill>
            <a:srgbClr val="1565C0"/>
          </a:solidFill>
          <a:ln w="3810">
            <a:solidFill>
              <a:srgbClr val="BDBDBD"/>
            </a:solidFill>
            <a:prstDash val="solid"/>
          </a:ln>
        </p:spPr>
      </p:sp>
      <p:sp>
        <p:nvSpPr>
          <p:cNvPr id="10" name="Text 8"/>
          <p:cNvSpPr/>
          <p:nvPr/>
        </p:nvSpPr>
        <p:spPr>
          <a:xfrm>
            <a:off x="941832" y="1554480"/>
            <a:ext cx="1188720" cy="56692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Traffic Class</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(8b)</a:t>
            </a:r>
            <a:endParaRPr lang="en-US" sz="800" dirty="0"/>
          </a:p>
        </p:txBody>
      </p:sp>
      <p:sp>
        <p:nvSpPr>
          <p:cNvPr id="11" name="Shape 9"/>
          <p:cNvSpPr/>
          <p:nvPr/>
        </p:nvSpPr>
        <p:spPr>
          <a:xfrm>
            <a:off x="2130552" y="1554480"/>
            <a:ext cx="1828800" cy="566928"/>
          </a:xfrm>
          <a:prstGeom prst="rect">
            <a:avLst/>
          </a:prstGeom>
          <a:solidFill>
            <a:srgbClr val="1976D2"/>
          </a:solidFill>
          <a:ln w="3810">
            <a:solidFill>
              <a:srgbClr val="BDBDBD"/>
            </a:solidFill>
            <a:prstDash val="solid"/>
          </a:ln>
        </p:spPr>
      </p:sp>
      <p:sp>
        <p:nvSpPr>
          <p:cNvPr id="12" name="Text 10"/>
          <p:cNvSpPr/>
          <p:nvPr/>
        </p:nvSpPr>
        <p:spPr>
          <a:xfrm>
            <a:off x="2130552" y="1554480"/>
            <a:ext cx="1828800" cy="56692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Flow Label</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(20b)</a:t>
            </a:r>
            <a:endParaRPr lang="en-US" sz="800" dirty="0"/>
          </a:p>
        </p:txBody>
      </p:sp>
      <p:sp>
        <p:nvSpPr>
          <p:cNvPr id="13" name="Shape 11"/>
          <p:cNvSpPr/>
          <p:nvPr/>
        </p:nvSpPr>
        <p:spPr>
          <a:xfrm>
            <a:off x="3959352" y="1554480"/>
            <a:ext cx="1463040" cy="566928"/>
          </a:xfrm>
          <a:prstGeom prst="rect">
            <a:avLst/>
          </a:prstGeom>
          <a:solidFill>
            <a:srgbClr val="BBDEFB"/>
          </a:solidFill>
          <a:ln w="3810">
            <a:solidFill>
              <a:srgbClr val="BDBDBD"/>
            </a:solidFill>
            <a:prstDash val="solid"/>
          </a:ln>
        </p:spPr>
      </p:sp>
      <p:sp>
        <p:nvSpPr>
          <p:cNvPr id="14" name="Text 12"/>
          <p:cNvSpPr/>
          <p:nvPr/>
        </p:nvSpPr>
        <p:spPr>
          <a:xfrm>
            <a:off x="3959352" y="1554480"/>
            <a:ext cx="1463040" cy="566928"/>
          </a:xfrm>
          <a:prstGeom prst="rect">
            <a:avLst/>
          </a:prstGeom>
          <a:noFill/>
          <a:ln/>
        </p:spPr>
        <p:txBody>
          <a:bodyPr wrap="square" rtlCol="0" anchor="ctr"/>
          <a:lstStyle/>
          <a:p>
            <a:pPr marL="0" indent="0" algn="ctr">
              <a:buNone/>
            </a:pPr>
            <a:r>
              <a:rPr lang="en-US" sz="800" dirty="0">
                <a:solidFill>
                  <a:srgbClr val="212121"/>
                </a:solidFill>
                <a:latin typeface="Calibri" pitchFamily="34" charset="0"/>
                <a:ea typeface="Calibri" pitchFamily="34" charset="-122"/>
                <a:cs typeface="Calibri" pitchFamily="34" charset="-120"/>
              </a:rPr>
              <a:t>Payload Length</a:t>
            </a:r>
            <a:endParaRPr lang="en-US" sz="800" dirty="0"/>
          </a:p>
          <a:p>
            <a:pPr marL="0" indent="0" algn="ctr">
              <a:buNone/>
            </a:pPr>
            <a:r>
              <a:rPr lang="en-US" sz="800" dirty="0">
                <a:solidFill>
                  <a:srgbClr val="212121"/>
                </a:solidFill>
                <a:latin typeface="Calibri" pitchFamily="34" charset="0"/>
                <a:ea typeface="Calibri" pitchFamily="34" charset="-122"/>
                <a:cs typeface="Calibri" pitchFamily="34" charset="-120"/>
              </a:rPr>
              <a:t>(16b)</a:t>
            </a:r>
            <a:endParaRPr lang="en-US" sz="800" dirty="0"/>
          </a:p>
        </p:txBody>
      </p:sp>
      <p:sp>
        <p:nvSpPr>
          <p:cNvPr id="15" name="Shape 13"/>
          <p:cNvSpPr/>
          <p:nvPr/>
        </p:nvSpPr>
        <p:spPr>
          <a:xfrm>
            <a:off x="5422392" y="1554480"/>
            <a:ext cx="1188720" cy="566928"/>
          </a:xfrm>
          <a:prstGeom prst="rect">
            <a:avLst/>
          </a:prstGeom>
          <a:solidFill>
            <a:srgbClr val="BBDEFB"/>
          </a:solidFill>
          <a:ln w="3810">
            <a:solidFill>
              <a:srgbClr val="BDBDBD"/>
            </a:solidFill>
            <a:prstDash val="solid"/>
          </a:ln>
        </p:spPr>
      </p:sp>
      <p:sp>
        <p:nvSpPr>
          <p:cNvPr id="16" name="Text 14"/>
          <p:cNvSpPr/>
          <p:nvPr/>
        </p:nvSpPr>
        <p:spPr>
          <a:xfrm>
            <a:off x="5422392" y="1554480"/>
            <a:ext cx="1188720" cy="566928"/>
          </a:xfrm>
          <a:prstGeom prst="rect">
            <a:avLst/>
          </a:prstGeom>
          <a:noFill/>
          <a:ln/>
        </p:spPr>
        <p:txBody>
          <a:bodyPr wrap="square" rtlCol="0" anchor="ctr"/>
          <a:lstStyle/>
          <a:p>
            <a:pPr marL="0" indent="0" algn="ctr">
              <a:buNone/>
            </a:pPr>
            <a:r>
              <a:rPr lang="en-US" sz="800" dirty="0">
                <a:solidFill>
                  <a:srgbClr val="212121"/>
                </a:solidFill>
                <a:latin typeface="Calibri" pitchFamily="34" charset="0"/>
                <a:ea typeface="Calibri" pitchFamily="34" charset="-122"/>
                <a:cs typeface="Calibri" pitchFamily="34" charset="-120"/>
              </a:rPr>
              <a:t>Next Header</a:t>
            </a:r>
            <a:endParaRPr lang="en-US" sz="800" dirty="0"/>
          </a:p>
          <a:p>
            <a:pPr marL="0" indent="0" algn="ctr">
              <a:buNone/>
            </a:pPr>
            <a:r>
              <a:rPr lang="en-US" sz="800" dirty="0">
                <a:solidFill>
                  <a:srgbClr val="212121"/>
                </a:solidFill>
                <a:latin typeface="Calibri" pitchFamily="34" charset="0"/>
                <a:ea typeface="Calibri" pitchFamily="34" charset="-122"/>
                <a:cs typeface="Calibri" pitchFamily="34" charset="-120"/>
              </a:rPr>
              <a:t>(8b)</a:t>
            </a:r>
            <a:endParaRPr lang="en-US" sz="800" dirty="0"/>
          </a:p>
        </p:txBody>
      </p:sp>
      <p:sp>
        <p:nvSpPr>
          <p:cNvPr id="17" name="Shape 15"/>
          <p:cNvSpPr/>
          <p:nvPr/>
        </p:nvSpPr>
        <p:spPr>
          <a:xfrm>
            <a:off x="6611112" y="1554480"/>
            <a:ext cx="914400" cy="566928"/>
          </a:xfrm>
          <a:prstGeom prst="rect">
            <a:avLst/>
          </a:prstGeom>
          <a:solidFill>
            <a:srgbClr val="BBDEFB"/>
          </a:solidFill>
          <a:ln w="3810">
            <a:solidFill>
              <a:srgbClr val="BDBDBD"/>
            </a:solidFill>
            <a:prstDash val="solid"/>
          </a:ln>
        </p:spPr>
      </p:sp>
      <p:sp>
        <p:nvSpPr>
          <p:cNvPr id="18" name="Text 16"/>
          <p:cNvSpPr/>
          <p:nvPr/>
        </p:nvSpPr>
        <p:spPr>
          <a:xfrm>
            <a:off x="6611112" y="1554480"/>
            <a:ext cx="914400" cy="566928"/>
          </a:xfrm>
          <a:prstGeom prst="rect">
            <a:avLst/>
          </a:prstGeom>
          <a:noFill/>
          <a:ln/>
        </p:spPr>
        <p:txBody>
          <a:bodyPr wrap="square" rtlCol="0" anchor="ctr"/>
          <a:lstStyle/>
          <a:p>
            <a:pPr marL="0" indent="0" algn="ctr">
              <a:buNone/>
            </a:pPr>
            <a:r>
              <a:rPr lang="en-US" sz="800" dirty="0">
                <a:solidFill>
                  <a:srgbClr val="212121"/>
                </a:solidFill>
                <a:latin typeface="Calibri" pitchFamily="34" charset="0"/>
                <a:ea typeface="Calibri" pitchFamily="34" charset="-122"/>
                <a:cs typeface="Calibri" pitchFamily="34" charset="-120"/>
              </a:rPr>
              <a:t>Hop Limit</a:t>
            </a:r>
            <a:endParaRPr lang="en-US" sz="800" dirty="0"/>
          </a:p>
          <a:p>
            <a:pPr marL="0" indent="0" algn="ctr">
              <a:buNone/>
            </a:pPr>
            <a:r>
              <a:rPr lang="en-US" sz="800" dirty="0">
                <a:solidFill>
                  <a:srgbClr val="212121"/>
                </a:solidFill>
                <a:latin typeface="Calibri" pitchFamily="34" charset="0"/>
                <a:ea typeface="Calibri" pitchFamily="34" charset="-122"/>
                <a:cs typeface="Calibri" pitchFamily="34" charset="-120"/>
              </a:rPr>
              <a:t>(8b)</a:t>
            </a:r>
            <a:endParaRPr lang="en-US" sz="800" dirty="0"/>
          </a:p>
        </p:txBody>
      </p:sp>
      <p:sp>
        <p:nvSpPr>
          <p:cNvPr id="19" name="Shape 17"/>
          <p:cNvSpPr/>
          <p:nvPr/>
        </p:nvSpPr>
        <p:spPr>
          <a:xfrm>
            <a:off x="7525512" y="1554480"/>
            <a:ext cx="2048256" cy="566928"/>
          </a:xfrm>
          <a:prstGeom prst="rect">
            <a:avLst/>
          </a:prstGeom>
          <a:solidFill>
            <a:srgbClr val="E0E0E0"/>
          </a:solidFill>
          <a:ln w="3810">
            <a:solidFill>
              <a:srgbClr val="BDBDBD"/>
            </a:solidFill>
            <a:prstDash val="solid"/>
          </a:ln>
        </p:spPr>
      </p:sp>
      <p:sp>
        <p:nvSpPr>
          <p:cNvPr id="20" name="Text 18"/>
          <p:cNvSpPr/>
          <p:nvPr/>
        </p:nvSpPr>
        <p:spPr>
          <a:xfrm>
            <a:off x="7525512" y="1554480"/>
            <a:ext cx="2048256" cy="566928"/>
          </a:xfrm>
          <a:prstGeom prst="rect">
            <a:avLst/>
          </a:prstGeom>
          <a:noFill/>
          <a:ln/>
        </p:spPr>
        <p:txBody>
          <a:bodyPr wrap="square" rtlCol="0" anchor="ctr"/>
          <a:lstStyle/>
          <a:p>
            <a:pPr marL="0" indent="0" algn="ctr">
              <a:buNone/>
            </a:pPr>
            <a:r>
              <a:rPr lang="en-US" sz="800" dirty="0">
                <a:solidFill>
                  <a:srgbClr val="212121"/>
                </a:solidFill>
                <a:latin typeface="Calibri" pitchFamily="34" charset="0"/>
                <a:ea typeface="Calibri" pitchFamily="34" charset="-122"/>
                <a:cs typeface="Calibri" pitchFamily="34" charset="-120"/>
              </a:rPr>
              <a:t>...</a:t>
            </a:r>
            <a:endParaRPr lang="en-US" sz="800" dirty="0"/>
          </a:p>
        </p:txBody>
      </p:sp>
      <p:sp>
        <p:nvSpPr>
          <p:cNvPr id="21" name="Shape 19"/>
          <p:cNvSpPr/>
          <p:nvPr/>
        </p:nvSpPr>
        <p:spPr>
          <a:xfrm>
            <a:off x="256032" y="2240280"/>
            <a:ext cx="8631936" cy="1170432"/>
          </a:xfrm>
          <a:prstGeom prst="rect">
            <a:avLst/>
          </a:prstGeom>
          <a:solidFill>
            <a:srgbClr val="E3F2FD"/>
          </a:solidFill>
          <a:ln w="15240">
            <a:solidFill>
              <a:srgbClr val="1565C0"/>
            </a:solidFill>
            <a:prstDash val="solid"/>
          </a:ln>
          <a:effectLst>
            <a:outerShdw blurRad="63500" dist="25400" dir="8100000" algn="bl" rotWithShape="0">
              <a:srgbClr val="000000">
                <a:alpha val="10000"/>
              </a:srgbClr>
            </a:outerShdw>
          </a:effectLst>
        </p:spPr>
      </p:sp>
      <p:sp>
        <p:nvSpPr>
          <p:cNvPr id="22" name="Shape 20"/>
          <p:cNvSpPr/>
          <p:nvPr/>
        </p:nvSpPr>
        <p:spPr>
          <a:xfrm>
            <a:off x="256032" y="2240280"/>
            <a:ext cx="73152" cy="1170432"/>
          </a:xfrm>
          <a:prstGeom prst="rect">
            <a:avLst/>
          </a:prstGeom>
          <a:solidFill>
            <a:srgbClr val="1565C0"/>
          </a:solidFill>
          <a:ln/>
        </p:spPr>
      </p:sp>
      <p:sp>
        <p:nvSpPr>
          <p:cNvPr id="23" name="Text 21"/>
          <p:cNvSpPr/>
          <p:nvPr/>
        </p:nvSpPr>
        <p:spPr>
          <a:xfrm>
            <a:off x="411480" y="2295144"/>
            <a:ext cx="3200400" cy="292608"/>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Traffic Class (8 bits)</a:t>
            </a:r>
            <a:endParaRPr lang="en-US" sz="1300" dirty="0"/>
          </a:p>
        </p:txBody>
      </p:sp>
      <p:sp>
        <p:nvSpPr>
          <p:cNvPr id="24" name="Text 22"/>
          <p:cNvSpPr/>
          <p:nvPr/>
        </p:nvSpPr>
        <p:spPr>
          <a:xfrm>
            <a:off x="411480" y="2587752"/>
            <a:ext cx="8229600" cy="25603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Equivalent du champ DSCP/TOS d IPv4.</a:t>
            </a:r>
            <a:endParaRPr lang="en-US" sz="1100" dirty="0"/>
          </a:p>
        </p:txBody>
      </p:sp>
      <p:sp>
        <p:nvSpPr>
          <p:cNvPr id="25" name="Text 23"/>
          <p:cNvSpPr/>
          <p:nvPr/>
        </p:nvSpPr>
        <p:spPr>
          <a:xfrm>
            <a:off x="411480" y="2843784"/>
            <a:ext cx="8229600" cy="512064"/>
          </a:xfrm>
          <a:prstGeom prst="rect">
            <a:avLst/>
          </a:prstGeom>
          <a:noFill/>
          <a:ln/>
        </p:spPr>
        <p:txBody>
          <a:bodyPr wrap="square" rtlCol="0" anchor="ctr"/>
          <a:lstStyle/>
          <a:p>
            <a:pPr marL="0" indent="0">
              <a:buNone/>
            </a:pPr>
            <a:r>
              <a:rPr lang="en-US" sz="1000" dirty="0">
                <a:solidFill>
                  <a:srgbClr val="424242"/>
                </a:solidFill>
                <a:latin typeface="Calibri" pitchFamily="34" charset="0"/>
                <a:ea typeface="Calibri" pitchFamily="34" charset="-122"/>
                <a:cs typeface="Calibri" pitchFamily="34" charset="-120"/>
              </a:rPr>
              <a:t>Les 6 premiers bits = DSCP (identique a IPv4 DiffServ).</a:t>
            </a:r>
            <a:endParaRPr lang="en-US" sz="1000" dirty="0"/>
          </a:p>
          <a:p>
            <a:pPr marL="0" indent="0">
              <a:buNone/>
            </a:pPr>
            <a:r>
              <a:rPr lang="en-US" sz="1000" dirty="0">
                <a:solidFill>
                  <a:srgbClr val="424242"/>
                </a:solidFill>
                <a:latin typeface="Calibri" pitchFamily="34" charset="0"/>
                <a:ea typeface="Calibri" pitchFamily="34" charset="-122"/>
                <a:cs typeface="Calibri" pitchFamily="34" charset="-120"/>
              </a:rPr>
              <a:t>Les 2 derniers = ECN (Explicit Congestion Notification).</a:t>
            </a:r>
            <a:endParaRPr lang="en-US" sz="1000" dirty="0"/>
          </a:p>
          <a:p>
            <a:pPr marL="0" indent="0">
              <a:buNone/>
            </a:pPr>
            <a:r>
              <a:rPr lang="en-US" sz="1000" dirty="0">
                <a:solidFill>
                  <a:srgbClr val="424242"/>
                </a:solidFill>
                <a:latin typeface="Calibri" pitchFamily="34" charset="0"/>
                <a:ea typeface="Calibri" pitchFamily="34" charset="-122"/>
                <a:cs typeface="Calibri" pitchFamily="34" charset="-120"/>
              </a:rPr>
              <a:t>Fonctionne exactement comme DiffServ : meme valeurs DSCP, meme PHB.</a:t>
            </a:r>
            <a:endParaRPr lang="en-US" sz="1000" dirty="0"/>
          </a:p>
        </p:txBody>
      </p:sp>
      <p:sp>
        <p:nvSpPr>
          <p:cNvPr id="26" name="Shape 24"/>
          <p:cNvSpPr/>
          <p:nvPr/>
        </p:nvSpPr>
        <p:spPr>
          <a:xfrm>
            <a:off x="256032" y="3520440"/>
            <a:ext cx="8631936" cy="1170432"/>
          </a:xfrm>
          <a:prstGeom prst="rect">
            <a:avLst/>
          </a:prstGeom>
          <a:solidFill>
            <a:srgbClr val="E3F2FD"/>
          </a:solidFill>
          <a:ln w="15240">
            <a:solidFill>
              <a:srgbClr val="1976D2"/>
            </a:solidFill>
            <a:prstDash val="solid"/>
          </a:ln>
          <a:effectLst>
            <a:outerShdw blurRad="63500" dist="25400" dir="8100000" algn="bl" rotWithShape="0">
              <a:srgbClr val="000000">
                <a:alpha val="10000"/>
              </a:srgbClr>
            </a:outerShdw>
          </a:effectLst>
        </p:spPr>
      </p:sp>
      <p:sp>
        <p:nvSpPr>
          <p:cNvPr id="27" name="Shape 25"/>
          <p:cNvSpPr/>
          <p:nvPr/>
        </p:nvSpPr>
        <p:spPr>
          <a:xfrm>
            <a:off x="256032" y="3520440"/>
            <a:ext cx="73152" cy="1170432"/>
          </a:xfrm>
          <a:prstGeom prst="rect">
            <a:avLst/>
          </a:prstGeom>
          <a:solidFill>
            <a:srgbClr val="1976D2"/>
          </a:solidFill>
          <a:ln/>
        </p:spPr>
      </p:sp>
      <p:sp>
        <p:nvSpPr>
          <p:cNvPr id="28" name="Text 26"/>
          <p:cNvSpPr/>
          <p:nvPr/>
        </p:nvSpPr>
        <p:spPr>
          <a:xfrm>
            <a:off x="411480" y="3575304"/>
            <a:ext cx="3200400" cy="292608"/>
          </a:xfrm>
          <a:prstGeom prst="rect">
            <a:avLst/>
          </a:prstGeom>
          <a:noFill/>
          <a:ln/>
        </p:spPr>
        <p:txBody>
          <a:bodyPr wrap="square" rtlCol="0" anchor="ctr"/>
          <a:lstStyle/>
          <a:p>
            <a:pPr marL="0" indent="0">
              <a:buNone/>
            </a:pPr>
            <a:r>
              <a:rPr lang="en-US" sz="1300" b="1" dirty="0">
                <a:solidFill>
                  <a:srgbClr val="1976D2"/>
                </a:solidFill>
                <a:latin typeface="Calibri" pitchFamily="34" charset="0"/>
                <a:ea typeface="Calibri" pitchFamily="34" charset="-122"/>
                <a:cs typeface="Calibri" pitchFamily="34" charset="-120"/>
              </a:rPr>
              <a:t>Flow Label (20 bits)</a:t>
            </a:r>
            <a:endParaRPr lang="en-US" sz="1300" dirty="0"/>
          </a:p>
        </p:txBody>
      </p:sp>
      <p:sp>
        <p:nvSpPr>
          <p:cNvPr id="29" name="Text 27"/>
          <p:cNvSpPr/>
          <p:nvPr/>
        </p:nvSpPr>
        <p:spPr>
          <a:xfrm>
            <a:off x="411480" y="3867912"/>
            <a:ext cx="8229600" cy="256032"/>
          </a:xfrm>
          <a:prstGeom prst="rect">
            <a:avLst/>
          </a:prstGeom>
          <a:noFill/>
          <a:ln/>
        </p:spPr>
        <p:txBody>
          <a:bodyPr wrap="square" rtlCol="0" anchor="ctr"/>
          <a:lstStyle/>
          <a:p>
            <a:pPr marL="0" indent="0">
              <a:buNone/>
            </a:pPr>
            <a:r>
              <a:rPr lang="en-US" sz="1100" b="1" dirty="0">
                <a:solidFill>
                  <a:srgbClr val="212121"/>
                </a:solidFill>
                <a:latin typeface="Calibri" pitchFamily="34" charset="0"/>
                <a:ea typeface="Calibri" pitchFamily="34" charset="-122"/>
                <a:cs typeface="Calibri" pitchFamily="34" charset="-120"/>
              </a:rPr>
              <a:t>Nouveau dans IPv6 — identifiant unique du flux.</a:t>
            </a:r>
            <a:endParaRPr lang="en-US" sz="1100" dirty="0"/>
          </a:p>
        </p:txBody>
      </p:sp>
      <p:sp>
        <p:nvSpPr>
          <p:cNvPr id="30" name="Text 28"/>
          <p:cNvSpPr/>
          <p:nvPr/>
        </p:nvSpPr>
        <p:spPr>
          <a:xfrm>
            <a:off x="411480" y="4123944"/>
            <a:ext cx="8229600" cy="512064"/>
          </a:xfrm>
          <a:prstGeom prst="rect">
            <a:avLst/>
          </a:prstGeom>
          <a:noFill/>
          <a:ln/>
        </p:spPr>
        <p:txBody>
          <a:bodyPr wrap="square" rtlCol="0" anchor="ctr"/>
          <a:lstStyle/>
          <a:p>
            <a:pPr marL="0" indent="0">
              <a:buNone/>
            </a:pPr>
            <a:r>
              <a:rPr lang="en-US" sz="1000" dirty="0">
                <a:solidFill>
                  <a:srgbClr val="424242"/>
                </a:solidFill>
                <a:latin typeface="Calibri" pitchFamily="34" charset="0"/>
                <a:ea typeface="Calibri" pitchFamily="34" charset="-122"/>
                <a:cs typeface="Calibri" pitchFamily="34" charset="-120"/>
              </a:rPr>
              <a:t>Permet au routeur d identifier un flux SANS examiner les couches superieures.</a:t>
            </a:r>
            <a:endParaRPr lang="en-US" sz="1000" dirty="0"/>
          </a:p>
          <a:p>
            <a:pPr marL="0" indent="0">
              <a:buNone/>
            </a:pPr>
            <a:r>
              <a:rPr lang="en-US" sz="1000" dirty="0">
                <a:solidFill>
                  <a:srgbClr val="424242"/>
                </a:solidFill>
                <a:latin typeface="Calibri" pitchFamily="34" charset="0"/>
                <a:ea typeface="Calibri" pitchFamily="34" charset="-122"/>
                <a:cs typeface="Calibri" pitchFamily="34" charset="-120"/>
              </a:rPr>
              <a:t>Valeur 0 = pas de QoS specifique.</a:t>
            </a:r>
            <a:endParaRPr lang="en-US" sz="1000" dirty="0"/>
          </a:p>
          <a:p>
            <a:pPr marL="0" indent="0">
              <a:buNone/>
            </a:pPr>
            <a:r>
              <a:rPr lang="en-US" sz="1000" dirty="0">
                <a:solidFill>
                  <a:srgbClr val="424242"/>
                </a:solidFill>
                <a:latin typeface="Calibri" pitchFamily="34" charset="0"/>
                <a:ea typeface="Calibri" pitchFamily="34" charset="-122"/>
                <a:cs typeface="Calibri" pitchFamily="34" charset="-120"/>
              </a:rPr>
              <a:t>Le routeur peut utiliser ce label pour maintenir l ordre des paquets d un flux</a:t>
            </a:r>
            <a:endParaRPr lang="en-US" sz="1000" dirty="0"/>
          </a:p>
          <a:p>
            <a:pPr marL="0" indent="0">
              <a:buNone/>
            </a:pPr>
            <a:r>
              <a:rPr lang="en-US" sz="1000" dirty="0">
                <a:solidFill>
                  <a:srgbClr val="424242"/>
                </a:solidFill>
                <a:latin typeface="Calibri" pitchFamily="34" charset="0"/>
                <a:ea typeface="Calibri" pitchFamily="34" charset="-122"/>
                <a:cs typeface="Calibri" pitchFamily="34" charset="-120"/>
              </a:rPr>
              <a:t>et leur appliquer le meme traitement — sans DPI (Deep Packet Inspection).</a:t>
            </a:r>
            <a:endParaRPr lang="en-US" sz="1000" dirty="0"/>
          </a:p>
        </p:txBody>
      </p:sp>
      <p:sp>
        <p:nvSpPr>
          <p:cNvPr id="31" name="Shape 29"/>
          <p:cNvSpPr/>
          <p:nvPr/>
        </p:nvSpPr>
        <p:spPr>
          <a:xfrm>
            <a:off x="256032" y="4800600"/>
            <a:ext cx="8631936" cy="256032"/>
          </a:xfrm>
          <a:prstGeom prst="rect">
            <a:avLst/>
          </a:prstGeom>
          <a:solidFill>
            <a:srgbClr val="0D1B2A"/>
          </a:solidFill>
          <a:ln/>
        </p:spPr>
      </p:sp>
      <p:sp>
        <p:nvSpPr>
          <p:cNvPr id="32" name="Text 30"/>
          <p:cNvSpPr/>
          <p:nvPr/>
        </p:nvSpPr>
        <p:spPr>
          <a:xfrm>
            <a:off x="365760" y="4800600"/>
            <a:ext cx="841248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Avantage IPv6 : le Flow Label permet une QoS par flux SANS ouvrir les paquets (chiffres ou non). Ideal avec TLS et QUIC.</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796B"/>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QoS pour la VoIP — De A a Z : tout ce qu il faut savoir</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La VoIP est l application la PLUS exigeante en QoS. Comprendre ses besoins = comprendre la QoS.</a:t>
            </a:r>
            <a:endParaRPr lang="en-US" sz="1100" dirty="0"/>
          </a:p>
        </p:txBody>
      </p:sp>
      <p:sp>
        <p:nvSpPr>
          <p:cNvPr id="6" name="Text 4"/>
          <p:cNvSpPr/>
          <p:nvPr/>
        </p:nvSpPr>
        <p:spPr>
          <a:xfrm>
            <a:off x="256032" y="1170432"/>
            <a:ext cx="5029200" cy="32004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La chaine complete d un appel VoIP :</a:t>
            </a:r>
            <a:endParaRPr lang="en-US" sz="1250" dirty="0"/>
          </a:p>
        </p:txBody>
      </p:sp>
      <p:sp>
        <p:nvSpPr>
          <p:cNvPr id="7" name="Shape 5"/>
          <p:cNvSpPr/>
          <p:nvPr/>
        </p:nvSpPr>
        <p:spPr>
          <a:xfrm>
            <a:off x="256032" y="1554480"/>
            <a:ext cx="1325880" cy="1005840"/>
          </a:xfrm>
          <a:prstGeom prst="rect">
            <a:avLst/>
          </a:prstGeom>
          <a:solidFill>
            <a:srgbClr val="0D1B2A"/>
          </a:solidFill>
          <a:ln/>
          <a:effectLst>
            <a:outerShdw blurRad="63500" dist="25400" dir="8100000" algn="bl" rotWithShape="0">
              <a:srgbClr val="000000">
                <a:alpha val="10000"/>
              </a:srgbClr>
            </a:outerShdw>
          </a:effectLst>
        </p:spPr>
      </p:sp>
      <p:sp>
        <p:nvSpPr>
          <p:cNvPr id="8" name="Text 6"/>
          <p:cNvSpPr/>
          <p:nvPr/>
        </p:nvSpPr>
        <p:spPr>
          <a:xfrm>
            <a:off x="256032" y="1572768"/>
            <a:ext cx="13258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Micro</a:t>
            </a:r>
            <a:endParaRPr lang="en-US" sz="1100" dirty="0"/>
          </a:p>
        </p:txBody>
      </p:sp>
      <p:sp>
        <p:nvSpPr>
          <p:cNvPr id="9" name="Text 7"/>
          <p:cNvSpPr/>
          <p:nvPr/>
        </p:nvSpPr>
        <p:spPr>
          <a:xfrm>
            <a:off x="256032" y="1993392"/>
            <a:ext cx="1325880" cy="530352"/>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Capture voix</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8 kHz / 16 kHz</a:t>
            </a:r>
            <a:endParaRPr lang="en-US" sz="850" dirty="0"/>
          </a:p>
        </p:txBody>
      </p:sp>
      <p:sp>
        <p:nvSpPr>
          <p:cNvPr id="10" name="Shape 8"/>
          <p:cNvSpPr/>
          <p:nvPr/>
        </p:nvSpPr>
        <p:spPr>
          <a:xfrm>
            <a:off x="1600200" y="2011680"/>
            <a:ext cx="137160" cy="91440"/>
          </a:xfrm>
          <a:prstGeom prst="rect">
            <a:avLst/>
          </a:prstGeom>
          <a:solidFill>
            <a:srgbClr val="757575"/>
          </a:solidFill>
          <a:ln/>
        </p:spPr>
      </p:sp>
      <p:sp>
        <p:nvSpPr>
          <p:cNvPr id="11" name="Shape 9"/>
          <p:cNvSpPr/>
          <p:nvPr/>
        </p:nvSpPr>
        <p:spPr>
          <a:xfrm>
            <a:off x="1737360" y="1554480"/>
            <a:ext cx="1325880" cy="1005840"/>
          </a:xfrm>
          <a:prstGeom prst="rect">
            <a:avLst/>
          </a:prstGeom>
          <a:solidFill>
            <a:srgbClr val="1565C0"/>
          </a:solidFill>
          <a:ln/>
          <a:effectLst>
            <a:outerShdw blurRad="63500" dist="25400" dir="8100000" algn="bl" rotWithShape="0">
              <a:srgbClr val="000000">
                <a:alpha val="10000"/>
              </a:srgbClr>
            </a:outerShdw>
          </a:effectLst>
        </p:spPr>
      </p:sp>
      <p:sp>
        <p:nvSpPr>
          <p:cNvPr id="12" name="Text 10"/>
          <p:cNvSpPr/>
          <p:nvPr/>
        </p:nvSpPr>
        <p:spPr>
          <a:xfrm>
            <a:off x="1737360" y="1572768"/>
            <a:ext cx="13258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Codec</a:t>
            </a:r>
            <a:endParaRPr lang="en-US" sz="1100" dirty="0"/>
          </a:p>
        </p:txBody>
      </p:sp>
      <p:sp>
        <p:nvSpPr>
          <p:cNvPr id="13" name="Text 11"/>
          <p:cNvSpPr/>
          <p:nvPr/>
        </p:nvSpPr>
        <p:spPr>
          <a:xfrm>
            <a:off x="1737360" y="1993392"/>
            <a:ext cx="1325880" cy="530352"/>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G.711 64kb/s</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G.729 8kb/s</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Opus 6-510kb/s</a:t>
            </a:r>
            <a:endParaRPr lang="en-US" sz="850" dirty="0"/>
          </a:p>
        </p:txBody>
      </p:sp>
      <p:sp>
        <p:nvSpPr>
          <p:cNvPr id="14" name="Shape 12"/>
          <p:cNvSpPr/>
          <p:nvPr/>
        </p:nvSpPr>
        <p:spPr>
          <a:xfrm>
            <a:off x="3081528" y="2011680"/>
            <a:ext cx="137160" cy="91440"/>
          </a:xfrm>
          <a:prstGeom prst="rect">
            <a:avLst/>
          </a:prstGeom>
          <a:solidFill>
            <a:srgbClr val="757575"/>
          </a:solidFill>
          <a:ln/>
        </p:spPr>
      </p:sp>
      <p:sp>
        <p:nvSpPr>
          <p:cNvPr id="15" name="Shape 13"/>
          <p:cNvSpPr/>
          <p:nvPr/>
        </p:nvSpPr>
        <p:spPr>
          <a:xfrm>
            <a:off x="3218688" y="1554480"/>
            <a:ext cx="1325880" cy="1005840"/>
          </a:xfrm>
          <a:prstGeom prst="rect">
            <a:avLst/>
          </a:prstGeom>
          <a:solidFill>
            <a:srgbClr val="00796B"/>
          </a:solidFill>
          <a:ln/>
          <a:effectLst>
            <a:outerShdw blurRad="63500" dist="25400" dir="8100000" algn="bl" rotWithShape="0">
              <a:srgbClr val="000000">
                <a:alpha val="10000"/>
              </a:srgbClr>
            </a:outerShdw>
          </a:effectLst>
        </p:spPr>
      </p:sp>
      <p:sp>
        <p:nvSpPr>
          <p:cNvPr id="16" name="Text 14"/>
          <p:cNvSpPr/>
          <p:nvPr/>
        </p:nvSpPr>
        <p:spPr>
          <a:xfrm>
            <a:off x="3218688" y="1572768"/>
            <a:ext cx="13258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RTP/UDP</a:t>
            </a:r>
            <a:endParaRPr lang="en-US" sz="1100" dirty="0"/>
          </a:p>
        </p:txBody>
      </p:sp>
      <p:sp>
        <p:nvSpPr>
          <p:cNvPr id="17" name="Text 15"/>
          <p:cNvSpPr/>
          <p:nvPr/>
        </p:nvSpPr>
        <p:spPr>
          <a:xfrm>
            <a:off x="3218688" y="1993392"/>
            <a:ext cx="1325880" cy="530352"/>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Paquets 20ms</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DSCP=46 (EF)</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Num. sequence</a:t>
            </a:r>
            <a:endParaRPr lang="en-US" sz="850" dirty="0"/>
          </a:p>
        </p:txBody>
      </p:sp>
      <p:sp>
        <p:nvSpPr>
          <p:cNvPr id="18" name="Shape 16"/>
          <p:cNvSpPr/>
          <p:nvPr/>
        </p:nvSpPr>
        <p:spPr>
          <a:xfrm>
            <a:off x="4562856" y="2011680"/>
            <a:ext cx="137160" cy="91440"/>
          </a:xfrm>
          <a:prstGeom prst="rect">
            <a:avLst/>
          </a:prstGeom>
          <a:solidFill>
            <a:srgbClr val="757575"/>
          </a:solidFill>
          <a:ln/>
        </p:spPr>
      </p:sp>
      <p:sp>
        <p:nvSpPr>
          <p:cNvPr id="19" name="Shape 17"/>
          <p:cNvSpPr/>
          <p:nvPr/>
        </p:nvSpPr>
        <p:spPr>
          <a:xfrm>
            <a:off x="4700016" y="1554480"/>
            <a:ext cx="1325880" cy="1005840"/>
          </a:xfrm>
          <a:prstGeom prst="rect">
            <a:avLst/>
          </a:prstGeom>
          <a:solidFill>
            <a:srgbClr val="2E7D32"/>
          </a:solidFill>
          <a:ln/>
          <a:effectLst>
            <a:outerShdw blurRad="63500" dist="25400" dir="8100000" algn="bl" rotWithShape="0">
              <a:srgbClr val="000000">
                <a:alpha val="10000"/>
              </a:srgbClr>
            </a:outerShdw>
          </a:effectLst>
        </p:spPr>
      </p:sp>
      <p:sp>
        <p:nvSpPr>
          <p:cNvPr id="20" name="Text 18"/>
          <p:cNvSpPr/>
          <p:nvPr/>
        </p:nvSpPr>
        <p:spPr>
          <a:xfrm>
            <a:off x="4700016" y="1572768"/>
            <a:ext cx="13258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Reseau IP</a:t>
            </a:r>
            <a:endParaRPr lang="en-US" sz="1100" dirty="0"/>
          </a:p>
        </p:txBody>
      </p:sp>
      <p:sp>
        <p:nvSpPr>
          <p:cNvPr id="21" name="Text 19"/>
          <p:cNvSpPr/>
          <p:nvPr/>
        </p:nvSpPr>
        <p:spPr>
          <a:xfrm>
            <a:off x="4700016" y="1993392"/>
            <a:ext cx="1325880" cy="530352"/>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MPLS/DiffServ</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File EF</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Priorite max</a:t>
            </a:r>
            <a:endParaRPr lang="en-US" sz="850" dirty="0"/>
          </a:p>
        </p:txBody>
      </p:sp>
      <p:sp>
        <p:nvSpPr>
          <p:cNvPr id="22" name="Shape 20"/>
          <p:cNvSpPr/>
          <p:nvPr/>
        </p:nvSpPr>
        <p:spPr>
          <a:xfrm>
            <a:off x="6044184" y="2011680"/>
            <a:ext cx="137160" cy="91440"/>
          </a:xfrm>
          <a:prstGeom prst="rect">
            <a:avLst/>
          </a:prstGeom>
          <a:solidFill>
            <a:srgbClr val="757575"/>
          </a:solidFill>
          <a:ln/>
        </p:spPr>
      </p:sp>
      <p:sp>
        <p:nvSpPr>
          <p:cNvPr id="23" name="Shape 21"/>
          <p:cNvSpPr/>
          <p:nvPr/>
        </p:nvSpPr>
        <p:spPr>
          <a:xfrm>
            <a:off x="6181344" y="1554480"/>
            <a:ext cx="1325880" cy="1005840"/>
          </a:xfrm>
          <a:prstGeom prst="rect">
            <a:avLst/>
          </a:prstGeom>
          <a:solidFill>
            <a:srgbClr val="E65100"/>
          </a:solidFill>
          <a:ln/>
          <a:effectLst>
            <a:outerShdw blurRad="63500" dist="25400" dir="8100000" algn="bl" rotWithShape="0">
              <a:srgbClr val="000000">
                <a:alpha val="10000"/>
              </a:srgbClr>
            </a:outerShdw>
          </a:effectLst>
        </p:spPr>
      </p:sp>
      <p:sp>
        <p:nvSpPr>
          <p:cNvPr id="24" name="Text 22"/>
          <p:cNvSpPr/>
          <p:nvPr/>
        </p:nvSpPr>
        <p:spPr>
          <a:xfrm>
            <a:off x="6181344" y="1572768"/>
            <a:ext cx="13258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Jitter</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Buffer</a:t>
            </a:r>
            <a:endParaRPr lang="en-US" sz="1100" dirty="0"/>
          </a:p>
        </p:txBody>
      </p:sp>
      <p:sp>
        <p:nvSpPr>
          <p:cNvPr id="25" name="Text 23"/>
          <p:cNvSpPr/>
          <p:nvPr/>
        </p:nvSpPr>
        <p:spPr>
          <a:xfrm>
            <a:off x="6181344" y="1993392"/>
            <a:ext cx="1325880" cy="530352"/>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20-80ms</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Lisse la gigue</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Adaptatif</a:t>
            </a:r>
            <a:endParaRPr lang="en-US" sz="850" dirty="0"/>
          </a:p>
        </p:txBody>
      </p:sp>
      <p:sp>
        <p:nvSpPr>
          <p:cNvPr id="26" name="Shape 24"/>
          <p:cNvSpPr/>
          <p:nvPr/>
        </p:nvSpPr>
        <p:spPr>
          <a:xfrm>
            <a:off x="7525512" y="2011680"/>
            <a:ext cx="137160" cy="91440"/>
          </a:xfrm>
          <a:prstGeom prst="rect">
            <a:avLst/>
          </a:prstGeom>
          <a:solidFill>
            <a:srgbClr val="757575"/>
          </a:solidFill>
          <a:ln/>
        </p:spPr>
      </p:sp>
      <p:sp>
        <p:nvSpPr>
          <p:cNvPr id="27" name="Shape 25"/>
          <p:cNvSpPr/>
          <p:nvPr/>
        </p:nvSpPr>
        <p:spPr>
          <a:xfrm>
            <a:off x="7662672" y="1554480"/>
            <a:ext cx="1325880" cy="1005840"/>
          </a:xfrm>
          <a:prstGeom prst="rect">
            <a:avLst/>
          </a:prstGeom>
          <a:solidFill>
            <a:srgbClr val="0D1B2A"/>
          </a:solidFill>
          <a:ln/>
          <a:effectLst>
            <a:outerShdw blurRad="63500" dist="25400" dir="8100000" algn="bl" rotWithShape="0">
              <a:srgbClr val="000000">
                <a:alpha val="10000"/>
              </a:srgbClr>
            </a:outerShdw>
          </a:effectLst>
        </p:spPr>
      </p:sp>
      <p:sp>
        <p:nvSpPr>
          <p:cNvPr id="28" name="Text 26"/>
          <p:cNvSpPr/>
          <p:nvPr/>
        </p:nvSpPr>
        <p:spPr>
          <a:xfrm>
            <a:off x="7662672" y="1572768"/>
            <a:ext cx="13258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Haut-parleur</a:t>
            </a:r>
            <a:endParaRPr lang="en-US" sz="1100" dirty="0"/>
          </a:p>
        </p:txBody>
      </p:sp>
      <p:sp>
        <p:nvSpPr>
          <p:cNvPr id="29" name="Text 27"/>
          <p:cNvSpPr/>
          <p:nvPr/>
        </p:nvSpPr>
        <p:spPr>
          <a:xfrm>
            <a:off x="7662672" y="1993392"/>
            <a:ext cx="1325880" cy="530352"/>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Restitution</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voix fluide</a:t>
            </a:r>
            <a:endParaRPr lang="en-US" sz="850" dirty="0"/>
          </a:p>
        </p:txBody>
      </p:sp>
      <p:sp>
        <p:nvSpPr>
          <p:cNvPr id="30" name="Shape 28"/>
          <p:cNvSpPr/>
          <p:nvPr/>
        </p:nvSpPr>
        <p:spPr>
          <a:xfrm>
            <a:off x="256032" y="2697480"/>
            <a:ext cx="4206240" cy="384048"/>
          </a:xfrm>
          <a:prstGeom prst="rect">
            <a:avLst/>
          </a:prstGeom>
          <a:solidFill>
            <a:srgbClr val="00796B"/>
          </a:solidFill>
          <a:ln/>
        </p:spPr>
      </p:sp>
      <p:sp>
        <p:nvSpPr>
          <p:cNvPr id="31" name="Text 29"/>
          <p:cNvSpPr/>
          <p:nvPr/>
        </p:nvSpPr>
        <p:spPr>
          <a:xfrm>
            <a:off x="256032" y="269748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Exigences VoIP (ITU-T G.114)</a:t>
            </a:r>
            <a:endParaRPr lang="en-US" sz="1200" dirty="0"/>
          </a:p>
        </p:txBody>
      </p:sp>
      <p:sp>
        <p:nvSpPr>
          <p:cNvPr id="32" name="Shape 30"/>
          <p:cNvSpPr/>
          <p:nvPr/>
        </p:nvSpPr>
        <p:spPr>
          <a:xfrm>
            <a:off x="365760" y="3182112"/>
            <a:ext cx="109728" cy="109728"/>
          </a:xfrm>
          <a:prstGeom prst="ellipse">
            <a:avLst/>
          </a:prstGeom>
          <a:solidFill>
            <a:srgbClr val="00796B"/>
          </a:solidFill>
          <a:ln/>
        </p:spPr>
      </p:sp>
      <p:sp>
        <p:nvSpPr>
          <p:cNvPr id="33" name="Text 31"/>
          <p:cNvSpPr/>
          <p:nvPr/>
        </p:nvSpPr>
        <p:spPr>
          <a:xfrm>
            <a:off x="530352" y="3118104"/>
            <a:ext cx="3858768"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Delai &lt; 150 ms (aller simple)</a:t>
            </a:r>
            <a:endParaRPr lang="en-US" sz="1000" dirty="0"/>
          </a:p>
        </p:txBody>
      </p:sp>
      <p:sp>
        <p:nvSpPr>
          <p:cNvPr id="34" name="Shape 32"/>
          <p:cNvSpPr/>
          <p:nvPr/>
        </p:nvSpPr>
        <p:spPr>
          <a:xfrm>
            <a:off x="365760" y="3474720"/>
            <a:ext cx="109728" cy="109728"/>
          </a:xfrm>
          <a:prstGeom prst="ellipse">
            <a:avLst/>
          </a:prstGeom>
          <a:solidFill>
            <a:srgbClr val="00796B"/>
          </a:solidFill>
          <a:ln/>
        </p:spPr>
      </p:sp>
      <p:sp>
        <p:nvSpPr>
          <p:cNvPr id="35" name="Text 33"/>
          <p:cNvSpPr/>
          <p:nvPr/>
        </p:nvSpPr>
        <p:spPr>
          <a:xfrm>
            <a:off x="530352" y="3410712"/>
            <a:ext cx="3858768"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Gigue &lt; 30 ms (avec jitter buffer)</a:t>
            </a:r>
            <a:endParaRPr lang="en-US" sz="1000" dirty="0"/>
          </a:p>
        </p:txBody>
      </p:sp>
      <p:sp>
        <p:nvSpPr>
          <p:cNvPr id="36" name="Shape 34"/>
          <p:cNvSpPr/>
          <p:nvPr/>
        </p:nvSpPr>
        <p:spPr>
          <a:xfrm>
            <a:off x="365760" y="3767328"/>
            <a:ext cx="109728" cy="109728"/>
          </a:xfrm>
          <a:prstGeom prst="ellipse">
            <a:avLst/>
          </a:prstGeom>
          <a:solidFill>
            <a:srgbClr val="00796B"/>
          </a:solidFill>
          <a:ln/>
        </p:spPr>
      </p:sp>
      <p:sp>
        <p:nvSpPr>
          <p:cNvPr id="37" name="Text 35"/>
          <p:cNvSpPr/>
          <p:nvPr/>
        </p:nvSpPr>
        <p:spPr>
          <a:xfrm>
            <a:off x="530352" y="3703320"/>
            <a:ext cx="3858768"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Perte &lt; 1% (si &gt; 5% : incomprehensible)</a:t>
            </a:r>
            <a:endParaRPr lang="en-US" sz="1000" dirty="0"/>
          </a:p>
        </p:txBody>
      </p:sp>
      <p:sp>
        <p:nvSpPr>
          <p:cNvPr id="38" name="Shape 36"/>
          <p:cNvSpPr/>
          <p:nvPr/>
        </p:nvSpPr>
        <p:spPr>
          <a:xfrm>
            <a:off x="365760" y="4059936"/>
            <a:ext cx="109728" cy="109728"/>
          </a:xfrm>
          <a:prstGeom prst="ellipse">
            <a:avLst/>
          </a:prstGeom>
          <a:solidFill>
            <a:srgbClr val="00796B"/>
          </a:solidFill>
          <a:ln/>
        </p:spPr>
      </p:sp>
      <p:sp>
        <p:nvSpPr>
          <p:cNvPr id="39" name="Text 37"/>
          <p:cNvSpPr/>
          <p:nvPr/>
        </p:nvSpPr>
        <p:spPr>
          <a:xfrm>
            <a:off x="530352" y="3995928"/>
            <a:ext cx="3858768"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DSCP = 46 (EF) pour les paquets RTP</a:t>
            </a:r>
            <a:endParaRPr lang="en-US" sz="1000" dirty="0"/>
          </a:p>
        </p:txBody>
      </p:sp>
      <p:sp>
        <p:nvSpPr>
          <p:cNvPr id="40" name="Shape 38"/>
          <p:cNvSpPr/>
          <p:nvPr/>
        </p:nvSpPr>
        <p:spPr>
          <a:xfrm>
            <a:off x="365760" y="4352544"/>
            <a:ext cx="109728" cy="109728"/>
          </a:xfrm>
          <a:prstGeom prst="ellipse">
            <a:avLst/>
          </a:prstGeom>
          <a:solidFill>
            <a:srgbClr val="00796B"/>
          </a:solidFill>
          <a:ln/>
        </p:spPr>
      </p:sp>
      <p:sp>
        <p:nvSpPr>
          <p:cNvPr id="41" name="Text 39"/>
          <p:cNvSpPr/>
          <p:nvPr/>
        </p:nvSpPr>
        <p:spPr>
          <a:xfrm>
            <a:off x="530352" y="4288536"/>
            <a:ext cx="3858768"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DSCP = 26 (AF31) pour la signalisation SIP</a:t>
            </a:r>
            <a:endParaRPr lang="en-US" sz="1000" dirty="0"/>
          </a:p>
        </p:txBody>
      </p:sp>
      <p:sp>
        <p:nvSpPr>
          <p:cNvPr id="42" name="Shape 40"/>
          <p:cNvSpPr/>
          <p:nvPr/>
        </p:nvSpPr>
        <p:spPr>
          <a:xfrm>
            <a:off x="365760" y="4645152"/>
            <a:ext cx="109728" cy="109728"/>
          </a:xfrm>
          <a:prstGeom prst="ellipse">
            <a:avLst/>
          </a:prstGeom>
          <a:solidFill>
            <a:srgbClr val="00796B"/>
          </a:solidFill>
          <a:ln/>
        </p:spPr>
      </p:sp>
      <p:sp>
        <p:nvSpPr>
          <p:cNvPr id="43" name="Text 41"/>
          <p:cNvSpPr/>
          <p:nvPr/>
        </p:nvSpPr>
        <p:spPr>
          <a:xfrm>
            <a:off x="530352" y="4581144"/>
            <a:ext cx="3858768"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Bande passante : 8 kb/s (G.729) a 64 kb/s (G.711)</a:t>
            </a:r>
            <a:endParaRPr lang="en-US" sz="1000" dirty="0"/>
          </a:p>
        </p:txBody>
      </p:sp>
      <p:sp>
        <p:nvSpPr>
          <p:cNvPr id="44" name="Shape 42"/>
          <p:cNvSpPr/>
          <p:nvPr/>
        </p:nvSpPr>
        <p:spPr>
          <a:xfrm>
            <a:off x="4718304" y="2697480"/>
            <a:ext cx="4206240" cy="384048"/>
          </a:xfrm>
          <a:prstGeom prst="rect">
            <a:avLst/>
          </a:prstGeom>
          <a:solidFill>
            <a:srgbClr val="C62828"/>
          </a:solidFill>
          <a:ln/>
        </p:spPr>
      </p:sp>
      <p:sp>
        <p:nvSpPr>
          <p:cNvPr id="45" name="Text 43"/>
          <p:cNvSpPr/>
          <p:nvPr/>
        </p:nvSpPr>
        <p:spPr>
          <a:xfrm>
            <a:off x="4718304" y="269748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Problemes courants et causes</a:t>
            </a:r>
            <a:endParaRPr lang="en-US" sz="1200" dirty="0"/>
          </a:p>
        </p:txBody>
      </p:sp>
      <p:sp>
        <p:nvSpPr>
          <p:cNvPr id="46" name="Shape 44"/>
          <p:cNvSpPr/>
          <p:nvPr/>
        </p:nvSpPr>
        <p:spPr>
          <a:xfrm>
            <a:off x="4828032" y="3182112"/>
            <a:ext cx="109728" cy="109728"/>
          </a:xfrm>
          <a:prstGeom prst="ellipse">
            <a:avLst/>
          </a:prstGeom>
          <a:solidFill>
            <a:srgbClr val="C62828"/>
          </a:solidFill>
          <a:ln/>
        </p:spPr>
      </p:sp>
      <p:sp>
        <p:nvSpPr>
          <p:cNvPr id="47" name="Text 45"/>
          <p:cNvSpPr/>
          <p:nvPr/>
        </p:nvSpPr>
        <p:spPr>
          <a:xfrm>
            <a:off x="4992624" y="3118104"/>
            <a:ext cx="3858768"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Echo : delai &gt; 25 ms → annuleur d echo necessaire</a:t>
            </a:r>
            <a:endParaRPr lang="en-US" sz="1000" dirty="0"/>
          </a:p>
        </p:txBody>
      </p:sp>
      <p:sp>
        <p:nvSpPr>
          <p:cNvPr id="48" name="Shape 46"/>
          <p:cNvSpPr/>
          <p:nvPr/>
        </p:nvSpPr>
        <p:spPr>
          <a:xfrm>
            <a:off x="4828032" y="3474720"/>
            <a:ext cx="109728" cy="109728"/>
          </a:xfrm>
          <a:prstGeom prst="ellipse">
            <a:avLst/>
          </a:prstGeom>
          <a:solidFill>
            <a:srgbClr val="C62828"/>
          </a:solidFill>
          <a:ln/>
        </p:spPr>
      </p:sp>
      <p:sp>
        <p:nvSpPr>
          <p:cNvPr id="49" name="Text 47"/>
          <p:cNvSpPr/>
          <p:nvPr/>
        </p:nvSpPr>
        <p:spPr>
          <a:xfrm>
            <a:off x="4992624" y="3410712"/>
            <a:ext cx="3858768"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Voix robotique : gigue &gt; 50 ms non compenses</a:t>
            </a:r>
            <a:endParaRPr lang="en-US" sz="1000" dirty="0"/>
          </a:p>
        </p:txBody>
      </p:sp>
      <p:sp>
        <p:nvSpPr>
          <p:cNvPr id="50" name="Shape 48"/>
          <p:cNvSpPr/>
          <p:nvPr/>
        </p:nvSpPr>
        <p:spPr>
          <a:xfrm>
            <a:off x="4828032" y="3767328"/>
            <a:ext cx="109728" cy="109728"/>
          </a:xfrm>
          <a:prstGeom prst="ellipse">
            <a:avLst/>
          </a:prstGeom>
          <a:solidFill>
            <a:srgbClr val="C62828"/>
          </a:solidFill>
          <a:ln/>
        </p:spPr>
      </p:sp>
      <p:sp>
        <p:nvSpPr>
          <p:cNvPr id="51" name="Text 49"/>
          <p:cNvSpPr/>
          <p:nvPr/>
        </p:nvSpPr>
        <p:spPr>
          <a:xfrm>
            <a:off x="4992624" y="3703320"/>
            <a:ext cx="3858768"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Coupures : perte &gt; 3% de paquets RTP</a:t>
            </a:r>
            <a:endParaRPr lang="en-US" sz="1000" dirty="0"/>
          </a:p>
        </p:txBody>
      </p:sp>
      <p:sp>
        <p:nvSpPr>
          <p:cNvPr id="52" name="Shape 50"/>
          <p:cNvSpPr/>
          <p:nvPr/>
        </p:nvSpPr>
        <p:spPr>
          <a:xfrm>
            <a:off x="4828032" y="4059936"/>
            <a:ext cx="109728" cy="109728"/>
          </a:xfrm>
          <a:prstGeom prst="ellipse">
            <a:avLst/>
          </a:prstGeom>
          <a:solidFill>
            <a:srgbClr val="C62828"/>
          </a:solidFill>
          <a:ln/>
        </p:spPr>
      </p:sp>
      <p:sp>
        <p:nvSpPr>
          <p:cNvPr id="53" name="Text 51"/>
          <p:cNvSpPr/>
          <p:nvPr/>
        </p:nvSpPr>
        <p:spPr>
          <a:xfrm>
            <a:off x="4992624" y="3995928"/>
            <a:ext cx="3858768"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Decalage : desynchronisation audio/video</a:t>
            </a:r>
            <a:endParaRPr lang="en-US" sz="1000" dirty="0"/>
          </a:p>
        </p:txBody>
      </p:sp>
      <p:sp>
        <p:nvSpPr>
          <p:cNvPr id="54" name="Shape 52"/>
          <p:cNvSpPr/>
          <p:nvPr/>
        </p:nvSpPr>
        <p:spPr>
          <a:xfrm>
            <a:off x="4828032" y="4352544"/>
            <a:ext cx="109728" cy="109728"/>
          </a:xfrm>
          <a:prstGeom prst="ellipse">
            <a:avLst/>
          </a:prstGeom>
          <a:solidFill>
            <a:srgbClr val="C62828"/>
          </a:solidFill>
          <a:ln/>
        </p:spPr>
      </p:sp>
      <p:sp>
        <p:nvSpPr>
          <p:cNvPr id="55" name="Text 53"/>
          <p:cNvSpPr/>
          <p:nvPr/>
        </p:nvSpPr>
        <p:spPr>
          <a:xfrm>
            <a:off x="4992624" y="4288536"/>
            <a:ext cx="3858768"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Un-way audio : probleme NAT ou pare-feu</a:t>
            </a:r>
            <a:endParaRPr lang="en-US" sz="1000" dirty="0"/>
          </a:p>
        </p:txBody>
      </p:sp>
      <p:sp>
        <p:nvSpPr>
          <p:cNvPr id="56" name="Shape 54"/>
          <p:cNvSpPr/>
          <p:nvPr/>
        </p:nvSpPr>
        <p:spPr>
          <a:xfrm>
            <a:off x="4828032" y="4645152"/>
            <a:ext cx="109728" cy="109728"/>
          </a:xfrm>
          <a:prstGeom prst="ellipse">
            <a:avLst/>
          </a:prstGeom>
          <a:solidFill>
            <a:srgbClr val="C62828"/>
          </a:solidFill>
          <a:ln/>
        </p:spPr>
      </p:sp>
      <p:sp>
        <p:nvSpPr>
          <p:cNvPr id="57" name="Text 55"/>
          <p:cNvSpPr/>
          <p:nvPr/>
        </p:nvSpPr>
        <p:spPr>
          <a:xfrm>
            <a:off x="4992624" y="4581144"/>
            <a:ext cx="3858768" cy="292608"/>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Signalisation lente : SIP non prioritaire</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65100"/>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QoS pour la video — IPTV, streaming et visioconference</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La video est le plus gros consommateur de bande passante — et ses besoins QoS varient selon le type.</a:t>
            </a:r>
            <a:endParaRPr lang="en-US" sz="1100" dirty="0"/>
          </a:p>
        </p:txBody>
      </p:sp>
      <p:sp>
        <p:nvSpPr>
          <p:cNvPr id="6" name="Shape 4"/>
          <p:cNvSpPr/>
          <p:nvPr/>
        </p:nvSpPr>
        <p:spPr>
          <a:xfrm>
            <a:off x="256032" y="1170432"/>
            <a:ext cx="8631936" cy="1170432"/>
          </a:xfrm>
          <a:prstGeom prst="rect">
            <a:avLst/>
          </a:prstGeom>
          <a:solidFill>
            <a:srgbClr val="F5F5F5"/>
          </a:solidFill>
          <a:ln w="15240">
            <a:solidFill>
              <a:srgbClr val="E65100"/>
            </a:solidFill>
            <a:prstDash val="solid"/>
          </a:ln>
          <a:effectLst>
            <a:outerShdw blurRad="63500" dist="25400" dir="8100000" algn="bl" rotWithShape="0">
              <a:srgbClr val="000000">
                <a:alpha val="10000"/>
              </a:srgbClr>
            </a:outerShdw>
          </a:effectLst>
        </p:spPr>
      </p:sp>
      <p:sp>
        <p:nvSpPr>
          <p:cNvPr id="7" name="Shape 5"/>
          <p:cNvSpPr/>
          <p:nvPr/>
        </p:nvSpPr>
        <p:spPr>
          <a:xfrm>
            <a:off x="256032" y="1170432"/>
            <a:ext cx="73152" cy="1170432"/>
          </a:xfrm>
          <a:prstGeom prst="rect">
            <a:avLst/>
          </a:prstGeom>
          <a:solidFill>
            <a:srgbClr val="E65100"/>
          </a:solidFill>
          <a:ln/>
        </p:spPr>
      </p:sp>
      <p:sp>
        <p:nvSpPr>
          <p:cNvPr id="8" name="Text 6"/>
          <p:cNvSpPr/>
          <p:nvPr/>
        </p:nvSpPr>
        <p:spPr>
          <a:xfrm>
            <a:off x="411480" y="1216152"/>
            <a:ext cx="4114800" cy="292608"/>
          </a:xfrm>
          <a:prstGeom prst="rect">
            <a:avLst/>
          </a:prstGeom>
          <a:noFill/>
          <a:ln/>
        </p:spPr>
        <p:txBody>
          <a:bodyPr wrap="square" rtlCol="0" anchor="ctr"/>
          <a:lstStyle/>
          <a:p>
            <a:pPr marL="0" indent="0">
              <a:buNone/>
            </a:pPr>
            <a:r>
              <a:rPr lang="en-US" sz="1250" b="1" dirty="0">
                <a:solidFill>
                  <a:srgbClr val="E65100"/>
                </a:solidFill>
                <a:latin typeface="Calibri" pitchFamily="34" charset="0"/>
                <a:ea typeface="Calibri" pitchFamily="34" charset="-122"/>
                <a:cs typeface="Calibri" pitchFamily="34" charset="-120"/>
              </a:rPr>
              <a:t>IPTV (television en direct)</a:t>
            </a:r>
            <a:endParaRPr lang="en-US" sz="1250" dirty="0"/>
          </a:p>
        </p:txBody>
      </p:sp>
      <p:sp>
        <p:nvSpPr>
          <p:cNvPr id="9" name="Shape 7"/>
          <p:cNvSpPr/>
          <p:nvPr/>
        </p:nvSpPr>
        <p:spPr>
          <a:xfrm>
            <a:off x="4754880" y="1225296"/>
            <a:ext cx="1463040" cy="256032"/>
          </a:xfrm>
          <a:prstGeom prst="rect">
            <a:avLst/>
          </a:prstGeom>
          <a:solidFill>
            <a:srgbClr val="E65100">
              <a:alpha val="22000"/>
            </a:srgbClr>
          </a:solidFill>
          <a:ln w="6350">
            <a:solidFill>
              <a:srgbClr val="E65100"/>
            </a:solidFill>
            <a:prstDash val="solid"/>
          </a:ln>
        </p:spPr>
      </p:sp>
      <p:sp>
        <p:nvSpPr>
          <p:cNvPr id="10" name="Text 8"/>
          <p:cNvSpPr/>
          <p:nvPr/>
        </p:nvSpPr>
        <p:spPr>
          <a:xfrm>
            <a:off x="4754880" y="1225296"/>
            <a:ext cx="1463040" cy="256032"/>
          </a:xfrm>
          <a:prstGeom prst="rect">
            <a:avLst/>
          </a:prstGeom>
          <a:noFill/>
          <a:ln/>
        </p:spPr>
        <p:txBody>
          <a:bodyPr wrap="square" rtlCol="0" anchor="ctr"/>
          <a:lstStyle/>
          <a:p>
            <a:pPr marL="0" indent="0" algn="ctr">
              <a:buNone/>
            </a:pPr>
            <a:r>
              <a:rPr lang="en-US" sz="950" b="1" dirty="0">
                <a:solidFill>
                  <a:srgbClr val="E65100"/>
                </a:solidFill>
                <a:latin typeface="Calibri" pitchFamily="34" charset="0"/>
                <a:ea typeface="Calibri" pitchFamily="34" charset="-122"/>
                <a:cs typeface="Calibri" pitchFamily="34" charset="-120"/>
              </a:rPr>
              <a:t>AF41 (DSCP=34)</a:t>
            </a:r>
            <a:endParaRPr lang="en-US" sz="950" dirty="0"/>
          </a:p>
        </p:txBody>
      </p:sp>
      <p:sp>
        <p:nvSpPr>
          <p:cNvPr id="11" name="Text 9"/>
          <p:cNvSpPr/>
          <p:nvPr/>
        </p:nvSpPr>
        <p:spPr>
          <a:xfrm>
            <a:off x="6309360" y="1225296"/>
            <a:ext cx="2487168" cy="256032"/>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2-20 Mb/s par chaine</a:t>
            </a:r>
            <a:endParaRPr lang="en-US" sz="950" dirty="0"/>
          </a:p>
        </p:txBody>
      </p:sp>
      <p:sp>
        <p:nvSpPr>
          <p:cNvPr id="12" name="Text 10"/>
          <p:cNvSpPr/>
          <p:nvPr/>
        </p:nvSpPr>
        <p:spPr>
          <a:xfrm>
            <a:off x="411480" y="1517904"/>
            <a:ext cx="8229600" cy="219456"/>
          </a:xfrm>
          <a:prstGeom prst="rect">
            <a:avLst/>
          </a:prstGeom>
          <a:noFill/>
          <a:ln/>
        </p:spPr>
        <p:txBody>
          <a:bodyPr wrap="square" rtlCol="0" anchor="ctr"/>
          <a:lstStyle/>
          <a:p>
            <a:pPr marL="0" indent="0">
              <a:buNone/>
            </a:pPr>
            <a:r>
              <a:rPr lang="en-US" sz="1000" b="1" dirty="0">
                <a:solidFill>
                  <a:srgbClr val="424242"/>
                </a:solidFill>
                <a:latin typeface="Calibri" pitchFamily="34" charset="0"/>
                <a:ea typeface="Calibri" pitchFamily="34" charset="-122"/>
                <a:cs typeface="Calibri" pitchFamily="34" charset="-120"/>
              </a:rPr>
              <a:t>Tres sensible au delai et a la perte</a:t>
            </a:r>
            <a:endParaRPr lang="en-US" sz="1000" dirty="0"/>
          </a:p>
        </p:txBody>
      </p:sp>
      <p:sp>
        <p:nvSpPr>
          <p:cNvPr id="13" name="Text 11"/>
          <p:cNvSpPr/>
          <p:nvPr/>
        </p:nvSpPr>
        <p:spPr>
          <a:xfrm>
            <a:off x="411480" y="1737360"/>
            <a:ext cx="8229600" cy="548640"/>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Perte d un paquet = macrobloc visible pendant 1-2 secondes.</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Gigue : tolere jusqu a 50 ms avec un tampon adequat.</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FEC (Forward Error Correction) : envoie des paquets de correction pour masquer les pertes.</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UDP multicast : un flux pour tous les abonnes du meme programme.</a:t>
            </a:r>
            <a:endParaRPr lang="en-US" sz="950" dirty="0"/>
          </a:p>
        </p:txBody>
      </p:sp>
      <p:sp>
        <p:nvSpPr>
          <p:cNvPr id="14" name="Shape 12"/>
          <p:cNvSpPr/>
          <p:nvPr/>
        </p:nvSpPr>
        <p:spPr>
          <a:xfrm>
            <a:off x="256032" y="2432304"/>
            <a:ext cx="8631936" cy="1170432"/>
          </a:xfrm>
          <a:prstGeom prst="rect">
            <a:avLst/>
          </a:prstGeom>
          <a:solidFill>
            <a:srgbClr val="F5F5F5"/>
          </a:solidFill>
          <a:ln w="15240">
            <a:solidFill>
              <a:srgbClr val="1565C0"/>
            </a:solidFill>
            <a:prstDash val="solid"/>
          </a:ln>
          <a:effectLst>
            <a:outerShdw blurRad="63500" dist="25400" dir="8100000" algn="bl" rotWithShape="0">
              <a:srgbClr val="000000">
                <a:alpha val="10000"/>
              </a:srgbClr>
            </a:outerShdw>
          </a:effectLst>
        </p:spPr>
      </p:sp>
      <p:sp>
        <p:nvSpPr>
          <p:cNvPr id="15" name="Shape 13"/>
          <p:cNvSpPr/>
          <p:nvPr/>
        </p:nvSpPr>
        <p:spPr>
          <a:xfrm>
            <a:off x="256032" y="2432304"/>
            <a:ext cx="73152" cy="1170432"/>
          </a:xfrm>
          <a:prstGeom prst="rect">
            <a:avLst/>
          </a:prstGeom>
          <a:solidFill>
            <a:srgbClr val="1565C0"/>
          </a:solidFill>
          <a:ln/>
        </p:spPr>
      </p:sp>
      <p:sp>
        <p:nvSpPr>
          <p:cNvPr id="16" name="Text 14"/>
          <p:cNvSpPr/>
          <p:nvPr/>
        </p:nvSpPr>
        <p:spPr>
          <a:xfrm>
            <a:off x="411480" y="2478024"/>
            <a:ext cx="4114800" cy="292608"/>
          </a:xfrm>
          <a:prstGeom prst="rect">
            <a:avLst/>
          </a:prstGeom>
          <a:noFill/>
          <a:ln/>
        </p:spPr>
        <p:txBody>
          <a:bodyPr wrap="square" rtlCol="0" anchor="ctr"/>
          <a:lstStyle/>
          <a:p>
            <a:pPr marL="0" indent="0">
              <a:buNone/>
            </a:pPr>
            <a:r>
              <a:rPr lang="en-US" sz="1250" b="1" dirty="0">
                <a:solidFill>
                  <a:srgbClr val="1565C0"/>
                </a:solidFill>
                <a:latin typeface="Calibri" pitchFamily="34" charset="0"/>
                <a:ea typeface="Calibri" pitchFamily="34" charset="-122"/>
                <a:cs typeface="Calibri" pitchFamily="34" charset="-120"/>
              </a:rPr>
              <a:t>Streaming adaptatif (Netflix, YouTube)</a:t>
            </a:r>
            <a:endParaRPr lang="en-US" sz="1250" dirty="0"/>
          </a:p>
        </p:txBody>
      </p:sp>
      <p:sp>
        <p:nvSpPr>
          <p:cNvPr id="17" name="Shape 15"/>
          <p:cNvSpPr/>
          <p:nvPr/>
        </p:nvSpPr>
        <p:spPr>
          <a:xfrm>
            <a:off x="4754880" y="2487168"/>
            <a:ext cx="1463040" cy="256032"/>
          </a:xfrm>
          <a:prstGeom prst="rect">
            <a:avLst/>
          </a:prstGeom>
          <a:solidFill>
            <a:srgbClr val="1565C0">
              <a:alpha val="22000"/>
            </a:srgbClr>
          </a:solidFill>
          <a:ln w="6350">
            <a:solidFill>
              <a:srgbClr val="1565C0"/>
            </a:solidFill>
            <a:prstDash val="solid"/>
          </a:ln>
        </p:spPr>
      </p:sp>
      <p:sp>
        <p:nvSpPr>
          <p:cNvPr id="18" name="Text 16"/>
          <p:cNvSpPr/>
          <p:nvPr/>
        </p:nvSpPr>
        <p:spPr>
          <a:xfrm>
            <a:off x="4754880" y="2487168"/>
            <a:ext cx="1463040" cy="256032"/>
          </a:xfrm>
          <a:prstGeom prst="rect">
            <a:avLst/>
          </a:prstGeom>
          <a:noFill/>
          <a:ln/>
        </p:spPr>
        <p:txBody>
          <a:bodyPr wrap="square" rtlCol="0" anchor="ctr"/>
          <a:lstStyle/>
          <a:p>
            <a:pPr marL="0" indent="0" algn="ctr">
              <a:buNone/>
            </a:pPr>
            <a:r>
              <a:rPr lang="en-US" sz="950" b="1" dirty="0">
                <a:solidFill>
                  <a:srgbClr val="1565C0"/>
                </a:solidFill>
                <a:latin typeface="Calibri" pitchFamily="34" charset="0"/>
                <a:ea typeface="Calibri" pitchFamily="34" charset="-122"/>
                <a:cs typeface="Calibri" pitchFamily="34" charset="-120"/>
              </a:rPr>
              <a:t>AF21 (DSCP=18)</a:t>
            </a:r>
            <a:endParaRPr lang="en-US" sz="950" dirty="0"/>
          </a:p>
        </p:txBody>
      </p:sp>
      <p:sp>
        <p:nvSpPr>
          <p:cNvPr id="19" name="Text 17"/>
          <p:cNvSpPr/>
          <p:nvPr/>
        </p:nvSpPr>
        <p:spPr>
          <a:xfrm>
            <a:off x="6309360" y="2487168"/>
            <a:ext cx="2487168" cy="256032"/>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1-25 Mb/s (adaptatif)</a:t>
            </a:r>
            <a:endParaRPr lang="en-US" sz="950" dirty="0"/>
          </a:p>
        </p:txBody>
      </p:sp>
      <p:sp>
        <p:nvSpPr>
          <p:cNvPr id="20" name="Text 18"/>
          <p:cNvSpPr/>
          <p:nvPr/>
        </p:nvSpPr>
        <p:spPr>
          <a:xfrm>
            <a:off x="411480" y="2779776"/>
            <a:ext cx="8229600" cy="219456"/>
          </a:xfrm>
          <a:prstGeom prst="rect">
            <a:avLst/>
          </a:prstGeom>
          <a:noFill/>
          <a:ln/>
        </p:spPr>
        <p:txBody>
          <a:bodyPr wrap="square" rtlCol="0" anchor="ctr"/>
          <a:lstStyle/>
          <a:p>
            <a:pPr marL="0" indent="0">
              <a:buNone/>
            </a:pPr>
            <a:r>
              <a:rPr lang="en-US" sz="1000" b="1" dirty="0">
                <a:solidFill>
                  <a:srgbClr val="424242"/>
                </a:solidFill>
                <a:latin typeface="Calibri" pitchFamily="34" charset="0"/>
                <a:ea typeface="Calibri" pitchFamily="34" charset="-122"/>
                <a:cs typeface="Calibri" pitchFamily="34" charset="-120"/>
              </a:rPr>
              <a:t>Tolere les delais mais pas les coupures</a:t>
            </a:r>
            <a:endParaRPr lang="en-US" sz="1000" dirty="0"/>
          </a:p>
        </p:txBody>
      </p:sp>
      <p:sp>
        <p:nvSpPr>
          <p:cNvPr id="21" name="Text 19"/>
          <p:cNvSpPr/>
          <p:nvPr/>
        </p:nvSpPr>
        <p:spPr>
          <a:xfrm>
            <a:off x="411480" y="2999232"/>
            <a:ext cx="8229600" cy="548640"/>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ABR (Adaptive Bitrate) : DASH, HLS. Le client telecharge par segments de 2-10 secondes.</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Si le debit baisse → passage automatique en qualite inferieure (SD → HD → 4K).</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Tampon client de 30-60 secondes : tres tolerant aux variations de debit.</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Pas de contrainte temps reel : TCP peut retransmettre sans impact visible.</a:t>
            </a:r>
            <a:endParaRPr lang="en-US" sz="950" dirty="0"/>
          </a:p>
        </p:txBody>
      </p:sp>
      <p:sp>
        <p:nvSpPr>
          <p:cNvPr id="22" name="Shape 20"/>
          <p:cNvSpPr/>
          <p:nvPr/>
        </p:nvSpPr>
        <p:spPr>
          <a:xfrm>
            <a:off x="256032" y="3694176"/>
            <a:ext cx="8631936" cy="1170432"/>
          </a:xfrm>
          <a:prstGeom prst="rect">
            <a:avLst/>
          </a:prstGeom>
          <a:solidFill>
            <a:srgbClr val="F5F5F5"/>
          </a:solidFill>
          <a:ln w="15240">
            <a:solidFill>
              <a:srgbClr val="00796B"/>
            </a:solidFill>
            <a:prstDash val="solid"/>
          </a:ln>
          <a:effectLst>
            <a:outerShdw blurRad="63500" dist="25400" dir="8100000" algn="bl" rotWithShape="0">
              <a:srgbClr val="000000">
                <a:alpha val="10000"/>
              </a:srgbClr>
            </a:outerShdw>
          </a:effectLst>
        </p:spPr>
      </p:sp>
      <p:sp>
        <p:nvSpPr>
          <p:cNvPr id="23" name="Shape 21"/>
          <p:cNvSpPr/>
          <p:nvPr/>
        </p:nvSpPr>
        <p:spPr>
          <a:xfrm>
            <a:off x="256032" y="3694176"/>
            <a:ext cx="73152" cy="1170432"/>
          </a:xfrm>
          <a:prstGeom prst="rect">
            <a:avLst/>
          </a:prstGeom>
          <a:solidFill>
            <a:srgbClr val="00796B"/>
          </a:solidFill>
          <a:ln/>
        </p:spPr>
      </p:sp>
      <p:sp>
        <p:nvSpPr>
          <p:cNvPr id="24" name="Text 22"/>
          <p:cNvSpPr/>
          <p:nvPr/>
        </p:nvSpPr>
        <p:spPr>
          <a:xfrm>
            <a:off x="411480" y="3739896"/>
            <a:ext cx="4114800" cy="292608"/>
          </a:xfrm>
          <a:prstGeom prst="rect">
            <a:avLst/>
          </a:prstGeom>
          <a:noFill/>
          <a:ln/>
        </p:spPr>
        <p:txBody>
          <a:bodyPr wrap="square" rtlCol="0" anchor="ctr"/>
          <a:lstStyle/>
          <a:p>
            <a:pPr marL="0" indent="0">
              <a:buNone/>
            </a:pPr>
            <a:r>
              <a:rPr lang="en-US" sz="1250" b="1" dirty="0">
                <a:solidFill>
                  <a:srgbClr val="00796B"/>
                </a:solidFill>
                <a:latin typeface="Calibri" pitchFamily="34" charset="0"/>
                <a:ea typeface="Calibri" pitchFamily="34" charset="-122"/>
                <a:cs typeface="Calibri" pitchFamily="34" charset="-120"/>
              </a:rPr>
              <a:t>Visioconference (Teams, Zoom)</a:t>
            </a:r>
            <a:endParaRPr lang="en-US" sz="1250" dirty="0"/>
          </a:p>
        </p:txBody>
      </p:sp>
      <p:sp>
        <p:nvSpPr>
          <p:cNvPr id="25" name="Shape 23"/>
          <p:cNvSpPr/>
          <p:nvPr/>
        </p:nvSpPr>
        <p:spPr>
          <a:xfrm>
            <a:off x="4754880" y="3749040"/>
            <a:ext cx="1463040" cy="256032"/>
          </a:xfrm>
          <a:prstGeom prst="rect">
            <a:avLst/>
          </a:prstGeom>
          <a:solidFill>
            <a:srgbClr val="00796B">
              <a:alpha val="22000"/>
            </a:srgbClr>
          </a:solidFill>
          <a:ln w="6350">
            <a:solidFill>
              <a:srgbClr val="00796B"/>
            </a:solidFill>
            <a:prstDash val="solid"/>
          </a:ln>
        </p:spPr>
      </p:sp>
      <p:sp>
        <p:nvSpPr>
          <p:cNvPr id="26" name="Text 24"/>
          <p:cNvSpPr/>
          <p:nvPr/>
        </p:nvSpPr>
        <p:spPr>
          <a:xfrm>
            <a:off x="4754880" y="3749040"/>
            <a:ext cx="1463040" cy="256032"/>
          </a:xfrm>
          <a:prstGeom prst="rect">
            <a:avLst/>
          </a:prstGeom>
          <a:noFill/>
          <a:ln/>
        </p:spPr>
        <p:txBody>
          <a:bodyPr wrap="square" rtlCol="0" anchor="ctr"/>
          <a:lstStyle/>
          <a:p>
            <a:pPr marL="0" indent="0" algn="ctr">
              <a:buNone/>
            </a:pPr>
            <a:r>
              <a:rPr lang="en-US" sz="950" b="1" dirty="0">
                <a:solidFill>
                  <a:srgbClr val="00796B"/>
                </a:solidFill>
                <a:latin typeface="Calibri" pitchFamily="34" charset="0"/>
                <a:ea typeface="Calibri" pitchFamily="34" charset="-122"/>
                <a:cs typeface="Calibri" pitchFamily="34" charset="-120"/>
              </a:rPr>
              <a:t>AF41 video + EF audio</a:t>
            </a:r>
            <a:endParaRPr lang="en-US" sz="950" dirty="0"/>
          </a:p>
        </p:txBody>
      </p:sp>
      <p:sp>
        <p:nvSpPr>
          <p:cNvPr id="27" name="Text 25"/>
          <p:cNvSpPr/>
          <p:nvPr/>
        </p:nvSpPr>
        <p:spPr>
          <a:xfrm>
            <a:off x="6309360" y="3749040"/>
            <a:ext cx="2487168" cy="256032"/>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128 kb/s - 4 Mb/s</a:t>
            </a:r>
            <a:endParaRPr lang="en-US" sz="950" dirty="0"/>
          </a:p>
        </p:txBody>
      </p:sp>
      <p:sp>
        <p:nvSpPr>
          <p:cNvPr id="28" name="Text 26"/>
          <p:cNvSpPr/>
          <p:nvPr/>
        </p:nvSpPr>
        <p:spPr>
          <a:xfrm>
            <a:off x="411480" y="4041648"/>
            <a:ext cx="8229600" cy="219456"/>
          </a:xfrm>
          <a:prstGeom prst="rect">
            <a:avLst/>
          </a:prstGeom>
          <a:noFill/>
          <a:ln/>
        </p:spPr>
        <p:txBody>
          <a:bodyPr wrap="square" rtlCol="0" anchor="ctr"/>
          <a:lstStyle/>
          <a:p>
            <a:pPr marL="0" indent="0">
              <a:buNone/>
            </a:pPr>
            <a:r>
              <a:rPr lang="en-US" sz="1000" b="1" dirty="0">
                <a:solidFill>
                  <a:srgbClr val="424242"/>
                </a:solidFill>
                <a:latin typeface="Calibri" pitchFamily="34" charset="0"/>
                <a:ea typeface="Calibri" pitchFamily="34" charset="-122"/>
                <a:cs typeface="Calibri" pitchFamily="34" charset="-120"/>
              </a:rPr>
              <a:t>Tres sensible au delai ET a la gigue</a:t>
            </a:r>
            <a:endParaRPr lang="en-US" sz="1000" dirty="0"/>
          </a:p>
        </p:txBody>
      </p:sp>
      <p:sp>
        <p:nvSpPr>
          <p:cNvPr id="29" name="Text 27"/>
          <p:cNvSpPr/>
          <p:nvPr/>
        </p:nvSpPr>
        <p:spPr>
          <a:xfrm>
            <a:off x="411480" y="4261104"/>
            <a:ext cx="8229600" cy="548640"/>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Combine VoIP (EF) + video (AF41) + partage d ecran (AF21).</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Delay &lt; 200 ms pour l interactivite.</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SVC (Scalable Video Coding) : reduction adaptative de la qualite selon QoS.</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QUIC (HTTP/3) : protocole UDP avec controle de congestion cote applicatif.</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2E7D32"/>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Qualite percue — MOS et E-Model : noter la qualite vocale</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Comment mesurer OBJECTIVEMENT la qualite qu un humain percoit lors d un appel ? Le MOS repond a cette question.</a:t>
            </a:r>
            <a:endParaRPr lang="en-US" sz="1100" dirty="0"/>
          </a:p>
        </p:txBody>
      </p:sp>
      <p:sp>
        <p:nvSpPr>
          <p:cNvPr id="6" name="Text 4"/>
          <p:cNvSpPr/>
          <p:nvPr/>
        </p:nvSpPr>
        <p:spPr>
          <a:xfrm>
            <a:off x="256032" y="1170432"/>
            <a:ext cx="8631936" cy="32004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Echelle MOS (Mean Opinion Score) — ITU-T P.800 :</a:t>
            </a:r>
            <a:endParaRPr lang="en-US" sz="1250" dirty="0"/>
          </a:p>
        </p:txBody>
      </p:sp>
      <p:sp>
        <p:nvSpPr>
          <p:cNvPr id="7" name="Shape 5"/>
          <p:cNvSpPr/>
          <p:nvPr/>
        </p:nvSpPr>
        <p:spPr>
          <a:xfrm>
            <a:off x="256032" y="1554480"/>
            <a:ext cx="8631936" cy="548640"/>
          </a:xfrm>
          <a:prstGeom prst="rect">
            <a:avLst/>
          </a:prstGeom>
          <a:solidFill>
            <a:srgbClr val="F5F5F5"/>
          </a:solidFill>
          <a:ln w="3810">
            <a:solidFill>
              <a:srgbClr val="BDBDBD"/>
            </a:solidFill>
            <a:prstDash val="solid"/>
          </a:ln>
        </p:spPr>
      </p:sp>
      <p:sp>
        <p:nvSpPr>
          <p:cNvPr id="8" name="Shape 6"/>
          <p:cNvSpPr/>
          <p:nvPr/>
        </p:nvSpPr>
        <p:spPr>
          <a:xfrm>
            <a:off x="256032" y="1554480"/>
            <a:ext cx="8631936" cy="548640"/>
          </a:xfrm>
          <a:prstGeom prst="rect">
            <a:avLst/>
          </a:prstGeom>
          <a:solidFill>
            <a:srgbClr val="2E7D32">
              <a:alpha val="35000"/>
            </a:srgbClr>
          </a:solidFill>
          <a:ln/>
        </p:spPr>
      </p:sp>
      <p:sp>
        <p:nvSpPr>
          <p:cNvPr id="9" name="Text 7"/>
          <p:cNvSpPr/>
          <p:nvPr/>
        </p:nvSpPr>
        <p:spPr>
          <a:xfrm>
            <a:off x="365760" y="1554480"/>
            <a:ext cx="2286000" cy="548640"/>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5 — Excellent</a:t>
            </a:r>
            <a:endParaRPr lang="en-US" sz="1100" dirty="0"/>
          </a:p>
        </p:txBody>
      </p:sp>
      <p:sp>
        <p:nvSpPr>
          <p:cNvPr id="10" name="Text 8"/>
          <p:cNvSpPr/>
          <p:nvPr/>
        </p:nvSpPr>
        <p:spPr>
          <a:xfrm>
            <a:off x="2697480" y="1554480"/>
            <a:ext cx="6035040" cy="5486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Qualite telephonique parfaite. Comme si la personne etait dans la meme piece.</a:t>
            </a:r>
            <a:endParaRPr lang="en-US" sz="1000" dirty="0"/>
          </a:p>
        </p:txBody>
      </p:sp>
      <p:sp>
        <p:nvSpPr>
          <p:cNvPr id="11" name="Shape 9"/>
          <p:cNvSpPr/>
          <p:nvPr/>
        </p:nvSpPr>
        <p:spPr>
          <a:xfrm>
            <a:off x="256032" y="2176272"/>
            <a:ext cx="8631936" cy="548640"/>
          </a:xfrm>
          <a:prstGeom prst="rect">
            <a:avLst/>
          </a:prstGeom>
          <a:solidFill>
            <a:srgbClr val="F5F5F5"/>
          </a:solidFill>
          <a:ln w="3810">
            <a:solidFill>
              <a:srgbClr val="BDBDBD"/>
            </a:solidFill>
            <a:prstDash val="solid"/>
          </a:ln>
        </p:spPr>
      </p:sp>
      <p:sp>
        <p:nvSpPr>
          <p:cNvPr id="12" name="Shape 10"/>
          <p:cNvSpPr/>
          <p:nvPr/>
        </p:nvSpPr>
        <p:spPr>
          <a:xfrm>
            <a:off x="256032" y="2176272"/>
            <a:ext cx="6858000" cy="548640"/>
          </a:xfrm>
          <a:prstGeom prst="rect">
            <a:avLst/>
          </a:prstGeom>
          <a:solidFill>
            <a:srgbClr val="66BB6A">
              <a:alpha val="35000"/>
            </a:srgbClr>
          </a:solidFill>
          <a:ln/>
        </p:spPr>
      </p:sp>
      <p:sp>
        <p:nvSpPr>
          <p:cNvPr id="13" name="Text 11"/>
          <p:cNvSpPr/>
          <p:nvPr/>
        </p:nvSpPr>
        <p:spPr>
          <a:xfrm>
            <a:off x="365760" y="2176272"/>
            <a:ext cx="2286000" cy="548640"/>
          </a:xfrm>
          <a:prstGeom prst="rect">
            <a:avLst/>
          </a:prstGeom>
          <a:noFill/>
          <a:ln/>
        </p:spPr>
        <p:txBody>
          <a:bodyPr wrap="square" rtlCol="0" anchor="ctr"/>
          <a:lstStyle/>
          <a:p>
            <a:pPr marL="0" indent="0">
              <a:buNone/>
            </a:pPr>
            <a:r>
              <a:rPr lang="en-US" sz="1100" b="1" dirty="0">
                <a:solidFill>
                  <a:srgbClr val="66BB6A"/>
                </a:solidFill>
                <a:latin typeface="Calibri" pitchFamily="34" charset="0"/>
                <a:ea typeface="Calibri" pitchFamily="34" charset="-122"/>
                <a:cs typeface="Calibri" pitchFamily="34" charset="-120"/>
              </a:rPr>
              <a:t>4 — Bon</a:t>
            </a:r>
            <a:endParaRPr lang="en-US" sz="1100" dirty="0"/>
          </a:p>
        </p:txBody>
      </p:sp>
      <p:sp>
        <p:nvSpPr>
          <p:cNvPr id="14" name="Text 12"/>
          <p:cNvSpPr/>
          <p:nvPr/>
        </p:nvSpPr>
        <p:spPr>
          <a:xfrm>
            <a:off x="2697480" y="2176272"/>
            <a:ext cx="6035040" cy="5486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Bonne qualite, legeres imperfections imperceptibles. Standard telephonique acceptable.</a:t>
            </a:r>
            <a:endParaRPr lang="en-US" sz="1000" dirty="0"/>
          </a:p>
        </p:txBody>
      </p:sp>
      <p:sp>
        <p:nvSpPr>
          <p:cNvPr id="15" name="Shape 13"/>
          <p:cNvSpPr/>
          <p:nvPr/>
        </p:nvSpPr>
        <p:spPr>
          <a:xfrm>
            <a:off x="256032" y="2798064"/>
            <a:ext cx="8631936" cy="548640"/>
          </a:xfrm>
          <a:prstGeom prst="rect">
            <a:avLst/>
          </a:prstGeom>
          <a:solidFill>
            <a:srgbClr val="F5F5F5"/>
          </a:solidFill>
          <a:ln w="3810">
            <a:solidFill>
              <a:srgbClr val="BDBDBD"/>
            </a:solidFill>
            <a:prstDash val="solid"/>
          </a:ln>
        </p:spPr>
      </p:sp>
      <p:sp>
        <p:nvSpPr>
          <p:cNvPr id="16" name="Shape 14"/>
          <p:cNvSpPr/>
          <p:nvPr/>
        </p:nvSpPr>
        <p:spPr>
          <a:xfrm>
            <a:off x="256032" y="2798064"/>
            <a:ext cx="5029200" cy="548640"/>
          </a:xfrm>
          <a:prstGeom prst="rect">
            <a:avLst/>
          </a:prstGeom>
          <a:solidFill>
            <a:srgbClr val="F57F17">
              <a:alpha val="35000"/>
            </a:srgbClr>
          </a:solidFill>
          <a:ln/>
        </p:spPr>
      </p:sp>
      <p:sp>
        <p:nvSpPr>
          <p:cNvPr id="17" name="Text 15"/>
          <p:cNvSpPr/>
          <p:nvPr/>
        </p:nvSpPr>
        <p:spPr>
          <a:xfrm>
            <a:off x="365760" y="2798064"/>
            <a:ext cx="2286000" cy="548640"/>
          </a:xfrm>
          <a:prstGeom prst="rect">
            <a:avLst/>
          </a:prstGeom>
          <a:noFill/>
          <a:ln/>
        </p:spPr>
        <p:txBody>
          <a:bodyPr wrap="square" rtlCol="0" anchor="ctr"/>
          <a:lstStyle/>
          <a:p>
            <a:pPr marL="0" indent="0">
              <a:buNone/>
            </a:pPr>
            <a:r>
              <a:rPr lang="en-US" sz="1100" b="1" dirty="0">
                <a:solidFill>
                  <a:srgbClr val="F57F17"/>
                </a:solidFill>
                <a:latin typeface="Calibri" pitchFamily="34" charset="0"/>
                <a:ea typeface="Calibri" pitchFamily="34" charset="-122"/>
                <a:cs typeface="Calibri" pitchFamily="34" charset="-120"/>
              </a:rPr>
              <a:t>3 — Acceptable</a:t>
            </a:r>
            <a:endParaRPr lang="en-US" sz="1100" dirty="0"/>
          </a:p>
        </p:txBody>
      </p:sp>
      <p:sp>
        <p:nvSpPr>
          <p:cNvPr id="18" name="Text 16"/>
          <p:cNvSpPr/>
          <p:nvPr/>
        </p:nvSpPr>
        <p:spPr>
          <a:xfrm>
            <a:off x="2697480" y="2798064"/>
            <a:ext cx="6035040" cy="5486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Qualite correcte. L effort d ecoute est perceptible mais communication possible.</a:t>
            </a:r>
            <a:endParaRPr lang="en-US" sz="1000" dirty="0"/>
          </a:p>
        </p:txBody>
      </p:sp>
      <p:sp>
        <p:nvSpPr>
          <p:cNvPr id="19" name="Shape 17"/>
          <p:cNvSpPr/>
          <p:nvPr/>
        </p:nvSpPr>
        <p:spPr>
          <a:xfrm>
            <a:off x="256032" y="3419856"/>
            <a:ext cx="8631936" cy="548640"/>
          </a:xfrm>
          <a:prstGeom prst="rect">
            <a:avLst/>
          </a:prstGeom>
          <a:solidFill>
            <a:srgbClr val="F5F5F5"/>
          </a:solidFill>
          <a:ln w="3810">
            <a:solidFill>
              <a:srgbClr val="BDBDBD"/>
            </a:solidFill>
            <a:prstDash val="solid"/>
          </a:ln>
        </p:spPr>
      </p:sp>
      <p:sp>
        <p:nvSpPr>
          <p:cNvPr id="20" name="Shape 18"/>
          <p:cNvSpPr/>
          <p:nvPr/>
        </p:nvSpPr>
        <p:spPr>
          <a:xfrm>
            <a:off x="256032" y="3419856"/>
            <a:ext cx="3200400" cy="548640"/>
          </a:xfrm>
          <a:prstGeom prst="rect">
            <a:avLst/>
          </a:prstGeom>
          <a:solidFill>
            <a:srgbClr val="E65100">
              <a:alpha val="35000"/>
            </a:srgbClr>
          </a:solidFill>
          <a:ln/>
        </p:spPr>
      </p:sp>
      <p:sp>
        <p:nvSpPr>
          <p:cNvPr id="21" name="Text 19"/>
          <p:cNvSpPr/>
          <p:nvPr/>
        </p:nvSpPr>
        <p:spPr>
          <a:xfrm>
            <a:off x="365760" y="3419856"/>
            <a:ext cx="2286000" cy="548640"/>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2 — Mauvais</a:t>
            </a:r>
            <a:endParaRPr lang="en-US" sz="1100" dirty="0"/>
          </a:p>
        </p:txBody>
      </p:sp>
      <p:sp>
        <p:nvSpPr>
          <p:cNvPr id="22" name="Text 20"/>
          <p:cNvSpPr/>
          <p:nvPr/>
        </p:nvSpPr>
        <p:spPr>
          <a:xfrm>
            <a:off x="2697480" y="3419856"/>
            <a:ext cx="6035040" cy="5486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Qualite degradee. Communication difficile, effort important requis.</a:t>
            </a:r>
            <a:endParaRPr lang="en-US" sz="1000" dirty="0"/>
          </a:p>
        </p:txBody>
      </p:sp>
      <p:sp>
        <p:nvSpPr>
          <p:cNvPr id="23" name="Shape 21"/>
          <p:cNvSpPr/>
          <p:nvPr/>
        </p:nvSpPr>
        <p:spPr>
          <a:xfrm>
            <a:off x="256032" y="4041648"/>
            <a:ext cx="8631936" cy="548640"/>
          </a:xfrm>
          <a:prstGeom prst="rect">
            <a:avLst/>
          </a:prstGeom>
          <a:solidFill>
            <a:srgbClr val="F5F5F5"/>
          </a:solidFill>
          <a:ln w="3810">
            <a:solidFill>
              <a:srgbClr val="BDBDBD"/>
            </a:solidFill>
            <a:prstDash val="solid"/>
          </a:ln>
        </p:spPr>
      </p:sp>
      <p:sp>
        <p:nvSpPr>
          <p:cNvPr id="24" name="Shape 22"/>
          <p:cNvSpPr/>
          <p:nvPr/>
        </p:nvSpPr>
        <p:spPr>
          <a:xfrm>
            <a:off x="256032" y="4041648"/>
            <a:ext cx="1645920" cy="548640"/>
          </a:xfrm>
          <a:prstGeom prst="rect">
            <a:avLst/>
          </a:prstGeom>
          <a:solidFill>
            <a:srgbClr val="C62828">
              <a:alpha val="35000"/>
            </a:srgbClr>
          </a:solidFill>
          <a:ln/>
        </p:spPr>
      </p:sp>
      <p:sp>
        <p:nvSpPr>
          <p:cNvPr id="25" name="Text 23"/>
          <p:cNvSpPr/>
          <p:nvPr/>
        </p:nvSpPr>
        <p:spPr>
          <a:xfrm>
            <a:off x="365760" y="4041648"/>
            <a:ext cx="2286000" cy="548640"/>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1 — Inacceptable</a:t>
            </a:r>
            <a:endParaRPr lang="en-US" sz="1100" dirty="0"/>
          </a:p>
        </p:txBody>
      </p:sp>
      <p:sp>
        <p:nvSpPr>
          <p:cNvPr id="26" name="Text 24"/>
          <p:cNvSpPr/>
          <p:nvPr/>
        </p:nvSpPr>
        <p:spPr>
          <a:xfrm>
            <a:off x="2697480" y="4041648"/>
            <a:ext cx="6035040" cy="54864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Qualite catastrophique. Communication impossible.</a:t>
            </a:r>
            <a:endParaRPr lang="en-US" sz="1000" dirty="0"/>
          </a:p>
        </p:txBody>
      </p:sp>
      <p:sp>
        <p:nvSpPr>
          <p:cNvPr id="27" name="Shape 25"/>
          <p:cNvSpPr/>
          <p:nvPr/>
        </p:nvSpPr>
        <p:spPr>
          <a:xfrm>
            <a:off x="256032" y="4709160"/>
            <a:ext cx="8631936" cy="457200"/>
          </a:xfrm>
          <a:prstGeom prst="rect">
            <a:avLst/>
          </a:prstGeom>
          <a:solidFill>
            <a:srgbClr val="0D1B2A"/>
          </a:solidFill>
          <a:ln/>
          <a:effectLst>
            <a:outerShdw blurRad="63500" dist="25400" dir="8100000" algn="bl" rotWithShape="0">
              <a:srgbClr val="000000">
                <a:alpha val="10000"/>
              </a:srgbClr>
            </a:outerShdw>
          </a:effectLst>
        </p:spPr>
      </p:sp>
      <p:sp>
        <p:nvSpPr>
          <p:cNvPr id="28" name="Text 26"/>
          <p:cNvSpPr/>
          <p:nvPr/>
        </p:nvSpPr>
        <p:spPr>
          <a:xfrm>
            <a:off x="365760" y="4736592"/>
            <a:ext cx="8412480" cy="23774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E-Model (ITU-T G.107) : MOS ≈ 4.5 − (0.01 × delai_ms) − (0.2 × perte_%) − (facteur_gigue)</a:t>
            </a:r>
            <a:endParaRPr lang="en-US" sz="1100" dirty="0"/>
          </a:p>
        </p:txBody>
      </p:sp>
      <p:sp>
        <p:nvSpPr>
          <p:cNvPr id="29" name="Text 27"/>
          <p:cNvSpPr/>
          <p:nvPr/>
        </p:nvSpPr>
        <p:spPr>
          <a:xfrm>
            <a:off x="365760" y="4974336"/>
            <a:ext cx="8412480" cy="164592"/>
          </a:xfrm>
          <a:prstGeom prst="rect">
            <a:avLst/>
          </a:prstGeom>
          <a:noFill/>
          <a:ln/>
        </p:spPr>
        <p:txBody>
          <a:bodyPr wrap="square" rtlCol="0" anchor="ctr"/>
          <a:lstStyle/>
          <a:p>
            <a:pPr marL="0" indent="0">
              <a:buNone/>
            </a:pPr>
            <a:r>
              <a:rPr lang="en-US" sz="950" dirty="0">
                <a:solidFill>
                  <a:srgbClr val="64B5F6"/>
                </a:solidFill>
                <a:latin typeface="Calibri" pitchFamily="34" charset="0"/>
                <a:ea typeface="Calibri" pitchFamily="34" charset="-122"/>
                <a:cs typeface="Calibri" pitchFamily="34" charset="-120"/>
              </a:rPr>
              <a:t>Exemple : delai=100ms, perte=1%, gigue=20ms → MOS ≈ 4.5 - 1.0 - 0.2 - 0.15 ≈ 3.15 (acceptable mais limite)</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C62828"/>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Congestion et Buffer Bloat — Quand les tampons deviennent le probleme</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Shape 3"/>
          <p:cNvSpPr/>
          <p:nvPr/>
        </p:nvSpPr>
        <p:spPr>
          <a:xfrm>
            <a:off x="256032" y="822960"/>
            <a:ext cx="8631936" cy="438912"/>
          </a:xfrm>
          <a:prstGeom prst="rect">
            <a:avLst/>
          </a:prstGeom>
          <a:solidFill>
            <a:srgbClr val="FFEBEE"/>
          </a:solidFill>
          <a:ln w="12700">
            <a:solidFill>
              <a:srgbClr val="C62828"/>
            </a:solidFill>
            <a:prstDash val="solid"/>
          </a:ln>
        </p:spPr>
      </p:sp>
      <p:sp>
        <p:nvSpPr>
          <p:cNvPr id="6" name="Text 4"/>
          <p:cNvSpPr/>
          <p:nvPr/>
        </p:nvSpPr>
        <p:spPr>
          <a:xfrm>
            <a:off x="365760" y="822960"/>
            <a:ext cx="8412480" cy="438912"/>
          </a:xfrm>
          <a:prstGeom prst="rect">
            <a:avLst/>
          </a:prstGeom>
          <a:noFill/>
          <a:ln/>
        </p:spPr>
        <p:txBody>
          <a:bodyPr wrap="square" rtlCol="0" anchor="ctr"/>
          <a:lstStyle/>
          <a:p>
            <a:pPr marL="0" indent="0">
              <a:buNone/>
            </a:pPr>
            <a:r>
              <a:rPr lang="en-US" sz="1200" b="1" dirty="0">
                <a:solidFill>
                  <a:srgbClr val="C62828"/>
                </a:solidFill>
                <a:latin typeface="Calibri" pitchFamily="34" charset="0"/>
                <a:ea typeface="Calibri" pitchFamily="34" charset="-122"/>
                <a:cs typeface="Calibri" pitchFamily="34" charset="-120"/>
              </a:rPr>
              <a:t>Buffer Bloat : les routeurs modernes ont des tampons TRES grands. Paradoxalement, cela DEGRADE la QoS temps reel !</a:t>
            </a:r>
            <a:endParaRPr lang="en-US" sz="1200" dirty="0"/>
          </a:p>
        </p:txBody>
      </p:sp>
      <p:sp>
        <p:nvSpPr>
          <p:cNvPr id="7" name="Shape 5"/>
          <p:cNvSpPr/>
          <p:nvPr/>
        </p:nvSpPr>
        <p:spPr>
          <a:xfrm>
            <a:off x="256032" y="1325880"/>
            <a:ext cx="4206240" cy="384048"/>
          </a:xfrm>
          <a:prstGeom prst="rect">
            <a:avLst/>
          </a:prstGeom>
          <a:solidFill>
            <a:srgbClr val="C62828"/>
          </a:solidFill>
          <a:ln/>
        </p:spPr>
      </p:sp>
      <p:sp>
        <p:nvSpPr>
          <p:cNvPr id="8" name="Text 6"/>
          <p:cNvSpPr/>
          <p:nvPr/>
        </p:nvSpPr>
        <p:spPr>
          <a:xfrm>
            <a:off x="256032" y="132588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 probleme du Buffer Bloat</a:t>
            </a:r>
            <a:endParaRPr lang="en-US" sz="1200" dirty="0"/>
          </a:p>
        </p:txBody>
      </p:sp>
      <p:sp>
        <p:nvSpPr>
          <p:cNvPr id="9" name="Shape 7"/>
          <p:cNvSpPr/>
          <p:nvPr/>
        </p:nvSpPr>
        <p:spPr>
          <a:xfrm>
            <a:off x="256032" y="1783080"/>
            <a:ext cx="4206240" cy="731520"/>
          </a:xfrm>
          <a:prstGeom prst="rect">
            <a:avLst/>
          </a:prstGeom>
          <a:solidFill>
            <a:srgbClr val="FFEBEE"/>
          </a:solidFill>
          <a:ln w="6350">
            <a:solidFill>
              <a:srgbClr val="C62828"/>
            </a:solidFill>
            <a:prstDash val="solid"/>
          </a:ln>
        </p:spPr>
      </p:sp>
      <p:sp>
        <p:nvSpPr>
          <p:cNvPr id="10" name="Text 8"/>
          <p:cNvSpPr/>
          <p:nvPr/>
        </p:nvSpPr>
        <p:spPr>
          <a:xfrm>
            <a:off x="365760" y="1819656"/>
            <a:ext cx="4005072" cy="256032"/>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Tampons gigantesques</a:t>
            </a:r>
            <a:endParaRPr lang="en-US" sz="1100" dirty="0"/>
          </a:p>
        </p:txBody>
      </p:sp>
      <p:sp>
        <p:nvSpPr>
          <p:cNvPr id="11" name="Text 9"/>
          <p:cNvSpPr/>
          <p:nvPr/>
        </p:nvSpPr>
        <p:spPr>
          <a:xfrm>
            <a:off x="365760" y="2093976"/>
            <a:ext cx="4005072" cy="384048"/>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Les routeurs SOHO ont parfois des secondes de buffer.</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Objectif initial : eviter la perte de paquets.</a:t>
            </a:r>
            <a:endParaRPr lang="en-US" sz="950" dirty="0"/>
          </a:p>
        </p:txBody>
      </p:sp>
      <p:sp>
        <p:nvSpPr>
          <p:cNvPr id="12" name="Shape 10"/>
          <p:cNvSpPr/>
          <p:nvPr/>
        </p:nvSpPr>
        <p:spPr>
          <a:xfrm>
            <a:off x="256032" y="2587752"/>
            <a:ext cx="4206240" cy="731520"/>
          </a:xfrm>
          <a:prstGeom prst="rect">
            <a:avLst/>
          </a:prstGeom>
          <a:solidFill>
            <a:srgbClr val="FFEBEE"/>
          </a:solidFill>
          <a:ln w="6350">
            <a:solidFill>
              <a:srgbClr val="C62828"/>
            </a:solidFill>
            <a:prstDash val="solid"/>
          </a:ln>
        </p:spPr>
      </p:sp>
      <p:sp>
        <p:nvSpPr>
          <p:cNvPr id="13" name="Text 11"/>
          <p:cNvSpPr/>
          <p:nvPr/>
        </p:nvSpPr>
        <p:spPr>
          <a:xfrm>
            <a:off x="365760" y="2624328"/>
            <a:ext cx="4005072" cy="256032"/>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Delai enorme en cas de congestion</a:t>
            </a:r>
            <a:endParaRPr lang="en-US" sz="1100" dirty="0"/>
          </a:p>
        </p:txBody>
      </p:sp>
      <p:sp>
        <p:nvSpPr>
          <p:cNvPr id="14" name="Text 12"/>
          <p:cNvSpPr/>
          <p:nvPr/>
        </p:nvSpPr>
        <p:spPr>
          <a:xfrm>
            <a:off x="365760" y="2898648"/>
            <a:ext cx="4005072" cy="384048"/>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Quand le lien est charge, les paquets attendent 200ms-2s dans le buffer.</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Resultat : VoIP et jeux detruits, meme si debit disponible.</a:t>
            </a:r>
            <a:endParaRPr lang="en-US" sz="950" dirty="0"/>
          </a:p>
        </p:txBody>
      </p:sp>
      <p:sp>
        <p:nvSpPr>
          <p:cNvPr id="15" name="Shape 13"/>
          <p:cNvSpPr/>
          <p:nvPr/>
        </p:nvSpPr>
        <p:spPr>
          <a:xfrm>
            <a:off x="256032" y="3392424"/>
            <a:ext cx="4206240" cy="731520"/>
          </a:xfrm>
          <a:prstGeom prst="rect">
            <a:avLst/>
          </a:prstGeom>
          <a:solidFill>
            <a:srgbClr val="FFEBEE"/>
          </a:solidFill>
          <a:ln w="6350">
            <a:solidFill>
              <a:srgbClr val="C62828"/>
            </a:solidFill>
            <a:prstDash val="solid"/>
          </a:ln>
        </p:spPr>
      </p:sp>
      <p:sp>
        <p:nvSpPr>
          <p:cNvPr id="16" name="Text 14"/>
          <p:cNvSpPr/>
          <p:nvPr/>
        </p:nvSpPr>
        <p:spPr>
          <a:xfrm>
            <a:off x="365760" y="3429000"/>
            <a:ext cx="4005072" cy="256032"/>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TCP ne reagit pas assez vite</a:t>
            </a:r>
            <a:endParaRPr lang="en-US" sz="1100" dirty="0"/>
          </a:p>
        </p:txBody>
      </p:sp>
      <p:sp>
        <p:nvSpPr>
          <p:cNvPr id="17" name="Text 15"/>
          <p:cNvSpPr/>
          <p:nvPr/>
        </p:nvSpPr>
        <p:spPr>
          <a:xfrm>
            <a:off x="365760" y="3703320"/>
            <a:ext cx="4005072" cy="384048"/>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TCP detecte la congestion via les pertes.</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Avec un grand buffer : pas de perte → TCP ne ralentit pas → buffer sature.</a:t>
            </a:r>
            <a:endParaRPr lang="en-US" sz="950" dirty="0"/>
          </a:p>
        </p:txBody>
      </p:sp>
      <p:sp>
        <p:nvSpPr>
          <p:cNvPr id="18" name="Shape 16"/>
          <p:cNvSpPr/>
          <p:nvPr/>
        </p:nvSpPr>
        <p:spPr>
          <a:xfrm>
            <a:off x="256032" y="4197096"/>
            <a:ext cx="4206240" cy="731520"/>
          </a:xfrm>
          <a:prstGeom prst="rect">
            <a:avLst/>
          </a:prstGeom>
          <a:solidFill>
            <a:srgbClr val="FFEBEE"/>
          </a:solidFill>
          <a:ln w="6350">
            <a:solidFill>
              <a:srgbClr val="C62828"/>
            </a:solidFill>
            <a:prstDash val="solid"/>
          </a:ln>
        </p:spPr>
      </p:sp>
      <p:sp>
        <p:nvSpPr>
          <p:cNvPr id="19" name="Text 17"/>
          <p:cNvSpPr/>
          <p:nvPr/>
        </p:nvSpPr>
        <p:spPr>
          <a:xfrm>
            <a:off x="365760" y="4233672"/>
            <a:ext cx="4005072" cy="256032"/>
          </a:xfrm>
          <a:prstGeom prst="rect">
            <a:avLst/>
          </a:prstGeom>
          <a:noFill/>
          <a:ln/>
        </p:spPr>
        <p:txBody>
          <a:bodyPr wrap="square"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Diagnostic : le 'ping pendant download'</a:t>
            </a:r>
            <a:endParaRPr lang="en-US" sz="1100" dirty="0"/>
          </a:p>
        </p:txBody>
      </p:sp>
      <p:sp>
        <p:nvSpPr>
          <p:cNvPr id="20" name="Text 18"/>
          <p:cNvSpPr/>
          <p:nvPr/>
        </p:nvSpPr>
        <p:spPr>
          <a:xfrm>
            <a:off x="365760" y="4507992"/>
            <a:ext cx="4005072" cy="384048"/>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Pingez un serveur en faisant un telechargement en meme temps.</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Si le RTT passe de 5ms a 500ms : votre routeur a du buffer bloat.</a:t>
            </a:r>
            <a:endParaRPr lang="en-US" sz="950" dirty="0"/>
          </a:p>
        </p:txBody>
      </p:sp>
      <p:sp>
        <p:nvSpPr>
          <p:cNvPr id="21" name="Shape 19"/>
          <p:cNvSpPr/>
          <p:nvPr/>
        </p:nvSpPr>
        <p:spPr>
          <a:xfrm>
            <a:off x="4718304" y="1325880"/>
            <a:ext cx="4206240" cy="384048"/>
          </a:xfrm>
          <a:prstGeom prst="rect">
            <a:avLst/>
          </a:prstGeom>
          <a:solidFill>
            <a:srgbClr val="2E7D32"/>
          </a:solidFill>
          <a:ln/>
        </p:spPr>
      </p:sp>
      <p:sp>
        <p:nvSpPr>
          <p:cNvPr id="22" name="Text 20"/>
          <p:cNvSpPr/>
          <p:nvPr/>
        </p:nvSpPr>
        <p:spPr>
          <a:xfrm>
            <a:off x="4718304" y="132588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Les solutions</a:t>
            </a:r>
            <a:endParaRPr lang="en-US" sz="1200" dirty="0"/>
          </a:p>
        </p:txBody>
      </p:sp>
      <p:sp>
        <p:nvSpPr>
          <p:cNvPr id="23" name="Shape 21"/>
          <p:cNvSpPr/>
          <p:nvPr/>
        </p:nvSpPr>
        <p:spPr>
          <a:xfrm>
            <a:off x="4718304" y="1783080"/>
            <a:ext cx="4206240" cy="731520"/>
          </a:xfrm>
          <a:prstGeom prst="rect">
            <a:avLst/>
          </a:prstGeom>
          <a:solidFill>
            <a:srgbClr val="E8F5E9"/>
          </a:solidFill>
          <a:ln w="6350">
            <a:solidFill>
              <a:srgbClr val="2E7D32"/>
            </a:solidFill>
            <a:prstDash val="solid"/>
          </a:ln>
        </p:spPr>
      </p:sp>
      <p:sp>
        <p:nvSpPr>
          <p:cNvPr id="24" name="Text 22"/>
          <p:cNvSpPr/>
          <p:nvPr/>
        </p:nvSpPr>
        <p:spPr>
          <a:xfrm>
            <a:off x="4828032" y="1819656"/>
            <a:ext cx="4005072" cy="25603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CoDel (Controlled Delay)</a:t>
            </a:r>
            <a:endParaRPr lang="en-US" sz="1100" dirty="0"/>
          </a:p>
        </p:txBody>
      </p:sp>
      <p:sp>
        <p:nvSpPr>
          <p:cNvPr id="25" name="Text 23"/>
          <p:cNvSpPr/>
          <p:nvPr/>
        </p:nvSpPr>
        <p:spPr>
          <a:xfrm>
            <a:off x="4828032" y="2093976"/>
            <a:ext cx="4005072" cy="384048"/>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Algorithme AQM moderne. Limite le delai maximal en file d attente (cible : 5ms).</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Replace RED dans les routeurs modernes. Integre dans Linux/OpenWRT.</a:t>
            </a:r>
            <a:endParaRPr lang="en-US" sz="950" dirty="0"/>
          </a:p>
        </p:txBody>
      </p:sp>
      <p:sp>
        <p:nvSpPr>
          <p:cNvPr id="26" name="Shape 24"/>
          <p:cNvSpPr/>
          <p:nvPr/>
        </p:nvSpPr>
        <p:spPr>
          <a:xfrm>
            <a:off x="4718304" y="2587752"/>
            <a:ext cx="4206240" cy="731520"/>
          </a:xfrm>
          <a:prstGeom prst="rect">
            <a:avLst/>
          </a:prstGeom>
          <a:solidFill>
            <a:srgbClr val="E8F5E9"/>
          </a:solidFill>
          <a:ln w="6350">
            <a:solidFill>
              <a:srgbClr val="2E7D32"/>
            </a:solidFill>
            <a:prstDash val="solid"/>
          </a:ln>
        </p:spPr>
      </p:sp>
      <p:sp>
        <p:nvSpPr>
          <p:cNvPr id="27" name="Text 25"/>
          <p:cNvSpPr/>
          <p:nvPr/>
        </p:nvSpPr>
        <p:spPr>
          <a:xfrm>
            <a:off x="4828032" y="2624328"/>
            <a:ext cx="4005072" cy="25603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FQ-CoDel (Fair Queue CoDel)</a:t>
            </a:r>
            <a:endParaRPr lang="en-US" sz="1100" dirty="0"/>
          </a:p>
        </p:txBody>
      </p:sp>
      <p:sp>
        <p:nvSpPr>
          <p:cNvPr id="28" name="Text 26"/>
          <p:cNvSpPr/>
          <p:nvPr/>
        </p:nvSpPr>
        <p:spPr>
          <a:xfrm>
            <a:off x="4828032" y="2898648"/>
            <a:ext cx="4005072" cy="384048"/>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CoDel + equite par flux. Standard de facto sur les routeurs Linux.</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Reduit le delai de centaines de ms a quelques ms. Recommande.</a:t>
            </a:r>
            <a:endParaRPr lang="en-US" sz="950" dirty="0"/>
          </a:p>
        </p:txBody>
      </p:sp>
      <p:sp>
        <p:nvSpPr>
          <p:cNvPr id="29" name="Shape 27"/>
          <p:cNvSpPr/>
          <p:nvPr/>
        </p:nvSpPr>
        <p:spPr>
          <a:xfrm>
            <a:off x="4718304" y="3392424"/>
            <a:ext cx="4206240" cy="731520"/>
          </a:xfrm>
          <a:prstGeom prst="rect">
            <a:avLst/>
          </a:prstGeom>
          <a:solidFill>
            <a:srgbClr val="E8F5E9"/>
          </a:solidFill>
          <a:ln w="6350">
            <a:solidFill>
              <a:srgbClr val="2E7D32"/>
            </a:solidFill>
            <a:prstDash val="solid"/>
          </a:ln>
        </p:spPr>
      </p:sp>
      <p:sp>
        <p:nvSpPr>
          <p:cNvPr id="30" name="Text 28"/>
          <p:cNvSpPr/>
          <p:nvPr/>
        </p:nvSpPr>
        <p:spPr>
          <a:xfrm>
            <a:off x="4828032" y="3429000"/>
            <a:ext cx="4005072" cy="25603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PIE (Proportional Integral controller)</a:t>
            </a:r>
            <a:endParaRPr lang="en-US" sz="1100" dirty="0"/>
          </a:p>
        </p:txBody>
      </p:sp>
      <p:sp>
        <p:nvSpPr>
          <p:cNvPr id="31" name="Text 29"/>
          <p:cNvSpPr/>
          <p:nvPr/>
        </p:nvSpPr>
        <p:spPr>
          <a:xfrm>
            <a:off x="4828032" y="3703320"/>
            <a:ext cx="4005072" cy="384048"/>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Variante de CoDel. Utilise dans les equipements DOCSIS 3.1 (cable).</a:t>
            </a:r>
            <a:endParaRPr lang="en-US" sz="950" dirty="0"/>
          </a:p>
        </p:txBody>
      </p:sp>
      <p:sp>
        <p:nvSpPr>
          <p:cNvPr id="32" name="Shape 30"/>
          <p:cNvSpPr/>
          <p:nvPr/>
        </p:nvSpPr>
        <p:spPr>
          <a:xfrm>
            <a:off x="4718304" y="4197096"/>
            <a:ext cx="4206240" cy="731520"/>
          </a:xfrm>
          <a:prstGeom prst="rect">
            <a:avLst/>
          </a:prstGeom>
          <a:solidFill>
            <a:srgbClr val="E8F5E9"/>
          </a:solidFill>
          <a:ln w="6350">
            <a:solidFill>
              <a:srgbClr val="2E7D32"/>
            </a:solidFill>
            <a:prstDash val="solid"/>
          </a:ln>
        </p:spPr>
      </p:sp>
      <p:sp>
        <p:nvSpPr>
          <p:cNvPr id="33" name="Text 31"/>
          <p:cNvSpPr/>
          <p:nvPr/>
        </p:nvSpPr>
        <p:spPr>
          <a:xfrm>
            <a:off x="4828032" y="4233672"/>
            <a:ext cx="4005072" cy="25603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Reducer la taille des buffers</a:t>
            </a:r>
            <a:endParaRPr lang="en-US" sz="1100" dirty="0"/>
          </a:p>
        </p:txBody>
      </p:sp>
      <p:sp>
        <p:nvSpPr>
          <p:cNvPr id="34" name="Text 32"/>
          <p:cNvSpPr/>
          <p:nvPr/>
        </p:nvSpPr>
        <p:spPr>
          <a:xfrm>
            <a:off x="4828032" y="4507992"/>
            <a:ext cx="4005072" cy="384048"/>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Sur les routeurs configures manuellement, reduire txqueuelen.</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Ex Linux : ip link set eth0 txqueuelen 50 (au lieu de 1000 par defaut)</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565C0"/>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VPN MPLS — QoS dans les reseaux prives d entreprise</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Les VPN MPLS permettent aux entreprises d avoir leur propre reseau virtuel avec QoS garantie sur l infrastructure de l operateur.</a:t>
            </a:r>
            <a:endParaRPr lang="en-US" sz="1100" dirty="0"/>
          </a:p>
        </p:txBody>
      </p:sp>
      <p:sp>
        <p:nvSpPr>
          <p:cNvPr id="6" name="Text 4"/>
          <p:cNvSpPr/>
          <p:nvPr/>
        </p:nvSpPr>
        <p:spPr>
          <a:xfrm>
            <a:off x="256032" y="1170432"/>
            <a:ext cx="8631936" cy="32004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Architecture VPN MPLS L3 :</a:t>
            </a:r>
            <a:endParaRPr lang="en-US" sz="1250" dirty="0"/>
          </a:p>
        </p:txBody>
      </p:sp>
      <p:sp>
        <p:nvSpPr>
          <p:cNvPr id="7" name="Shape 5"/>
          <p:cNvSpPr/>
          <p:nvPr/>
        </p:nvSpPr>
        <p:spPr>
          <a:xfrm>
            <a:off x="274320" y="1828800"/>
            <a:ext cx="1097280" cy="822960"/>
          </a:xfrm>
          <a:prstGeom prst="rect">
            <a:avLst/>
          </a:prstGeom>
          <a:solidFill>
            <a:srgbClr val="0D1B2A"/>
          </a:solidFill>
          <a:ln/>
          <a:effectLst>
            <a:outerShdw blurRad="63500" dist="25400" dir="8100000" algn="bl" rotWithShape="0">
              <a:srgbClr val="000000">
                <a:alpha val="10000"/>
              </a:srgbClr>
            </a:outerShdw>
          </a:effectLst>
        </p:spPr>
      </p:sp>
      <p:sp>
        <p:nvSpPr>
          <p:cNvPr id="8" name="Text 6"/>
          <p:cNvSpPr/>
          <p:nvPr/>
        </p:nvSpPr>
        <p:spPr>
          <a:xfrm>
            <a:off x="274320" y="1828800"/>
            <a:ext cx="1097280" cy="8229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Siege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(Paris)</a:t>
            </a:r>
            <a:endParaRPr lang="en-US" sz="900" dirty="0"/>
          </a:p>
        </p:txBody>
      </p:sp>
      <p:sp>
        <p:nvSpPr>
          <p:cNvPr id="9" name="Shape 7"/>
          <p:cNvSpPr/>
          <p:nvPr/>
        </p:nvSpPr>
        <p:spPr>
          <a:xfrm>
            <a:off x="274320" y="3200400"/>
            <a:ext cx="1097280" cy="822960"/>
          </a:xfrm>
          <a:prstGeom prst="rect">
            <a:avLst/>
          </a:prstGeom>
          <a:solidFill>
            <a:srgbClr val="0D1B2A"/>
          </a:solidFill>
          <a:ln/>
          <a:effectLst>
            <a:outerShdw blurRad="63500" dist="25400" dir="8100000" algn="bl" rotWithShape="0">
              <a:srgbClr val="000000">
                <a:alpha val="10000"/>
              </a:srgbClr>
            </a:outerShdw>
          </a:effectLst>
        </p:spPr>
      </p:sp>
      <p:sp>
        <p:nvSpPr>
          <p:cNvPr id="10" name="Text 8"/>
          <p:cNvSpPr/>
          <p:nvPr/>
        </p:nvSpPr>
        <p:spPr>
          <a:xfrm>
            <a:off x="274320" y="3200400"/>
            <a:ext cx="1097280" cy="8229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Agence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(Lyon)</a:t>
            </a:r>
            <a:endParaRPr lang="en-US" sz="900" dirty="0"/>
          </a:p>
        </p:txBody>
      </p:sp>
      <p:sp>
        <p:nvSpPr>
          <p:cNvPr id="11" name="Shape 9"/>
          <p:cNvSpPr/>
          <p:nvPr/>
        </p:nvSpPr>
        <p:spPr>
          <a:xfrm>
            <a:off x="7772400" y="1828800"/>
            <a:ext cx="1097280" cy="822960"/>
          </a:xfrm>
          <a:prstGeom prst="rect">
            <a:avLst/>
          </a:prstGeom>
          <a:solidFill>
            <a:srgbClr val="0D1B2A"/>
          </a:solidFill>
          <a:ln/>
          <a:effectLst>
            <a:outerShdw blurRad="63500" dist="25400" dir="8100000" algn="bl" rotWithShape="0">
              <a:srgbClr val="000000">
                <a:alpha val="10000"/>
              </a:srgbClr>
            </a:outerShdw>
          </a:effectLst>
        </p:spPr>
      </p:sp>
      <p:sp>
        <p:nvSpPr>
          <p:cNvPr id="12" name="Text 10"/>
          <p:cNvSpPr/>
          <p:nvPr/>
        </p:nvSpPr>
        <p:spPr>
          <a:xfrm>
            <a:off x="7772400" y="1828800"/>
            <a:ext cx="1097280" cy="8229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Agence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(Bordeaux)</a:t>
            </a:r>
            <a:endParaRPr lang="en-US" sz="900" dirty="0"/>
          </a:p>
        </p:txBody>
      </p:sp>
      <p:sp>
        <p:nvSpPr>
          <p:cNvPr id="13" name="Shape 11"/>
          <p:cNvSpPr/>
          <p:nvPr/>
        </p:nvSpPr>
        <p:spPr>
          <a:xfrm>
            <a:off x="7772400" y="3200400"/>
            <a:ext cx="1097280" cy="822960"/>
          </a:xfrm>
          <a:prstGeom prst="rect">
            <a:avLst/>
          </a:prstGeom>
          <a:solidFill>
            <a:srgbClr val="0D1B2A"/>
          </a:solidFill>
          <a:ln/>
          <a:effectLst>
            <a:outerShdw blurRad="63500" dist="25400" dir="8100000" algn="bl" rotWithShape="0">
              <a:srgbClr val="000000">
                <a:alpha val="10000"/>
              </a:srgbClr>
            </a:outerShdw>
          </a:effectLst>
        </p:spPr>
      </p:sp>
      <p:sp>
        <p:nvSpPr>
          <p:cNvPr id="14" name="Text 12"/>
          <p:cNvSpPr/>
          <p:nvPr/>
        </p:nvSpPr>
        <p:spPr>
          <a:xfrm>
            <a:off x="7772400" y="3200400"/>
            <a:ext cx="1097280" cy="8229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Datacenter</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(Marseille)</a:t>
            </a:r>
            <a:endParaRPr lang="en-US" sz="900" dirty="0"/>
          </a:p>
        </p:txBody>
      </p:sp>
      <p:sp>
        <p:nvSpPr>
          <p:cNvPr id="15" name="Shape 13"/>
          <p:cNvSpPr/>
          <p:nvPr/>
        </p:nvSpPr>
        <p:spPr>
          <a:xfrm>
            <a:off x="2560320" y="1600200"/>
            <a:ext cx="4023360" cy="1965960"/>
          </a:xfrm>
          <a:prstGeom prst="ellipse">
            <a:avLst/>
          </a:prstGeom>
          <a:solidFill>
            <a:srgbClr val="E3F2FD"/>
          </a:solidFill>
          <a:ln w="19050">
            <a:solidFill>
              <a:srgbClr val="1565C0"/>
            </a:solidFill>
            <a:prstDash val="solid"/>
          </a:ln>
        </p:spPr>
      </p:sp>
      <p:sp>
        <p:nvSpPr>
          <p:cNvPr id="16" name="Text 14"/>
          <p:cNvSpPr/>
          <p:nvPr/>
        </p:nvSpPr>
        <p:spPr>
          <a:xfrm>
            <a:off x="3200400" y="2331720"/>
            <a:ext cx="2743200" cy="530352"/>
          </a:xfrm>
          <a:prstGeom prst="rect">
            <a:avLst/>
          </a:prstGeom>
          <a:noFill/>
          <a:ln/>
        </p:spPr>
        <p:txBody>
          <a:bodyPr wrap="square" rtlCol="0" anchor="ctr"/>
          <a:lstStyle/>
          <a:p>
            <a:pPr marL="0" indent="0" algn="ctr">
              <a:buNone/>
            </a:pPr>
            <a:r>
              <a:rPr lang="en-US" sz="1100" b="1" dirty="0">
                <a:solidFill>
                  <a:srgbClr val="1565C0"/>
                </a:solidFill>
                <a:latin typeface="Calibri" pitchFamily="34" charset="0"/>
                <a:ea typeface="Calibri" pitchFamily="34" charset="-122"/>
                <a:cs typeface="Calibri" pitchFamily="34" charset="-120"/>
              </a:rPr>
              <a:t>Reseau MPLS</a:t>
            </a:r>
            <a:endParaRPr lang="en-US" sz="1100" dirty="0"/>
          </a:p>
          <a:p>
            <a:pPr marL="0" indent="0" algn="ctr">
              <a:buNone/>
            </a:pPr>
            <a:r>
              <a:rPr lang="en-US" sz="1100" b="1" dirty="0">
                <a:solidFill>
                  <a:srgbClr val="1565C0"/>
                </a:solidFill>
                <a:latin typeface="Calibri" pitchFamily="34" charset="0"/>
                <a:ea typeface="Calibri" pitchFamily="34" charset="-122"/>
                <a:cs typeface="Calibri" pitchFamily="34" charset="-120"/>
              </a:rPr>
              <a:t>Operateur</a:t>
            </a:r>
            <a:endParaRPr lang="en-US" sz="1100" dirty="0"/>
          </a:p>
        </p:txBody>
      </p:sp>
      <p:sp>
        <p:nvSpPr>
          <p:cNvPr id="17" name="Shape 15"/>
          <p:cNvSpPr/>
          <p:nvPr/>
        </p:nvSpPr>
        <p:spPr>
          <a:xfrm>
            <a:off x="2011680" y="2011680"/>
            <a:ext cx="685800" cy="640080"/>
          </a:xfrm>
          <a:prstGeom prst="ellipse">
            <a:avLst/>
          </a:prstGeom>
          <a:solidFill>
            <a:srgbClr val="1565C0"/>
          </a:solidFill>
          <a:ln/>
        </p:spPr>
      </p:sp>
      <p:sp>
        <p:nvSpPr>
          <p:cNvPr id="18" name="Text 16"/>
          <p:cNvSpPr/>
          <p:nvPr/>
        </p:nvSpPr>
        <p:spPr>
          <a:xfrm>
            <a:off x="2011680" y="2011680"/>
            <a:ext cx="685800" cy="6400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PE</a:t>
            </a:r>
            <a:endParaRPr lang="en-US" sz="1000" dirty="0"/>
          </a:p>
        </p:txBody>
      </p:sp>
      <p:sp>
        <p:nvSpPr>
          <p:cNvPr id="19" name="Shape 17"/>
          <p:cNvSpPr/>
          <p:nvPr/>
        </p:nvSpPr>
        <p:spPr>
          <a:xfrm>
            <a:off x="6446520" y="2011680"/>
            <a:ext cx="685800" cy="640080"/>
          </a:xfrm>
          <a:prstGeom prst="ellipse">
            <a:avLst/>
          </a:prstGeom>
          <a:solidFill>
            <a:srgbClr val="1565C0"/>
          </a:solidFill>
          <a:ln/>
        </p:spPr>
      </p:sp>
      <p:sp>
        <p:nvSpPr>
          <p:cNvPr id="20" name="Text 18"/>
          <p:cNvSpPr/>
          <p:nvPr/>
        </p:nvSpPr>
        <p:spPr>
          <a:xfrm>
            <a:off x="6446520" y="2011680"/>
            <a:ext cx="685800" cy="6400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PE</a:t>
            </a:r>
            <a:endParaRPr lang="en-US" sz="1000" dirty="0"/>
          </a:p>
        </p:txBody>
      </p:sp>
      <p:sp>
        <p:nvSpPr>
          <p:cNvPr id="21" name="Shape 19"/>
          <p:cNvSpPr/>
          <p:nvPr/>
        </p:nvSpPr>
        <p:spPr>
          <a:xfrm>
            <a:off x="1389888" y="2267712"/>
            <a:ext cx="640080" cy="64008"/>
          </a:xfrm>
          <a:prstGeom prst="rect">
            <a:avLst/>
          </a:prstGeom>
          <a:solidFill>
            <a:srgbClr val="757575"/>
          </a:solidFill>
          <a:ln/>
        </p:spPr>
      </p:sp>
      <p:sp>
        <p:nvSpPr>
          <p:cNvPr id="22" name="Shape 20"/>
          <p:cNvSpPr/>
          <p:nvPr/>
        </p:nvSpPr>
        <p:spPr>
          <a:xfrm>
            <a:off x="1389888" y="3456432"/>
            <a:ext cx="640080" cy="64008"/>
          </a:xfrm>
          <a:prstGeom prst="rect">
            <a:avLst/>
          </a:prstGeom>
          <a:solidFill>
            <a:srgbClr val="757575"/>
          </a:solidFill>
          <a:ln/>
        </p:spPr>
      </p:sp>
      <p:sp>
        <p:nvSpPr>
          <p:cNvPr id="23" name="Shape 21"/>
          <p:cNvSpPr/>
          <p:nvPr/>
        </p:nvSpPr>
        <p:spPr>
          <a:xfrm>
            <a:off x="7150608" y="2267712"/>
            <a:ext cx="640080" cy="64008"/>
          </a:xfrm>
          <a:prstGeom prst="rect">
            <a:avLst/>
          </a:prstGeom>
          <a:solidFill>
            <a:srgbClr val="757575"/>
          </a:solidFill>
          <a:ln/>
        </p:spPr>
      </p:sp>
      <p:sp>
        <p:nvSpPr>
          <p:cNvPr id="24" name="Shape 22"/>
          <p:cNvSpPr/>
          <p:nvPr/>
        </p:nvSpPr>
        <p:spPr>
          <a:xfrm>
            <a:off x="7150608" y="3456432"/>
            <a:ext cx="640080" cy="64008"/>
          </a:xfrm>
          <a:prstGeom prst="rect">
            <a:avLst/>
          </a:prstGeom>
          <a:solidFill>
            <a:srgbClr val="757575"/>
          </a:solidFill>
          <a:ln/>
        </p:spPr>
      </p:sp>
      <p:sp>
        <p:nvSpPr>
          <p:cNvPr id="25" name="Text 23"/>
          <p:cNvSpPr/>
          <p:nvPr/>
        </p:nvSpPr>
        <p:spPr>
          <a:xfrm>
            <a:off x="256032" y="3822192"/>
            <a:ext cx="8631936" cy="292608"/>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Classes de service typiques dans un VPN MPLS :</a:t>
            </a:r>
            <a:endParaRPr lang="en-US" sz="1200" dirty="0"/>
          </a:p>
        </p:txBody>
      </p:sp>
      <p:sp>
        <p:nvSpPr>
          <p:cNvPr id="26" name="Shape 24"/>
          <p:cNvSpPr/>
          <p:nvPr/>
        </p:nvSpPr>
        <p:spPr>
          <a:xfrm>
            <a:off x="256032" y="4187952"/>
            <a:ext cx="2029968" cy="658368"/>
          </a:xfrm>
          <a:prstGeom prst="rect">
            <a:avLst/>
          </a:prstGeom>
          <a:solidFill>
            <a:srgbClr val="FFFFFF"/>
          </a:solidFill>
          <a:ln w="12700">
            <a:solidFill>
              <a:srgbClr val="C62828"/>
            </a:solidFill>
            <a:prstDash val="solid"/>
          </a:ln>
        </p:spPr>
      </p:sp>
      <p:sp>
        <p:nvSpPr>
          <p:cNvPr id="27" name="Shape 25"/>
          <p:cNvSpPr/>
          <p:nvPr/>
        </p:nvSpPr>
        <p:spPr>
          <a:xfrm>
            <a:off x="256032" y="4187952"/>
            <a:ext cx="2029968" cy="64008"/>
          </a:xfrm>
          <a:prstGeom prst="rect">
            <a:avLst/>
          </a:prstGeom>
          <a:solidFill>
            <a:srgbClr val="C62828"/>
          </a:solidFill>
          <a:ln/>
        </p:spPr>
      </p:sp>
      <p:sp>
        <p:nvSpPr>
          <p:cNvPr id="28" name="Text 26"/>
          <p:cNvSpPr/>
          <p:nvPr/>
        </p:nvSpPr>
        <p:spPr>
          <a:xfrm>
            <a:off x="329184" y="4251960"/>
            <a:ext cx="1901952" cy="228600"/>
          </a:xfrm>
          <a:prstGeom prst="rect">
            <a:avLst/>
          </a:prstGeom>
          <a:noFill/>
          <a:ln/>
        </p:spPr>
        <p:txBody>
          <a:bodyPr wrap="square" rtlCol="0" anchor="ctr"/>
          <a:lstStyle/>
          <a:p>
            <a:pPr marL="0" indent="0">
              <a:buNone/>
            </a:pPr>
            <a:r>
              <a:rPr lang="en-US" sz="1000" b="1" dirty="0">
                <a:solidFill>
                  <a:srgbClr val="C62828"/>
                </a:solidFill>
                <a:latin typeface="Calibri" pitchFamily="34" charset="0"/>
                <a:ea typeface="Calibri" pitchFamily="34" charset="-122"/>
                <a:cs typeface="Calibri" pitchFamily="34" charset="-120"/>
              </a:rPr>
              <a:t>Voix (EF)</a:t>
            </a:r>
            <a:endParaRPr lang="en-US" sz="1000" dirty="0"/>
          </a:p>
        </p:txBody>
      </p:sp>
      <p:sp>
        <p:nvSpPr>
          <p:cNvPr id="29" name="Text 27"/>
          <p:cNvSpPr/>
          <p:nvPr/>
        </p:nvSpPr>
        <p:spPr>
          <a:xfrm>
            <a:off x="329184" y="4480560"/>
            <a:ext cx="1901952" cy="201168"/>
          </a:xfrm>
          <a:prstGeom prst="rect">
            <a:avLst/>
          </a:prstGeom>
          <a:noFill/>
          <a:ln/>
        </p:spPr>
        <p:txBody>
          <a:bodyPr wrap="square" rtlCol="0" anchor="ctr"/>
          <a:lstStyle/>
          <a:p>
            <a:pPr marL="0" indent="0">
              <a:buNone/>
            </a:pPr>
            <a:r>
              <a:rPr lang="en-US" sz="850" dirty="0">
                <a:solidFill>
                  <a:srgbClr val="212121"/>
                </a:solidFill>
                <a:latin typeface="Calibri" pitchFamily="34" charset="0"/>
                <a:ea typeface="Calibri" pitchFamily="34" charset="-122"/>
                <a:cs typeface="Calibri" pitchFamily="34" charset="-120"/>
              </a:rPr>
              <a:t>Delai &lt; 30ms, perte &lt; 0.1%</a:t>
            </a:r>
            <a:endParaRPr lang="en-US" sz="850" dirty="0"/>
          </a:p>
        </p:txBody>
      </p:sp>
      <p:sp>
        <p:nvSpPr>
          <p:cNvPr id="30" name="Text 28"/>
          <p:cNvSpPr/>
          <p:nvPr/>
        </p:nvSpPr>
        <p:spPr>
          <a:xfrm>
            <a:off x="329184" y="4681728"/>
            <a:ext cx="1901952" cy="137160"/>
          </a:xfrm>
          <a:prstGeom prst="rect">
            <a:avLst/>
          </a:prstGeom>
          <a:noFill/>
          <a:ln/>
        </p:spPr>
        <p:txBody>
          <a:bodyPr wrap="square" rtlCol="0" anchor="ctr"/>
          <a:lstStyle/>
          <a:p>
            <a:pPr marL="0" indent="0">
              <a:buNone/>
            </a:pPr>
            <a:r>
              <a:rPr lang="en-US" sz="800" b="1" dirty="0">
                <a:solidFill>
                  <a:srgbClr val="757575"/>
                </a:solidFill>
                <a:latin typeface="Calibri" pitchFamily="34" charset="0"/>
                <a:ea typeface="Calibri" pitchFamily="34" charset="-122"/>
                <a:cs typeface="Calibri" pitchFamily="34" charset="-120"/>
              </a:rPr>
              <a:t>EF (46)</a:t>
            </a:r>
            <a:endParaRPr lang="en-US" sz="800" dirty="0"/>
          </a:p>
        </p:txBody>
      </p:sp>
      <p:sp>
        <p:nvSpPr>
          <p:cNvPr id="31" name="Shape 29"/>
          <p:cNvSpPr/>
          <p:nvPr/>
        </p:nvSpPr>
        <p:spPr>
          <a:xfrm>
            <a:off x="2432304" y="4187952"/>
            <a:ext cx="2029968" cy="658368"/>
          </a:xfrm>
          <a:prstGeom prst="rect">
            <a:avLst/>
          </a:prstGeom>
          <a:solidFill>
            <a:srgbClr val="FFFFFF"/>
          </a:solidFill>
          <a:ln w="12700">
            <a:solidFill>
              <a:srgbClr val="E65100"/>
            </a:solidFill>
            <a:prstDash val="solid"/>
          </a:ln>
        </p:spPr>
      </p:sp>
      <p:sp>
        <p:nvSpPr>
          <p:cNvPr id="32" name="Shape 30"/>
          <p:cNvSpPr/>
          <p:nvPr/>
        </p:nvSpPr>
        <p:spPr>
          <a:xfrm>
            <a:off x="2432304" y="4187952"/>
            <a:ext cx="2029968" cy="64008"/>
          </a:xfrm>
          <a:prstGeom prst="rect">
            <a:avLst/>
          </a:prstGeom>
          <a:solidFill>
            <a:srgbClr val="E65100"/>
          </a:solidFill>
          <a:ln/>
        </p:spPr>
      </p:sp>
      <p:sp>
        <p:nvSpPr>
          <p:cNvPr id="33" name="Text 31"/>
          <p:cNvSpPr/>
          <p:nvPr/>
        </p:nvSpPr>
        <p:spPr>
          <a:xfrm>
            <a:off x="2505456" y="4251960"/>
            <a:ext cx="1901952" cy="228600"/>
          </a:xfrm>
          <a:prstGeom prst="rect">
            <a:avLst/>
          </a:prstGeom>
          <a:noFill/>
          <a:ln/>
        </p:spPr>
        <p:txBody>
          <a:bodyPr wrap="square" rtlCol="0" anchor="ctr"/>
          <a:lstStyle/>
          <a:p>
            <a:pPr marL="0" indent="0">
              <a:buNone/>
            </a:pPr>
            <a:r>
              <a:rPr lang="en-US" sz="1000" b="1" dirty="0">
                <a:solidFill>
                  <a:srgbClr val="E65100"/>
                </a:solidFill>
                <a:latin typeface="Calibri" pitchFamily="34" charset="0"/>
                <a:ea typeface="Calibri" pitchFamily="34" charset="-122"/>
                <a:cs typeface="Calibri" pitchFamily="34" charset="-120"/>
              </a:rPr>
              <a:t>Video temps reel (AF41)</a:t>
            </a:r>
            <a:endParaRPr lang="en-US" sz="1000" dirty="0"/>
          </a:p>
        </p:txBody>
      </p:sp>
      <p:sp>
        <p:nvSpPr>
          <p:cNvPr id="34" name="Text 32"/>
          <p:cNvSpPr/>
          <p:nvPr/>
        </p:nvSpPr>
        <p:spPr>
          <a:xfrm>
            <a:off x="2505456" y="4480560"/>
            <a:ext cx="1901952" cy="201168"/>
          </a:xfrm>
          <a:prstGeom prst="rect">
            <a:avLst/>
          </a:prstGeom>
          <a:noFill/>
          <a:ln/>
        </p:spPr>
        <p:txBody>
          <a:bodyPr wrap="square" rtlCol="0" anchor="ctr"/>
          <a:lstStyle/>
          <a:p>
            <a:pPr marL="0" indent="0">
              <a:buNone/>
            </a:pPr>
            <a:r>
              <a:rPr lang="en-US" sz="850" dirty="0">
                <a:solidFill>
                  <a:srgbClr val="212121"/>
                </a:solidFill>
                <a:latin typeface="Calibri" pitchFamily="34" charset="0"/>
                <a:ea typeface="Calibri" pitchFamily="34" charset="-122"/>
                <a:cs typeface="Calibri" pitchFamily="34" charset="-120"/>
              </a:rPr>
              <a:t>Delai &lt; 50ms, perte &lt; 0.5%</a:t>
            </a:r>
            <a:endParaRPr lang="en-US" sz="850" dirty="0"/>
          </a:p>
        </p:txBody>
      </p:sp>
      <p:sp>
        <p:nvSpPr>
          <p:cNvPr id="35" name="Text 33"/>
          <p:cNvSpPr/>
          <p:nvPr/>
        </p:nvSpPr>
        <p:spPr>
          <a:xfrm>
            <a:off x="2505456" y="4681728"/>
            <a:ext cx="1901952" cy="137160"/>
          </a:xfrm>
          <a:prstGeom prst="rect">
            <a:avLst/>
          </a:prstGeom>
          <a:noFill/>
          <a:ln/>
        </p:spPr>
        <p:txBody>
          <a:bodyPr wrap="square" rtlCol="0" anchor="ctr"/>
          <a:lstStyle/>
          <a:p>
            <a:pPr marL="0" indent="0">
              <a:buNone/>
            </a:pPr>
            <a:r>
              <a:rPr lang="en-US" sz="800" b="1" dirty="0">
                <a:solidFill>
                  <a:srgbClr val="757575"/>
                </a:solidFill>
                <a:latin typeface="Calibri" pitchFamily="34" charset="0"/>
                <a:ea typeface="Calibri" pitchFamily="34" charset="-122"/>
                <a:cs typeface="Calibri" pitchFamily="34" charset="-120"/>
              </a:rPr>
              <a:t>AF41 (34)</a:t>
            </a:r>
            <a:endParaRPr lang="en-US" sz="800" dirty="0"/>
          </a:p>
        </p:txBody>
      </p:sp>
      <p:sp>
        <p:nvSpPr>
          <p:cNvPr id="36" name="Shape 34"/>
          <p:cNvSpPr/>
          <p:nvPr/>
        </p:nvSpPr>
        <p:spPr>
          <a:xfrm>
            <a:off x="4608576" y="4187952"/>
            <a:ext cx="2029968" cy="658368"/>
          </a:xfrm>
          <a:prstGeom prst="rect">
            <a:avLst/>
          </a:prstGeom>
          <a:solidFill>
            <a:srgbClr val="FFFFFF"/>
          </a:solidFill>
          <a:ln w="12700">
            <a:solidFill>
              <a:srgbClr val="1565C0"/>
            </a:solidFill>
            <a:prstDash val="solid"/>
          </a:ln>
        </p:spPr>
      </p:sp>
      <p:sp>
        <p:nvSpPr>
          <p:cNvPr id="37" name="Shape 35"/>
          <p:cNvSpPr/>
          <p:nvPr/>
        </p:nvSpPr>
        <p:spPr>
          <a:xfrm>
            <a:off x="4608576" y="4187952"/>
            <a:ext cx="2029968" cy="64008"/>
          </a:xfrm>
          <a:prstGeom prst="rect">
            <a:avLst/>
          </a:prstGeom>
          <a:solidFill>
            <a:srgbClr val="1565C0"/>
          </a:solidFill>
          <a:ln/>
        </p:spPr>
      </p:sp>
      <p:sp>
        <p:nvSpPr>
          <p:cNvPr id="38" name="Text 36"/>
          <p:cNvSpPr/>
          <p:nvPr/>
        </p:nvSpPr>
        <p:spPr>
          <a:xfrm>
            <a:off x="4681728" y="4251960"/>
            <a:ext cx="1901952" cy="228600"/>
          </a:xfrm>
          <a:prstGeom prst="rect">
            <a:avLst/>
          </a:prstGeom>
          <a:noFill/>
          <a:ln/>
        </p:spPr>
        <p:txBody>
          <a:bodyPr wrap="square"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Donnees critiques (AF21)</a:t>
            </a:r>
            <a:endParaRPr lang="en-US" sz="1000" dirty="0"/>
          </a:p>
        </p:txBody>
      </p:sp>
      <p:sp>
        <p:nvSpPr>
          <p:cNvPr id="39" name="Text 37"/>
          <p:cNvSpPr/>
          <p:nvPr/>
        </p:nvSpPr>
        <p:spPr>
          <a:xfrm>
            <a:off x="4681728" y="4480560"/>
            <a:ext cx="1901952" cy="201168"/>
          </a:xfrm>
          <a:prstGeom prst="rect">
            <a:avLst/>
          </a:prstGeom>
          <a:noFill/>
          <a:ln/>
        </p:spPr>
        <p:txBody>
          <a:bodyPr wrap="square" rtlCol="0" anchor="ctr"/>
          <a:lstStyle/>
          <a:p>
            <a:pPr marL="0" indent="0">
              <a:buNone/>
            </a:pPr>
            <a:r>
              <a:rPr lang="en-US" sz="850" dirty="0">
                <a:solidFill>
                  <a:srgbClr val="212121"/>
                </a:solidFill>
                <a:latin typeface="Calibri" pitchFamily="34" charset="0"/>
                <a:ea typeface="Calibri" pitchFamily="34" charset="-122"/>
                <a:cs typeface="Calibri" pitchFamily="34" charset="-120"/>
              </a:rPr>
              <a:t>Debit garanti, perte &lt; 1%</a:t>
            </a:r>
            <a:endParaRPr lang="en-US" sz="850" dirty="0"/>
          </a:p>
        </p:txBody>
      </p:sp>
      <p:sp>
        <p:nvSpPr>
          <p:cNvPr id="40" name="Text 38"/>
          <p:cNvSpPr/>
          <p:nvPr/>
        </p:nvSpPr>
        <p:spPr>
          <a:xfrm>
            <a:off x="4681728" y="4681728"/>
            <a:ext cx="1901952" cy="137160"/>
          </a:xfrm>
          <a:prstGeom prst="rect">
            <a:avLst/>
          </a:prstGeom>
          <a:noFill/>
          <a:ln/>
        </p:spPr>
        <p:txBody>
          <a:bodyPr wrap="square" rtlCol="0" anchor="ctr"/>
          <a:lstStyle/>
          <a:p>
            <a:pPr marL="0" indent="0">
              <a:buNone/>
            </a:pPr>
            <a:r>
              <a:rPr lang="en-US" sz="800" b="1" dirty="0">
                <a:solidFill>
                  <a:srgbClr val="757575"/>
                </a:solidFill>
                <a:latin typeface="Calibri" pitchFamily="34" charset="0"/>
                <a:ea typeface="Calibri" pitchFamily="34" charset="-122"/>
                <a:cs typeface="Calibri" pitchFamily="34" charset="-120"/>
              </a:rPr>
              <a:t>AF21 (18)</a:t>
            </a:r>
            <a:endParaRPr lang="en-US" sz="800" dirty="0"/>
          </a:p>
        </p:txBody>
      </p:sp>
      <p:sp>
        <p:nvSpPr>
          <p:cNvPr id="41" name="Shape 39"/>
          <p:cNvSpPr/>
          <p:nvPr/>
        </p:nvSpPr>
        <p:spPr>
          <a:xfrm>
            <a:off x="6784848" y="4187952"/>
            <a:ext cx="2029968" cy="658368"/>
          </a:xfrm>
          <a:prstGeom prst="rect">
            <a:avLst/>
          </a:prstGeom>
          <a:solidFill>
            <a:srgbClr val="FFFFFF"/>
          </a:solidFill>
          <a:ln w="12700">
            <a:solidFill>
              <a:srgbClr val="00796B"/>
            </a:solidFill>
            <a:prstDash val="solid"/>
          </a:ln>
        </p:spPr>
      </p:sp>
      <p:sp>
        <p:nvSpPr>
          <p:cNvPr id="42" name="Shape 40"/>
          <p:cNvSpPr/>
          <p:nvPr/>
        </p:nvSpPr>
        <p:spPr>
          <a:xfrm>
            <a:off x="6784848" y="4187952"/>
            <a:ext cx="2029968" cy="64008"/>
          </a:xfrm>
          <a:prstGeom prst="rect">
            <a:avLst/>
          </a:prstGeom>
          <a:solidFill>
            <a:srgbClr val="00796B"/>
          </a:solidFill>
          <a:ln/>
        </p:spPr>
      </p:sp>
      <p:sp>
        <p:nvSpPr>
          <p:cNvPr id="43" name="Text 41"/>
          <p:cNvSpPr/>
          <p:nvPr/>
        </p:nvSpPr>
        <p:spPr>
          <a:xfrm>
            <a:off x="6858000" y="4251960"/>
            <a:ext cx="1901952" cy="228600"/>
          </a:xfrm>
          <a:prstGeom prst="rect">
            <a:avLst/>
          </a:prstGeom>
          <a:noFill/>
          <a:ln/>
        </p:spPr>
        <p:txBody>
          <a:bodyPr wrap="square" rtlCol="0" anchor="ctr"/>
          <a:lstStyle/>
          <a:p>
            <a:pPr marL="0" indent="0">
              <a:buNone/>
            </a:pPr>
            <a:r>
              <a:rPr lang="en-US" sz="1000" b="1" dirty="0">
                <a:solidFill>
                  <a:srgbClr val="00796B"/>
                </a:solidFill>
                <a:latin typeface="Calibri" pitchFamily="34" charset="0"/>
                <a:ea typeface="Calibri" pitchFamily="34" charset="-122"/>
                <a:cs typeface="Calibri" pitchFamily="34" charset="-120"/>
              </a:rPr>
              <a:t>Internet (BE)</a:t>
            </a:r>
            <a:endParaRPr lang="en-US" sz="1000" dirty="0"/>
          </a:p>
        </p:txBody>
      </p:sp>
      <p:sp>
        <p:nvSpPr>
          <p:cNvPr id="44" name="Text 42"/>
          <p:cNvSpPr/>
          <p:nvPr/>
        </p:nvSpPr>
        <p:spPr>
          <a:xfrm>
            <a:off x="6858000" y="4480560"/>
            <a:ext cx="1901952" cy="201168"/>
          </a:xfrm>
          <a:prstGeom prst="rect">
            <a:avLst/>
          </a:prstGeom>
          <a:noFill/>
          <a:ln/>
        </p:spPr>
        <p:txBody>
          <a:bodyPr wrap="square" rtlCol="0" anchor="ctr"/>
          <a:lstStyle/>
          <a:p>
            <a:pPr marL="0" indent="0">
              <a:buNone/>
            </a:pPr>
            <a:r>
              <a:rPr lang="en-US" sz="850" dirty="0">
                <a:solidFill>
                  <a:srgbClr val="212121"/>
                </a:solidFill>
                <a:latin typeface="Calibri" pitchFamily="34" charset="0"/>
                <a:ea typeface="Calibri" pitchFamily="34" charset="-122"/>
                <a:cs typeface="Calibri" pitchFamily="34" charset="-120"/>
              </a:rPr>
              <a:t>Best effort, sans garantie</a:t>
            </a:r>
            <a:endParaRPr lang="en-US" sz="850" dirty="0"/>
          </a:p>
        </p:txBody>
      </p:sp>
      <p:sp>
        <p:nvSpPr>
          <p:cNvPr id="45" name="Text 43"/>
          <p:cNvSpPr/>
          <p:nvPr/>
        </p:nvSpPr>
        <p:spPr>
          <a:xfrm>
            <a:off x="6858000" y="4681728"/>
            <a:ext cx="1901952" cy="137160"/>
          </a:xfrm>
          <a:prstGeom prst="rect">
            <a:avLst/>
          </a:prstGeom>
          <a:noFill/>
          <a:ln/>
        </p:spPr>
        <p:txBody>
          <a:bodyPr wrap="square" rtlCol="0" anchor="ctr"/>
          <a:lstStyle/>
          <a:p>
            <a:pPr marL="0" indent="0">
              <a:buNone/>
            </a:pPr>
            <a:r>
              <a:rPr lang="en-US" sz="800" b="1" dirty="0">
                <a:solidFill>
                  <a:srgbClr val="757575"/>
                </a:solidFill>
                <a:latin typeface="Calibri" pitchFamily="34" charset="0"/>
                <a:ea typeface="Calibri" pitchFamily="34" charset="-122"/>
                <a:cs typeface="Calibri" pitchFamily="34" charset="-120"/>
              </a:rPr>
              <a:t>BE (0)</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2E7D32"/>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IoT et QoS — Les objets connectes ont des besoins tres differents</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L IoT (Internet of Things) regroupe des millions d objets aux profils QoS extremement varies.</a:t>
            </a:r>
            <a:endParaRPr lang="en-US" sz="1100" dirty="0"/>
          </a:p>
        </p:txBody>
      </p:sp>
      <p:sp>
        <p:nvSpPr>
          <p:cNvPr id="6" name="Shape 4"/>
          <p:cNvSpPr/>
          <p:nvPr/>
        </p:nvSpPr>
        <p:spPr>
          <a:xfrm>
            <a:off x="256032" y="1170432"/>
            <a:ext cx="4206240" cy="1691640"/>
          </a:xfrm>
          <a:prstGeom prst="rect">
            <a:avLst/>
          </a:prstGeom>
          <a:solidFill>
            <a:srgbClr val="F5F5F5"/>
          </a:solidFill>
          <a:ln w="15240">
            <a:solidFill>
              <a:srgbClr val="C62828"/>
            </a:solidFill>
            <a:prstDash val="solid"/>
          </a:ln>
          <a:effectLst>
            <a:outerShdw blurRad="63500" dist="25400" dir="8100000" algn="bl" rotWithShape="0">
              <a:srgbClr val="000000">
                <a:alpha val="10000"/>
              </a:srgbClr>
            </a:outerShdw>
          </a:effectLst>
        </p:spPr>
      </p:sp>
      <p:sp>
        <p:nvSpPr>
          <p:cNvPr id="7" name="Shape 5"/>
          <p:cNvSpPr/>
          <p:nvPr/>
        </p:nvSpPr>
        <p:spPr>
          <a:xfrm>
            <a:off x="256032" y="1170432"/>
            <a:ext cx="4206240" cy="411480"/>
          </a:xfrm>
          <a:prstGeom prst="rect">
            <a:avLst/>
          </a:prstGeom>
          <a:solidFill>
            <a:srgbClr val="C62828"/>
          </a:solidFill>
          <a:ln/>
        </p:spPr>
      </p:sp>
      <p:sp>
        <p:nvSpPr>
          <p:cNvPr id="8" name="Text 6"/>
          <p:cNvSpPr/>
          <p:nvPr/>
        </p:nvSpPr>
        <p:spPr>
          <a:xfrm>
            <a:off x="347472" y="1170432"/>
            <a:ext cx="406908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Capteurs et actionneurs critiques</a:t>
            </a:r>
            <a:endParaRPr lang="en-US" sz="1200" dirty="0"/>
          </a:p>
        </p:txBody>
      </p:sp>
      <p:sp>
        <p:nvSpPr>
          <p:cNvPr id="9" name="Text 7"/>
          <p:cNvSpPr/>
          <p:nvPr/>
        </p:nvSpPr>
        <p:spPr>
          <a:xfrm>
            <a:off x="347472" y="1627632"/>
            <a:ext cx="4041648" cy="256032"/>
          </a:xfrm>
          <a:prstGeom prst="rect">
            <a:avLst/>
          </a:prstGeom>
          <a:noFill/>
          <a:ln/>
        </p:spPr>
        <p:txBody>
          <a:bodyPr wrap="square" rtlCol="0" anchor="ctr"/>
          <a:lstStyle/>
          <a:p>
            <a:pPr marL="0" indent="0">
              <a:buNone/>
            </a:pPr>
            <a:r>
              <a:rPr lang="en-US" sz="950" i="1" dirty="0">
                <a:solidFill>
                  <a:srgbClr val="424242"/>
                </a:solidFill>
                <a:latin typeface="Calibri" pitchFamily="34" charset="0"/>
                <a:ea typeface="Calibri" pitchFamily="34" charset="-122"/>
                <a:cs typeface="Calibri" pitchFamily="34" charset="-120"/>
              </a:rPr>
              <a:t>Ex : Robots industriels, bras de chirurgie, vehicules autonomes</a:t>
            </a:r>
            <a:endParaRPr lang="en-US" sz="950" dirty="0"/>
          </a:p>
        </p:txBody>
      </p:sp>
      <p:sp>
        <p:nvSpPr>
          <p:cNvPr id="10" name="Text 8"/>
          <p:cNvSpPr/>
          <p:nvPr/>
        </p:nvSpPr>
        <p:spPr>
          <a:xfrm>
            <a:off x="347472" y="1920240"/>
            <a:ext cx="914400" cy="237744"/>
          </a:xfrm>
          <a:prstGeom prst="rect">
            <a:avLst/>
          </a:prstGeom>
          <a:noFill/>
          <a:ln/>
        </p:spPr>
        <p:txBody>
          <a:bodyPr wrap="square" rtlCol="0" anchor="ctr"/>
          <a:lstStyle/>
          <a:p>
            <a:pPr marL="0" indent="0">
              <a:buNone/>
            </a:pPr>
            <a:r>
              <a:rPr lang="en-US" sz="1000" b="1" dirty="0">
                <a:solidFill>
                  <a:srgbClr val="C62828"/>
                </a:solidFill>
                <a:latin typeface="Calibri" pitchFamily="34" charset="0"/>
                <a:ea typeface="Calibri" pitchFamily="34" charset="-122"/>
                <a:cs typeface="Calibri" pitchFamily="34" charset="-120"/>
              </a:rPr>
              <a:t>Latence : </a:t>
            </a:r>
            <a:endParaRPr lang="en-US" sz="1000" dirty="0"/>
          </a:p>
        </p:txBody>
      </p:sp>
      <p:sp>
        <p:nvSpPr>
          <p:cNvPr id="11" name="Text 9"/>
          <p:cNvSpPr/>
          <p:nvPr/>
        </p:nvSpPr>
        <p:spPr>
          <a:xfrm>
            <a:off x="1280160" y="1920240"/>
            <a:ext cx="3090672" cy="237744"/>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&lt; 1 ms (URLLC 5G)</a:t>
            </a:r>
            <a:endParaRPr lang="en-US" sz="1000" dirty="0"/>
          </a:p>
        </p:txBody>
      </p:sp>
      <p:sp>
        <p:nvSpPr>
          <p:cNvPr id="12" name="Text 10"/>
          <p:cNvSpPr/>
          <p:nvPr/>
        </p:nvSpPr>
        <p:spPr>
          <a:xfrm>
            <a:off x="347472" y="2176272"/>
            <a:ext cx="914400" cy="237744"/>
          </a:xfrm>
          <a:prstGeom prst="rect">
            <a:avLst/>
          </a:prstGeom>
          <a:noFill/>
          <a:ln/>
        </p:spPr>
        <p:txBody>
          <a:bodyPr wrap="square" rtlCol="0" anchor="ctr"/>
          <a:lstStyle/>
          <a:p>
            <a:pPr marL="0" indent="0">
              <a:buNone/>
            </a:pPr>
            <a:r>
              <a:rPr lang="en-US" sz="1000" b="1" dirty="0">
                <a:solidFill>
                  <a:srgbClr val="C62828"/>
                </a:solidFill>
                <a:latin typeface="Calibri" pitchFamily="34" charset="0"/>
                <a:ea typeface="Calibri" pitchFamily="34" charset="-122"/>
                <a:cs typeface="Calibri" pitchFamily="34" charset="-120"/>
              </a:rPr>
              <a:t>Fiabilite : </a:t>
            </a:r>
            <a:endParaRPr lang="en-US" sz="1000" dirty="0"/>
          </a:p>
        </p:txBody>
      </p:sp>
      <p:sp>
        <p:nvSpPr>
          <p:cNvPr id="13" name="Text 11"/>
          <p:cNvSpPr/>
          <p:nvPr/>
        </p:nvSpPr>
        <p:spPr>
          <a:xfrm>
            <a:off x="1280160" y="2176272"/>
            <a:ext cx="3090672" cy="237744"/>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&gt; 99.9999%</a:t>
            </a:r>
            <a:endParaRPr lang="en-US" sz="1000" dirty="0"/>
          </a:p>
        </p:txBody>
      </p:sp>
      <p:sp>
        <p:nvSpPr>
          <p:cNvPr id="14" name="Text 12"/>
          <p:cNvSpPr/>
          <p:nvPr/>
        </p:nvSpPr>
        <p:spPr>
          <a:xfrm>
            <a:off x="347472" y="2432304"/>
            <a:ext cx="914400" cy="237744"/>
          </a:xfrm>
          <a:prstGeom prst="rect">
            <a:avLst/>
          </a:prstGeom>
          <a:noFill/>
          <a:ln/>
        </p:spPr>
        <p:txBody>
          <a:bodyPr wrap="square" rtlCol="0" anchor="ctr"/>
          <a:lstStyle/>
          <a:p>
            <a:pPr marL="0" indent="0">
              <a:buNone/>
            </a:pPr>
            <a:r>
              <a:rPr lang="en-US" sz="1000" b="1" dirty="0">
                <a:solidFill>
                  <a:srgbClr val="C62828"/>
                </a:solidFill>
                <a:latin typeface="Calibri" pitchFamily="34" charset="0"/>
                <a:ea typeface="Calibri" pitchFamily="34" charset="-122"/>
                <a:cs typeface="Calibri" pitchFamily="34" charset="-120"/>
              </a:rPr>
              <a:t>Debit : </a:t>
            </a:r>
            <a:endParaRPr lang="en-US" sz="1000" dirty="0"/>
          </a:p>
        </p:txBody>
      </p:sp>
      <p:sp>
        <p:nvSpPr>
          <p:cNvPr id="15" name="Text 13"/>
          <p:cNvSpPr/>
          <p:nvPr/>
        </p:nvSpPr>
        <p:spPr>
          <a:xfrm>
            <a:off x="1280160" y="2432304"/>
            <a:ext cx="3090672" cy="237744"/>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Tres faible</a:t>
            </a:r>
            <a:endParaRPr lang="en-US" sz="1000" dirty="0"/>
          </a:p>
        </p:txBody>
      </p:sp>
      <p:sp>
        <p:nvSpPr>
          <p:cNvPr id="16" name="Text 14"/>
          <p:cNvSpPr/>
          <p:nvPr/>
        </p:nvSpPr>
        <p:spPr>
          <a:xfrm>
            <a:off x="347472" y="2688336"/>
            <a:ext cx="4041648" cy="164592"/>
          </a:xfrm>
          <a:prstGeom prst="rect">
            <a:avLst/>
          </a:prstGeom>
          <a:noFill/>
          <a:ln/>
        </p:spPr>
        <p:txBody>
          <a:bodyPr wrap="square" rtlCol="0" anchor="ctr"/>
          <a:lstStyle/>
          <a:p>
            <a:pPr marL="0" indent="0">
              <a:buNone/>
            </a:pPr>
            <a:r>
              <a:rPr lang="en-US" sz="850" i="1" dirty="0">
                <a:solidFill>
                  <a:srgbClr val="757575"/>
                </a:solidFill>
                <a:latin typeface="Calibri" pitchFamily="34" charset="0"/>
                <a:ea typeface="Calibri" pitchFamily="34" charset="-122"/>
                <a:cs typeface="Calibri" pitchFamily="34" charset="-120"/>
              </a:rPr>
              <a:t>Protocoles : TSN (Time-Sensitive Networking), 5G URLLC</a:t>
            </a:r>
            <a:endParaRPr lang="en-US" sz="850" dirty="0"/>
          </a:p>
        </p:txBody>
      </p:sp>
      <p:sp>
        <p:nvSpPr>
          <p:cNvPr id="17" name="Shape 15"/>
          <p:cNvSpPr/>
          <p:nvPr/>
        </p:nvSpPr>
        <p:spPr>
          <a:xfrm>
            <a:off x="4718304" y="1170432"/>
            <a:ext cx="4206240" cy="1691640"/>
          </a:xfrm>
          <a:prstGeom prst="rect">
            <a:avLst/>
          </a:prstGeom>
          <a:solidFill>
            <a:srgbClr val="F5F5F5"/>
          </a:solidFill>
          <a:ln w="15240">
            <a:solidFill>
              <a:srgbClr val="E65100"/>
            </a:solidFill>
            <a:prstDash val="solid"/>
          </a:ln>
          <a:effectLst>
            <a:outerShdw blurRad="63500" dist="25400" dir="8100000" algn="bl" rotWithShape="0">
              <a:srgbClr val="000000">
                <a:alpha val="10000"/>
              </a:srgbClr>
            </a:outerShdw>
          </a:effectLst>
        </p:spPr>
      </p:sp>
      <p:sp>
        <p:nvSpPr>
          <p:cNvPr id="18" name="Shape 16"/>
          <p:cNvSpPr/>
          <p:nvPr/>
        </p:nvSpPr>
        <p:spPr>
          <a:xfrm>
            <a:off x="4718304" y="1170432"/>
            <a:ext cx="4206240" cy="411480"/>
          </a:xfrm>
          <a:prstGeom prst="rect">
            <a:avLst/>
          </a:prstGeom>
          <a:solidFill>
            <a:srgbClr val="E65100"/>
          </a:solidFill>
          <a:ln/>
        </p:spPr>
      </p:sp>
      <p:sp>
        <p:nvSpPr>
          <p:cNvPr id="19" name="Text 17"/>
          <p:cNvSpPr/>
          <p:nvPr/>
        </p:nvSpPr>
        <p:spPr>
          <a:xfrm>
            <a:off x="4809744" y="1170432"/>
            <a:ext cx="406908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Video surveillance et cameras</a:t>
            </a:r>
            <a:endParaRPr lang="en-US" sz="1200" dirty="0"/>
          </a:p>
        </p:txBody>
      </p:sp>
      <p:sp>
        <p:nvSpPr>
          <p:cNvPr id="20" name="Text 18"/>
          <p:cNvSpPr/>
          <p:nvPr/>
        </p:nvSpPr>
        <p:spPr>
          <a:xfrm>
            <a:off x="4809744" y="1627632"/>
            <a:ext cx="4041648" cy="256032"/>
          </a:xfrm>
          <a:prstGeom prst="rect">
            <a:avLst/>
          </a:prstGeom>
          <a:noFill/>
          <a:ln/>
        </p:spPr>
        <p:txBody>
          <a:bodyPr wrap="square" rtlCol="0" anchor="ctr"/>
          <a:lstStyle/>
          <a:p>
            <a:pPr marL="0" indent="0">
              <a:buNone/>
            </a:pPr>
            <a:r>
              <a:rPr lang="en-US" sz="950" i="1" dirty="0">
                <a:solidFill>
                  <a:srgbClr val="424242"/>
                </a:solidFill>
                <a:latin typeface="Calibri" pitchFamily="34" charset="0"/>
                <a:ea typeface="Calibri" pitchFamily="34" charset="-122"/>
                <a:cs typeface="Calibri" pitchFamily="34" charset="-120"/>
              </a:rPr>
              <a:t>Ex : Cameras de securite, drones, dashcams</a:t>
            </a:r>
            <a:endParaRPr lang="en-US" sz="950" dirty="0"/>
          </a:p>
        </p:txBody>
      </p:sp>
      <p:sp>
        <p:nvSpPr>
          <p:cNvPr id="21" name="Text 19"/>
          <p:cNvSpPr/>
          <p:nvPr/>
        </p:nvSpPr>
        <p:spPr>
          <a:xfrm>
            <a:off x="4809744" y="1920240"/>
            <a:ext cx="914400" cy="237744"/>
          </a:xfrm>
          <a:prstGeom prst="rect">
            <a:avLst/>
          </a:prstGeom>
          <a:noFill/>
          <a:ln/>
        </p:spPr>
        <p:txBody>
          <a:bodyPr wrap="square" rtlCol="0" anchor="ctr"/>
          <a:lstStyle/>
          <a:p>
            <a:pPr marL="0" indent="0">
              <a:buNone/>
            </a:pPr>
            <a:r>
              <a:rPr lang="en-US" sz="1000" b="1" dirty="0">
                <a:solidFill>
                  <a:srgbClr val="E65100"/>
                </a:solidFill>
                <a:latin typeface="Calibri" pitchFamily="34" charset="0"/>
                <a:ea typeface="Calibri" pitchFamily="34" charset="-122"/>
                <a:cs typeface="Calibri" pitchFamily="34" charset="-120"/>
              </a:rPr>
              <a:t>Latence : </a:t>
            </a:r>
            <a:endParaRPr lang="en-US" sz="1000" dirty="0"/>
          </a:p>
        </p:txBody>
      </p:sp>
      <p:sp>
        <p:nvSpPr>
          <p:cNvPr id="22" name="Text 20"/>
          <p:cNvSpPr/>
          <p:nvPr/>
        </p:nvSpPr>
        <p:spPr>
          <a:xfrm>
            <a:off x="5742432" y="1920240"/>
            <a:ext cx="3090672" cy="237744"/>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&lt; 500 ms</a:t>
            </a:r>
            <a:endParaRPr lang="en-US" sz="1000" dirty="0"/>
          </a:p>
        </p:txBody>
      </p:sp>
      <p:sp>
        <p:nvSpPr>
          <p:cNvPr id="23" name="Text 21"/>
          <p:cNvSpPr/>
          <p:nvPr/>
        </p:nvSpPr>
        <p:spPr>
          <a:xfrm>
            <a:off x="4809744" y="2176272"/>
            <a:ext cx="914400" cy="237744"/>
          </a:xfrm>
          <a:prstGeom prst="rect">
            <a:avLst/>
          </a:prstGeom>
          <a:noFill/>
          <a:ln/>
        </p:spPr>
        <p:txBody>
          <a:bodyPr wrap="square" rtlCol="0" anchor="ctr"/>
          <a:lstStyle/>
          <a:p>
            <a:pPr marL="0" indent="0">
              <a:buNone/>
            </a:pPr>
            <a:r>
              <a:rPr lang="en-US" sz="1000" b="1" dirty="0">
                <a:solidFill>
                  <a:srgbClr val="E65100"/>
                </a:solidFill>
                <a:latin typeface="Calibri" pitchFamily="34" charset="0"/>
                <a:ea typeface="Calibri" pitchFamily="34" charset="-122"/>
                <a:cs typeface="Calibri" pitchFamily="34" charset="-120"/>
              </a:rPr>
              <a:t>Fiabilite : </a:t>
            </a:r>
            <a:endParaRPr lang="en-US" sz="1000" dirty="0"/>
          </a:p>
        </p:txBody>
      </p:sp>
      <p:sp>
        <p:nvSpPr>
          <p:cNvPr id="24" name="Text 22"/>
          <p:cNvSpPr/>
          <p:nvPr/>
        </p:nvSpPr>
        <p:spPr>
          <a:xfrm>
            <a:off x="5742432" y="2176272"/>
            <a:ext cx="3090672" cy="237744"/>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&gt; 99%</a:t>
            </a:r>
            <a:endParaRPr lang="en-US" sz="1000" dirty="0"/>
          </a:p>
        </p:txBody>
      </p:sp>
      <p:sp>
        <p:nvSpPr>
          <p:cNvPr id="25" name="Text 23"/>
          <p:cNvSpPr/>
          <p:nvPr/>
        </p:nvSpPr>
        <p:spPr>
          <a:xfrm>
            <a:off x="4809744" y="2432304"/>
            <a:ext cx="914400" cy="237744"/>
          </a:xfrm>
          <a:prstGeom prst="rect">
            <a:avLst/>
          </a:prstGeom>
          <a:noFill/>
          <a:ln/>
        </p:spPr>
        <p:txBody>
          <a:bodyPr wrap="square" rtlCol="0" anchor="ctr"/>
          <a:lstStyle/>
          <a:p>
            <a:pPr marL="0" indent="0">
              <a:buNone/>
            </a:pPr>
            <a:r>
              <a:rPr lang="en-US" sz="1000" b="1" dirty="0">
                <a:solidFill>
                  <a:srgbClr val="E65100"/>
                </a:solidFill>
                <a:latin typeface="Calibri" pitchFamily="34" charset="0"/>
                <a:ea typeface="Calibri" pitchFamily="34" charset="-122"/>
                <a:cs typeface="Calibri" pitchFamily="34" charset="-120"/>
              </a:rPr>
              <a:t>Debit : </a:t>
            </a:r>
            <a:endParaRPr lang="en-US" sz="1000" dirty="0"/>
          </a:p>
        </p:txBody>
      </p:sp>
      <p:sp>
        <p:nvSpPr>
          <p:cNvPr id="26" name="Text 24"/>
          <p:cNvSpPr/>
          <p:nvPr/>
        </p:nvSpPr>
        <p:spPr>
          <a:xfrm>
            <a:off x="5742432" y="2432304"/>
            <a:ext cx="3090672" cy="237744"/>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1-20 Mb/s</a:t>
            </a:r>
            <a:endParaRPr lang="en-US" sz="1000" dirty="0"/>
          </a:p>
        </p:txBody>
      </p:sp>
      <p:sp>
        <p:nvSpPr>
          <p:cNvPr id="27" name="Text 25"/>
          <p:cNvSpPr/>
          <p:nvPr/>
        </p:nvSpPr>
        <p:spPr>
          <a:xfrm>
            <a:off x="4809744" y="2688336"/>
            <a:ext cx="4041648" cy="164592"/>
          </a:xfrm>
          <a:prstGeom prst="rect">
            <a:avLst/>
          </a:prstGeom>
          <a:noFill/>
          <a:ln/>
        </p:spPr>
        <p:txBody>
          <a:bodyPr wrap="square" rtlCol="0" anchor="ctr"/>
          <a:lstStyle/>
          <a:p>
            <a:pPr marL="0" indent="0">
              <a:buNone/>
            </a:pPr>
            <a:r>
              <a:rPr lang="en-US" sz="850" i="1" dirty="0">
                <a:solidFill>
                  <a:srgbClr val="757575"/>
                </a:solidFill>
                <a:latin typeface="Calibri" pitchFamily="34" charset="0"/>
                <a:ea typeface="Calibri" pitchFamily="34" charset="-122"/>
                <a:cs typeface="Calibri" pitchFamily="34" charset="-120"/>
              </a:rPr>
              <a:t>Protocoles : RTSP, H.264/H.265, Wi-Fi 6, 4G/5G</a:t>
            </a:r>
            <a:endParaRPr lang="en-US" sz="850" dirty="0"/>
          </a:p>
        </p:txBody>
      </p:sp>
      <p:sp>
        <p:nvSpPr>
          <p:cNvPr id="28" name="Shape 26"/>
          <p:cNvSpPr/>
          <p:nvPr/>
        </p:nvSpPr>
        <p:spPr>
          <a:xfrm>
            <a:off x="256032" y="2980944"/>
            <a:ext cx="4206240" cy="1691640"/>
          </a:xfrm>
          <a:prstGeom prst="rect">
            <a:avLst/>
          </a:prstGeom>
          <a:solidFill>
            <a:srgbClr val="F5F5F5"/>
          </a:solidFill>
          <a:ln w="15240">
            <a:solidFill>
              <a:srgbClr val="00796B"/>
            </a:solidFill>
            <a:prstDash val="solid"/>
          </a:ln>
          <a:effectLst>
            <a:outerShdw blurRad="63500" dist="25400" dir="8100000" algn="bl" rotWithShape="0">
              <a:srgbClr val="000000">
                <a:alpha val="10000"/>
              </a:srgbClr>
            </a:outerShdw>
          </a:effectLst>
        </p:spPr>
      </p:sp>
      <p:sp>
        <p:nvSpPr>
          <p:cNvPr id="29" name="Shape 27"/>
          <p:cNvSpPr/>
          <p:nvPr/>
        </p:nvSpPr>
        <p:spPr>
          <a:xfrm>
            <a:off x="256032" y="2980944"/>
            <a:ext cx="4206240" cy="411480"/>
          </a:xfrm>
          <a:prstGeom prst="rect">
            <a:avLst/>
          </a:prstGeom>
          <a:solidFill>
            <a:srgbClr val="00796B"/>
          </a:solidFill>
          <a:ln/>
        </p:spPr>
      </p:sp>
      <p:sp>
        <p:nvSpPr>
          <p:cNvPr id="30" name="Text 28"/>
          <p:cNvSpPr/>
          <p:nvPr/>
        </p:nvSpPr>
        <p:spPr>
          <a:xfrm>
            <a:off x="347472" y="2980944"/>
            <a:ext cx="406908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Capteurs environnementaux</a:t>
            </a:r>
            <a:endParaRPr lang="en-US" sz="1200" dirty="0"/>
          </a:p>
        </p:txBody>
      </p:sp>
      <p:sp>
        <p:nvSpPr>
          <p:cNvPr id="31" name="Text 29"/>
          <p:cNvSpPr/>
          <p:nvPr/>
        </p:nvSpPr>
        <p:spPr>
          <a:xfrm>
            <a:off x="347472" y="3438144"/>
            <a:ext cx="4041648" cy="256032"/>
          </a:xfrm>
          <a:prstGeom prst="rect">
            <a:avLst/>
          </a:prstGeom>
          <a:noFill/>
          <a:ln/>
        </p:spPr>
        <p:txBody>
          <a:bodyPr wrap="square" rtlCol="0" anchor="ctr"/>
          <a:lstStyle/>
          <a:p>
            <a:pPr marL="0" indent="0">
              <a:buNone/>
            </a:pPr>
            <a:r>
              <a:rPr lang="en-US" sz="950" i="1" dirty="0">
                <a:solidFill>
                  <a:srgbClr val="424242"/>
                </a:solidFill>
                <a:latin typeface="Calibri" pitchFamily="34" charset="0"/>
                <a:ea typeface="Calibri" pitchFamily="34" charset="-122"/>
                <a:cs typeface="Calibri" pitchFamily="34" charset="-120"/>
              </a:rPr>
              <a:t>Ex : Meteo, pollution, smart city, agriculture intelligente</a:t>
            </a:r>
            <a:endParaRPr lang="en-US" sz="950" dirty="0"/>
          </a:p>
        </p:txBody>
      </p:sp>
      <p:sp>
        <p:nvSpPr>
          <p:cNvPr id="32" name="Text 30"/>
          <p:cNvSpPr/>
          <p:nvPr/>
        </p:nvSpPr>
        <p:spPr>
          <a:xfrm>
            <a:off x="347472" y="3730752"/>
            <a:ext cx="914400" cy="237744"/>
          </a:xfrm>
          <a:prstGeom prst="rect">
            <a:avLst/>
          </a:prstGeom>
          <a:noFill/>
          <a:ln/>
        </p:spPr>
        <p:txBody>
          <a:bodyPr wrap="square" rtlCol="0" anchor="ctr"/>
          <a:lstStyle/>
          <a:p>
            <a:pPr marL="0" indent="0">
              <a:buNone/>
            </a:pPr>
            <a:r>
              <a:rPr lang="en-US" sz="1000" b="1" dirty="0">
                <a:solidFill>
                  <a:srgbClr val="00796B"/>
                </a:solidFill>
                <a:latin typeface="Calibri" pitchFamily="34" charset="0"/>
                <a:ea typeface="Calibri" pitchFamily="34" charset="-122"/>
                <a:cs typeface="Calibri" pitchFamily="34" charset="-120"/>
              </a:rPr>
              <a:t>Latence : </a:t>
            </a:r>
            <a:endParaRPr lang="en-US" sz="1000" dirty="0"/>
          </a:p>
        </p:txBody>
      </p:sp>
      <p:sp>
        <p:nvSpPr>
          <p:cNvPr id="33" name="Text 31"/>
          <p:cNvSpPr/>
          <p:nvPr/>
        </p:nvSpPr>
        <p:spPr>
          <a:xfrm>
            <a:off x="1280160" y="3730752"/>
            <a:ext cx="3090672" cy="237744"/>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&lt; 60 secondes</a:t>
            </a:r>
            <a:endParaRPr lang="en-US" sz="1000" dirty="0"/>
          </a:p>
        </p:txBody>
      </p:sp>
      <p:sp>
        <p:nvSpPr>
          <p:cNvPr id="34" name="Text 32"/>
          <p:cNvSpPr/>
          <p:nvPr/>
        </p:nvSpPr>
        <p:spPr>
          <a:xfrm>
            <a:off x="347472" y="3986784"/>
            <a:ext cx="914400" cy="237744"/>
          </a:xfrm>
          <a:prstGeom prst="rect">
            <a:avLst/>
          </a:prstGeom>
          <a:noFill/>
          <a:ln/>
        </p:spPr>
        <p:txBody>
          <a:bodyPr wrap="square" rtlCol="0" anchor="ctr"/>
          <a:lstStyle/>
          <a:p>
            <a:pPr marL="0" indent="0">
              <a:buNone/>
            </a:pPr>
            <a:r>
              <a:rPr lang="en-US" sz="1000" b="1" dirty="0">
                <a:solidFill>
                  <a:srgbClr val="00796B"/>
                </a:solidFill>
                <a:latin typeface="Calibri" pitchFamily="34" charset="0"/>
                <a:ea typeface="Calibri" pitchFamily="34" charset="-122"/>
                <a:cs typeface="Calibri" pitchFamily="34" charset="-120"/>
              </a:rPr>
              <a:t>Fiabilite : </a:t>
            </a:r>
            <a:endParaRPr lang="en-US" sz="1000" dirty="0"/>
          </a:p>
        </p:txBody>
      </p:sp>
      <p:sp>
        <p:nvSpPr>
          <p:cNvPr id="35" name="Text 33"/>
          <p:cNvSpPr/>
          <p:nvPr/>
        </p:nvSpPr>
        <p:spPr>
          <a:xfrm>
            <a:off x="1280160" y="3986784"/>
            <a:ext cx="3090672" cy="237744"/>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&gt; 90%</a:t>
            </a:r>
            <a:endParaRPr lang="en-US" sz="1000" dirty="0"/>
          </a:p>
        </p:txBody>
      </p:sp>
      <p:sp>
        <p:nvSpPr>
          <p:cNvPr id="36" name="Text 34"/>
          <p:cNvSpPr/>
          <p:nvPr/>
        </p:nvSpPr>
        <p:spPr>
          <a:xfrm>
            <a:off x="347472" y="4242816"/>
            <a:ext cx="914400" cy="237744"/>
          </a:xfrm>
          <a:prstGeom prst="rect">
            <a:avLst/>
          </a:prstGeom>
          <a:noFill/>
          <a:ln/>
        </p:spPr>
        <p:txBody>
          <a:bodyPr wrap="square" rtlCol="0" anchor="ctr"/>
          <a:lstStyle/>
          <a:p>
            <a:pPr marL="0" indent="0">
              <a:buNone/>
            </a:pPr>
            <a:r>
              <a:rPr lang="en-US" sz="1000" b="1" dirty="0">
                <a:solidFill>
                  <a:srgbClr val="00796B"/>
                </a:solidFill>
                <a:latin typeface="Calibri" pitchFamily="34" charset="0"/>
                <a:ea typeface="Calibri" pitchFamily="34" charset="-122"/>
                <a:cs typeface="Calibri" pitchFamily="34" charset="-120"/>
              </a:rPr>
              <a:t>Debit : </a:t>
            </a:r>
            <a:endParaRPr lang="en-US" sz="1000" dirty="0"/>
          </a:p>
        </p:txBody>
      </p:sp>
      <p:sp>
        <p:nvSpPr>
          <p:cNvPr id="37" name="Text 35"/>
          <p:cNvSpPr/>
          <p:nvPr/>
        </p:nvSpPr>
        <p:spPr>
          <a:xfrm>
            <a:off x="1280160" y="4242816"/>
            <a:ext cx="3090672" cy="237744"/>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Tres faible (octets/h)</a:t>
            </a:r>
            <a:endParaRPr lang="en-US" sz="1000" dirty="0"/>
          </a:p>
        </p:txBody>
      </p:sp>
      <p:sp>
        <p:nvSpPr>
          <p:cNvPr id="38" name="Text 36"/>
          <p:cNvSpPr/>
          <p:nvPr/>
        </p:nvSpPr>
        <p:spPr>
          <a:xfrm>
            <a:off x="347472" y="4498848"/>
            <a:ext cx="4041648" cy="164592"/>
          </a:xfrm>
          <a:prstGeom prst="rect">
            <a:avLst/>
          </a:prstGeom>
          <a:noFill/>
          <a:ln/>
        </p:spPr>
        <p:txBody>
          <a:bodyPr wrap="square" rtlCol="0" anchor="ctr"/>
          <a:lstStyle/>
          <a:p>
            <a:pPr marL="0" indent="0">
              <a:buNone/>
            </a:pPr>
            <a:r>
              <a:rPr lang="en-US" sz="850" i="1" dirty="0">
                <a:solidFill>
                  <a:srgbClr val="757575"/>
                </a:solidFill>
                <a:latin typeface="Calibri" pitchFamily="34" charset="0"/>
                <a:ea typeface="Calibri" pitchFamily="34" charset="-122"/>
                <a:cs typeface="Calibri" pitchFamily="34" charset="-120"/>
              </a:rPr>
              <a:t>Protocoles : LoRaWAN, NB-IoT, Zigbee, CoAP/MQTT</a:t>
            </a:r>
            <a:endParaRPr lang="en-US" sz="850" dirty="0"/>
          </a:p>
        </p:txBody>
      </p:sp>
      <p:sp>
        <p:nvSpPr>
          <p:cNvPr id="39" name="Shape 37"/>
          <p:cNvSpPr/>
          <p:nvPr/>
        </p:nvSpPr>
        <p:spPr>
          <a:xfrm>
            <a:off x="4718304" y="2980944"/>
            <a:ext cx="4206240" cy="1691640"/>
          </a:xfrm>
          <a:prstGeom prst="rect">
            <a:avLst/>
          </a:prstGeom>
          <a:solidFill>
            <a:srgbClr val="F5F5F5"/>
          </a:solidFill>
          <a:ln w="15240">
            <a:solidFill>
              <a:srgbClr val="1565C0"/>
            </a:solidFill>
            <a:prstDash val="solid"/>
          </a:ln>
          <a:effectLst>
            <a:outerShdw blurRad="63500" dist="25400" dir="8100000" algn="bl" rotWithShape="0">
              <a:srgbClr val="000000">
                <a:alpha val="10000"/>
              </a:srgbClr>
            </a:outerShdw>
          </a:effectLst>
        </p:spPr>
      </p:sp>
      <p:sp>
        <p:nvSpPr>
          <p:cNvPr id="40" name="Shape 38"/>
          <p:cNvSpPr/>
          <p:nvPr/>
        </p:nvSpPr>
        <p:spPr>
          <a:xfrm>
            <a:off x="4718304" y="2980944"/>
            <a:ext cx="4206240" cy="411480"/>
          </a:xfrm>
          <a:prstGeom prst="rect">
            <a:avLst/>
          </a:prstGeom>
          <a:solidFill>
            <a:srgbClr val="1565C0"/>
          </a:solidFill>
          <a:ln/>
        </p:spPr>
      </p:sp>
      <p:sp>
        <p:nvSpPr>
          <p:cNvPr id="41" name="Text 39"/>
          <p:cNvSpPr/>
          <p:nvPr/>
        </p:nvSpPr>
        <p:spPr>
          <a:xfrm>
            <a:off x="4809744" y="2980944"/>
            <a:ext cx="406908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Domotique et appareils menagers</a:t>
            </a:r>
            <a:endParaRPr lang="en-US" sz="1200" dirty="0"/>
          </a:p>
        </p:txBody>
      </p:sp>
      <p:sp>
        <p:nvSpPr>
          <p:cNvPr id="42" name="Text 40"/>
          <p:cNvSpPr/>
          <p:nvPr/>
        </p:nvSpPr>
        <p:spPr>
          <a:xfrm>
            <a:off x="4809744" y="3438144"/>
            <a:ext cx="4041648" cy="256032"/>
          </a:xfrm>
          <a:prstGeom prst="rect">
            <a:avLst/>
          </a:prstGeom>
          <a:noFill/>
          <a:ln/>
        </p:spPr>
        <p:txBody>
          <a:bodyPr wrap="square" rtlCol="0" anchor="ctr"/>
          <a:lstStyle/>
          <a:p>
            <a:pPr marL="0" indent="0">
              <a:buNone/>
            </a:pPr>
            <a:r>
              <a:rPr lang="en-US" sz="950" i="1" dirty="0">
                <a:solidFill>
                  <a:srgbClr val="424242"/>
                </a:solidFill>
                <a:latin typeface="Calibri" pitchFamily="34" charset="0"/>
                <a:ea typeface="Calibri" pitchFamily="34" charset="-122"/>
                <a:cs typeface="Calibri" pitchFamily="34" charset="-120"/>
              </a:rPr>
              <a:t>Ex : Refrigerateurs, thermostats, eclairage, serrures</a:t>
            </a:r>
            <a:endParaRPr lang="en-US" sz="950" dirty="0"/>
          </a:p>
        </p:txBody>
      </p:sp>
      <p:sp>
        <p:nvSpPr>
          <p:cNvPr id="43" name="Text 41"/>
          <p:cNvSpPr/>
          <p:nvPr/>
        </p:nvSpPr>
        <p:spPr>
          <a:xfrm>
            <a:off x="4809744" y="3730752"/>
            <a:ext cx="914400" cy="237744"/>
          </a:xfrm>
          <a:prstGeom prst="rect">
            <a:avLst/>
          </a:prstGeom>
          <a:noFill/>
          <a:ln/>
        </p:spPr>
        <p:txBody>
          <a:bodyPr wrap="square"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Latence : </a:t>
            </a:r>
            <a:endParaRPr lang="en-US" sz="1000" dirty="0"/>
          </a:p>
        </p:txBody>
      </p:sp>
      <p:sp>
        <p:nvSpPr>
          <p:cNvPr id="44" name="Text 42"/>
          <p:cNvSpPr/>
          <p:nvPr/>
        </p:nvSpPr>
        <p:spPr>
          <a:xfrm>
            <a:off x="5742432" y="3730752"/>
            <a:ext cx="3090672" cy="237744"/>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&lt; 2 secondes</a:t>
            </a:r>
            <a:endParaRPr lang="en-US" sz="1000" dirty="0"/>
          </a:p>
        </p:txBody>
      </p:sp>
      <p:sp>
        <p:nvSpPr>
          <p:cNvPr id="45" name="Text 43"/>
          <p:cNvSpPr/>
          <p:nvPr/>
        </p:nvSpPr>
        <p:spPr>
          <a:xfrm>
            <a:off x="4809744" y="3986784"/>
            <a:ext cx="914400" cy="237744"/>
          </a:xfrm>
          <a:prstGeom prst="rect">
            <a:avLst/>
          </a:prstGeom>
          <a:noFill/>
          <a:ln/>
        </p:spPr>
        <p:txBody>
          <a:bodyPr wrap="square"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Fiabilite : </a:t>
            </a:r>
            <a:endParaRPr lang="en-US" sz="1000" dirty="0"/>
          </a:p>
        </p:txBody>
      </p:sp>
      <p:sp>
        <p:nvSpPr>
          <p:cNvPr id="46" name="Text 44"/>
          <p:cNvSpPr/>
          <p:nvPr/>
        </p:nvSpPr>
        <p:spPr>
          <a:xfrm>
            <a:off x="5742432" y="3986784"/>
            <a:ext cx="3090672" cy="237744"/>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&gt; 95%</a:t>
            </a:r>
            <a:endParaRPr lang="en-US" sz="1000" dirty="0"/>
          </a:p>
        </p:txBody>
      </p:sp>
      <p:sp>
        <p:nvSpPr>
          <p:cNvPr id="47" name="Text 45"/>
          <p:cNvSpPr/>
          <p:nvPr/>
        </p:nvSpPr>
        <p:spPr>
          <a:xfrm>
            <a:off x="4809744" y="4242816"/>
            <a:ext cx="914400" cy="237744"/>
          </a:xfrm>
          <a:prstGeom prst="rect">
            <a:avLst/>
          </a:prstGeom>
          <a:noFill/>
          <a:ln/>
        </p:spPr>
        <p:txBody>
          <a:bodyPr wrap="square"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Debit : </a:t>
            </a:r>
            <a:endParaRPr lang="en-US" sz="1000" dirty="0"/>
          </a:p>
        </p:txBody>
      </p:sp>
      <p:sp>
        <p:nvSpPr>
          <p:cNvPr id="48" name="Text 46"/>
          <p:cNvSpPr/>
          <p:nvPr/>
        </p:nvSpPr>
        <p:spPr>
          <a:xfrm>
            <a:off x="5742432" y="4242816"/>
            <a:ext cx="3090672" cy="237744"/>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Tres faible</a:t>
            </a:r>
            <a:endParaRPr lang="en-US" sz="1000" dirty="0"/>
          </a:p>
        </p:txBody>
      </p:sp>
      <p:sp>
        <p:nvSpPr>
          <p:cNvPr id="49" name="Text 47"/>
          <p:cNvSpPr/>
          <p:nvPr/>
        </p:nvSpPr>
        <p:spPr>
          <a:xfrm>
            <a:off x="4809744" y="4498848"/>
            <a:ext cx="4041648" cy="164592"/>
          </a:xfrm>
          <a:prstGeom prst="rect">
            <a:avLst/>
          </a:prstGeom>
          <a:noFill/>
          <a:ln/>
        </p:spPr>
        <p:txBody>
          <a:bodyPr wrap="square" rtlCol="0" anchor="ctr"/>
          <a:lstStyle/>
          <a:p>
            <a:pPr marL="0" indent="0">
              <a:buNone/>
            </a:pPr>
            <a:r>
              <a:rPr lang="en-US" sz="850" i="1" dirty="0">
                <a:solidFill>
                  <a:srgbClr val="757575"/>
                </a:solidFill>
                <a:latin typeface="Calibri" pitchFamily="34" charset="0"/>
                <a:ea typeface="Calibri" pitchFamily="34" charset="-122"/>
                <a:cs typeface="Calibri" pitchFamily="34" charset="-120"/>
              </a:rPr>
              <a:t>Protocoles : Zigbee, Z-Wave, Matter, Wi-Fi 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4527A0"/>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Intelligence Artificielle et QoS — La gestion predective du reseau</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L IA revolutionne la gestion de la QoS : passer d une gestion reactive a une gestion predictive et automatisee.</a:t>
            </a:r>
            <a:endParaRPr lang="en-US" sz="1100" dirty="0"/>
          </a:p>
        </p:txBody>
      </p:sp>
      <p:sp>
        <p:nvSpPr>
          <p:cNvPr id="6" name="Shape 4"/>
          <p:cNvSpPr/>
          <p:nvPr/>
        </p:nvSpPr>
        <p:spPr>
          <a:xfrm>
            <a:off x="256032" y="1170432"/>
            <a:ext cx="4206240" cy="1691640"/>
          </a:xfrm>
          <a:prstGeom prst="rect">
            <a:avLst/>
          </a:prstGeom>
          <a:solidFill>
            <a:srgbClr val="FFFFFF"/>
          </a:solidFill>
          <a:ln w="15240">
            <a:solidFill>
              <a:srgbClr val="1565C0"/>
            </a:solidFill>
            <a:prstDash val="solid"/>
          </a:ln>
          <a:effectLst>
            <a:outerShdw blurRad="63500" dist="25400" dir="8100000" algn="bl" rotWithShape="0">
              <a:srgbClr val="000000">
                <a:alpha val="10000"/>
              </a:srgbClr>
            </a:outerShdw>
          </a:effectLst>
        </p:spPr>
      </p:sp>
      <p:sp>
        <p:nvSpPr>
          <p:cNvPr id="7" name="Shape 5"/>
          <p:cNvSpPr/>
          <p:nvPr/>
        </p:nvSpPr>
        <p:spPr>
          <a:xfrm>
            <a:off x="256032" y="1170432"/>
            <a:ext cx="4206240" cy="411480"/>
          </a:xfrm>
          <a:prstGeom prst="rect">
            <a:avLst/>
          </a:prstGeom>
          <a:solidFill>
            <a:srgbClr val="1565C0"/>
          </a:solidFill>
          <a:ln/>
        </p:spPr>
      </p:sp>
      <p:sp>
        <p:nvSpPr>
          <p:cNvPr id="8" name="Text 6"/>
          <p:cNvSpPr/>
          <p:nvPr/>
        </p:nvSpPr>
        <p:spPr>
          <a:xfrm>
            <a:off x="347472" y="1170432"/>
            <a:ext cx="406908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Prediction de congestion</a:t>
            </a:r>
            <a:endParaRPr lang="en-US" sz="1200" dirty="0"/>
          </a:p>
        </p:txBody>
      </p:sp>
      <p:sp>
        <p:nvSpPr>
          <p:cNvPr id="9" name="Text 7"/>
          <p:cNvSpPr/>
          <p:nvPr/>
        </p:nvSpPr>
        <p:spPr>
          <a:xfrm>
            <a:off x="347472" y="1627632"/>
            <a:ext cx="4041648" cy="896112"/>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Les algorithmes ML (LSTM, GRF) analysent les tendances historiques du trafic.</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Ils predisent la congestion 5-15 minutes AVANT qu elle survienne.</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Le reseau reagit preventivements : reroutage, ajustement des queues.</a:t>
            </a:r>
            <a:endParaRPr lang="en-US" sz="950" dirty="0"/>
          </a:p>
        </p:txBody>
      </p:sp>
      <p:sp>
        <p:nvSpPr>
          <p:cNvPr id="10" name="Shape 8"/>
          <p:cNvSpPr/>
          <p:nvPr/>
        </p:nvSpPr>
        <p:spPr>
          <a:xfrm>
            <a:off x="347472" y="2560320"/>
            <a:ext cx="4041648" cy="256032"/>
          </a:xfrm>
          <a:prstGeom prst="rect">
            <a:avLst/>
          </a:prstGeom>
          <a:solidFill>
            <a:srgbClr val="1565C0">
              <a:alpha val="20000"/>
            </a:srgbClr>
          </a:solidFill>
          <a:ln w="6350">
            <a:solidFill>
              <a:srgbClr val="1565C0"/>
            </a:solidFill>
            <a:prstDash val="solid"/>
          </a:ln>
        </p:spPr>
      </p:sp>
      <p:sp>
        <p:nvSpPr>
          <p:cNvPr id="11" name="Text 9"/>
          <p:cNvSpPr/>
          <p:nvPr/>
        </p:nvSpPr>
        <p:spPr>
          <a:xfrm>
            <a:off x="365760" y="2560320"/>
            <a:ext cx="4005072" cy="256032"/>
          </a:xfrm>
          <a:prstGeom prst="rect">
            <a:avLst/>
          </a:prstGeom>
          <a:noFill/>
          <a:ln/>
        </p:spPr>
        <p:txBody>
          <a:bodyPr wrap="square"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Gain : Reduction de 60-70% des episodes de congestion</a:t>
            </a:r>
            <a:endParaRPr lang="en-US" sz="1000" dirty="0"/>
          </a:p>
        </p:txBody>
      </p:sp>
      <p:sp>
        <p:nvSpPr>
          <p:cNvPr id="12" name="Shape 10"/>
          <p:cNvSpPr/>
          <p:nvPr/>
        </p:nvSpPr>
        <p:spPr>
          <a:xfrm>
            <a:off x="4718304" y="1170432"/>
            <a:ext cx="4206240" cy="1691640"/>
          </a:xfrm>
          <a:prstGeom prst="rect">
            <a:avLst/>
          </a:prstGeom>
          <a:solidFill>
            <a:srgbClr val="FFFFFF"/>
          </a:solidFill>
          <a:ln w="15240">
            <a:solidFill>
              <a:srgbClr val="00796B"/>
            </a:solidFill>
            <a:prstDash val="solid"/>
          </a:ln>
          <a:effectLst>
            <a:outerShdw blurRad="63500" dist="25400" dir="8100000" algn="bl" rotWithShape="0">
              <a:srgbClr val="000000">
                <a:alpha val="10000"/>
              </a:srgbClr>
            </a:outerShdw>
          </a:effectLst>
        </p:spPr>
      </p:sp>
      <p:sp>
        <p:nvSpPr>
          <p:cNvPr id="13" name="Shape 11"/>
          <p:cNvSpPr/>
          <p:nvPr/>
        </p:nvSpPr>
        <p:spPr>
          <a:xfrm>
            <a:off x="4718304" y="1170432"/>
            <a:ext cx="4206240" cy="411480"/>
          </a:xfrm>
          <a:prstGeom prst="rect">
            <a:avLst/>
          </a:prstGeom>
          <a:solidFill>
            <a:srgbClr val="00796B"/>
          </a:solidFill>
          <a:ln/>
        </p:spPr>
      </p:sp>
      <p:sp>
        <p:nvSpPr>
          <p:cNvPr id="14" name="Text 12"/>
          <p:cNvSpPr/>
          <p:nvPr/>
        </p:nvSpPr>
        <p:spPr>
          <a:xfrm>
            <a:off x="4809744" y="1170432"/>
            <a:ext cx="406908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Classification intelligente du trafic</a:t>
            </a:r>
            <a:endParaRPr lang="en-US" sz="1200" dirty="0"/>
          </a:p>
        </p:txBody>
      </p:sp>
      <p:sp>
        <p:nvSpPr>
          <p:cNvPr id="15" name="Text 13"/>
          <p:cNvSpPr/>
          <p:nvPr/>
        </p:nvSpPr>
        <p:spPr>
          <a:xfrm>
            <a:off x="4809744" y="1627632"/>
            <a:ext cx="4041648" cy="896112"/>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Le Deep Learning identifie les applications meme sur les flux chiffres (TLS, QUIC).</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Analyse des patterns : taille des paquets, temporalite, statistiques de flux.</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Pas besoin de DPI invasif : protection de la vie privee maintenue.</a:t>
            </a:r>
            <a:endParaRPr lang="en-US" sz="950" dirty="0"/>
          </a:p>
        </p:txBody>
      </p:sp>
      <p:sp>
        <p:nvSpPr>
          <p:cNvPr id="16" name="Shape 14"/>
          <p:cNvSpPr/>
          <p:nvPr/>
        </p:nvSpPr>
        <p:spPr>
          <a:xfrm>
            <a:off x="4809744" y="2560320"/>
            <a:ext cx="4041648" cy="256032"/>
          </a:xfrm>
          <a:prstGeom prst="rect">
            <a:avLst/>
          </a:prstGeom>
          <a:solidFill>
            <a:srgbClr val="00796B">
              <a:alpha val="20000"/>
            </a:srgbClr>
          </a:solidFill>
          <a:ln w="6350">
            <a:solidFill>
              <a:srgbClr val="00796B"/>
            </a:solidFill>
            <a:prstDash val="solid"/>
          </a:ln>
        </p:spPr>
      </p:sp>
      <p:sp>
        <p:nvSpPr>
          <p:cNvPr id="17" name="Text 15"/>
          <p:cNvSpPr/>
          <p:nvPr/>
        </p:nvSpPr>
        <p:spPr>
          <a:xfrm>
            <a:off x="4828032" y="2560320"/>
            <a:ext cx="4005072" cy="256032"/>
          </a:xfrm>
          <a:prstGeom prst="rect">
            <a:avLst/>
          </a:prstGeom>
          <a:noFill/>
          <a:ln/>
        </p:spPr>
        <p:txBody>
          <a:bodyPr wrap="square" rtlCol="0" anchor="ctr"/>
          <a:lstStyle/>
          <a:p>
            <a:pPr marL="0" indent="0">
              <a:buNone/>
            </a:pPr>
            <a:r>
              <a:rPr lang="en-US" sz="1000" b="1" dirty="0">
                <a:solidFill>
                  <a:srgbClr val="00796B"/>
                </a:solidFill>
                <a:latin typeface="Calibri" pitchFamily="34" charset="0"/>
                <a:ea typeface="Calibri" pitchFamily="34" charset="-122"/>
                <a:cs typeface="Calibri" pitchFamily="34" charset="-120"/>
              </a:rPr>
              <a:t>Gain : Precision de classification &gt; 95%</a:t>
            </a:r>
            <a:endParaRPr lang="en-US" sz="1000" dirty="0"/>
          </a:p>
        </p:txBody>
      </p:sp>
      <p:sp>
        <p:nvSpPr>
          <p:cNvPr id="18" name="Shape 16"/>
          <p:cNvSpPr/>
          <p:nvPr/>
        </p:nvSpPr>
        <p:spPr>
          <a:xfrm>
            <a:off x="256032" y="2980944"/>
            <a:ext cx="4206240" cy="1691640"/>
          </a:xfrm>
          <a:prstGeom prst="rect">
            <a:avLst/>
          </a:prstGeom>
          <a:solidFill>
            <a:srgbClr val="FFFFFF"/>
          </a:solidFill>
          <a:ln w="15240">
            <a:solidFill>
              <a:srgbClr val="E65100"/>
            </a:solidFill>
            <a:prstDash val="solid"/>
          </a:ln>
          <a:effectLst>
            <a:outerShdw blurRad="63500" dist="25400" dir="8100000" algn="bl" rotWithShape="0">
              <a:srgbClr val="000000">
                <a:alpha val="10000"/>
              </a:srgbClr>
            </a:outerShdw>
          </a:effectLst>
        </p:spPr>
      </p:sp>
      <p:sp>
        <p:nvSpPr>
          <p:cNvPr id="19" name="Shape 17"/>
          <p:cNvSpPr/>
          <p:nvPr/>
        </p:nvSpPr>
        <p:spPr>
          <a:xfrm>
            <a:off x="256032" y="2980944"/>
            <a:ext cx="4206240" cy="411480"/>
          </a:xfrm>
          <a:prstGeom prst="rect">
            <a:avLst/>
          </a:prstGeom>
          <a:solidFill>
            <a:srgbClr val="E65100"/>
          </a:solidFill>
          <a:ln/>
        </p:spPr>
      </p:sp>
      <p:sp>
        <p:nvSpPr>
          <p:cNvPr id="20" name="Text 18"/>
          <p:cNvSpPr/>
          <p:nvPr/>
        </p:nvSpPr>
        <p:spPr>
          <a:xfrm>
            <a:off x="347472" y="2980944"/>
            <a:ext cx="406908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Optimisation automatique des parametres QoS</a:t>
            </a:r>
            <a:endParaRPr lang="en-US" sz="1200" dirty="0"/>
          </a:p>
        </p:txBody>
      </p:sp>
      <p:sp>
        <p:nvSpPr>
          <p:cNvPr id="21" name="Text 19"/>
          <p:cNvSpPr/>
          <p:nvPr/>
        </p:nvSpPr>
        <p:spPr>
          <a:xfrm>
            <a:off x="347472" y="3438144"/>
            <a:ext cx="4041648" cy="896112"/>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Reinforcement Learning : l agent reseau ajuste en continu les poids WFQ,</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les seuils WRED, les priorites DSCP en fonction des metriques temps reel.</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AutoML optimise les parametres bien mieux qu un ingenieur humain.</a:t>
            </a:r>
            <a:endParaRPr lang="en-US" sz="950" dirty="0"/>
          </a:p>
        </p:txBody>
      </p:sp>
      <p:sp>
        <p:nvSpPr>
          <p:cNvPr id="22" name="Shape 20"/>
          <p:cNvSpPr/>
          <p:nvPr/>
        </p:nvSpPr>
        <p:spPr>
          <a:xfrm>
            <a:off x="347472" y="4370832"/>
            <a:ext cx="4041648" cy="256032"/>
          </a:xfrm>
          <a:prstGeom prst="rect">
            <a:avLst/>
          </a:prstGeom>
          <a:solidFill>
            <a:srgbClr val="E65100">
              <a:alpha val="20000"/>
            </a:srgbClr>
          </a:solidFill>
          <a:ln w="6350">
            <a:solidFill>
              <a:srgbClr val="E65100"/>
            </a:solidFill>
            <a:prstDash val="solid"/>
          </a:ln>
        </p:spPr>
      </p:sp>
      <p:sp>
        <p:nvSpPr>
          <p:cNvPr id="23" name="Text 21"/>
          <p:cNvSpPr/>
          <p:nvPr/>
        </p:nvSpPr>
        <p:spPr>
          <a:xfrm>
            <a:off x="365760" y="4370832"/>
            <a:ext cx="4005072" cy="256032"/>
          </a:xfrm>
          <a:prstGeom prst="rect">
            <a:avLst/>
          </a:prstGeom>
          <a:noFill/>
          <a:ln/>
        </p:spPr>
        <p:txBody>
          <a:bodyPr wrap="square" rtlCol="0" anchor="ctr"/>
          <a:lstStyle/>
          <a:p>
            <a:pPr marL="0" indent="0">
              <a:buNone/>
            </a:pPr>
            <a:r>
              <a:rPr lang="en-US" sz="1000" b="1" dirty="0">
                <a:solidFill>
                  <a:srgbClr val="E65100"/>
                </a:solidFill>
                <a:latin typeface="Calibri" pitchFamily="34" charset="0"/>
                <a:ea typeface="Calibri" pitchFamily="34" charset="-122"/>
                <a:cs typeface="Calibri" pitchFamily="34" charset="-120"/>
              </a:rPr>
              <a:t>Gain : MOS VoIP ameliore de 15-25%</a:t>
            </a:r>
            <a:endParaRPr lang="en-US" sz="1000" dirty="0"/>
          </a:p>
        </p:txBody>
      </p:sp>
      <p:sp>
        <p:nvSpPr>
          <p:cNvPr id="24" name="Shape 22"/>
          <p:cNvSpPr/>
          <p:nvPr/>
        </p:nvSpPr>
        <p:spPr>
          <a:xfrm>
            <a:off x="4718304" y="2980944"/>
            <a:ext cx="4206240" cy="1691640"/>
          </a:xfrm>
          <a:prstGeom prst="rect">
            <a:avLst/>
          </a:prstGeom>
          <a:solidFill>
            <a:srgbClr val="FFFFFF"/>
          </a:solidFill>
          <a:ln w="15240">
            <a:solidFill>
              <a:srgbClr val="C62828"/>
            </a:solidFill>
            <a:prstDash val="solid"/>
          </a:ln>
          <a:effectLst>
            <a:outerShdw blurRad="63500" dist="25400" dir="8100000" algn="bl" rotWithShape="0">
              <a:srgbClr val="000000">
                <a:alpha val="10000"/>
              </a:srgbClr>
            </a:outerShdw>
          </a:effectLst>
        </p:spPr>
      </p:sp>
      <p:sp>
        <p:nvSpPr>
          <p:cNvPr id="25" name="Shape 23"/>
          <p:cNvSpPr/>
          <p:nvPr/>
        </p:nvSpPr>
        <p:spPr>
          <a:xfrm>
            <a:off x="4718304" y="2980944"/>
            <a:ext cx="4206240" cy="411480"/>
          </a:xfrm>
          <a:prstGeom prst="rect">
            <a:avLst/>
          </a:prstGeom>
          <a:solidFill>
            <a:srgbClr val="C62828"/>
          </a:solidFill>
          <a:ln/>
        </p:spPr>
      </p:sp>
      <p:sp>
        <p:nvSpPr>
          <p:cNvPr id="26" name="Text 24"/>
          <p:cNvSpPr/>
          <p:nvPr/>
        </p:nvSpPr>
        <p:spPr>
          <a:xfrm>
            <a:off x="4809744" y="2980944"/>
            <a:ext cx="406908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Anomalie et securite QoS</a:t>
            </a:r>
            <a:endParaRPr lang="en-US" sz="1200" dirty="0"/>
          </a:p>
        </p:txBody>
      </p:sp>
      <p:sp>
        <p:nvSpPr>
          <p:cNvPr id="27" name="Text 25"/>
          <p:cNvSpPr/>
          <p:nvPr/>
        </p:nvSpPr>
        <p:spPr>
          <a:xfrm>
            <a:off x="4809744" y="3438144"/>
            <a:ext cx="4041648" cy="896112"/>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Detection des attaques DDoS en &lt; 1 seconde (ML sur graphes de flux).</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Identification des flux qui abusent de la QoS (marquage DSCP frauduleux).</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Reponse automatique : blocage, re-marquage, limitation de debit.</a:t>
            </a:r>
            <a:endParaRPr lang="en-US" sz="950" dirty="0"/>
          </a:p>
        </p:txBody>
      </p:sp>
      <p:sp>
        <p:nvSpPr>
          <p:cNvPr id="28" name="Shape 26"/>
          <p:cNvSpPr/>
          <p:nvPr/>
        </p:nvSpPr>
        <p:spPr>
          <a:xfrm>
            <a:off x="4809744" y="4370832"/>
            <a:ext cx="4041648" cy="256032"/>
          </a:xfrm>
          <a:prstGeom prst="rect">
            <a:avLst/>
          </a:prstGeom>
          <a:solidFill>
            <a:srgbClr val="C62828">
              <a:alpha val="20000"/>
            </a:srgbClr>
          </a:solidFill>
          <a:ln w="6350">
            <a:solidFill>
              <a:srgbClr val="C62828"/>
            </a:solidFill>
            <a:prstDash val="solid"/>
          </a:ln>
        </p:spPr>
      </p:sp>
      <p:sp>
        <p:nvSpPr>
          <p:cNvPr id="29" name="Text 27"/>
          <p:cNvSpPr/>
          <p:nvPr/>
        </p:nvSpPr>
        <p:spPr>
          <a:xfrm>
            <a:off x="4828032" y="4370832"/>
            <a:ext cx="4005072" cy="256032"/>
          </a:xfrm>
          <a:prstGeom prst="rect">
            <a:avLst/>
          </a:prstGeom>
          <a:noFill/>
          <a:ln/>
        </p:spPr>
        <p:txBody>
          <a:bodyPr wrap="square" rtlCol="0" anchor="ctr"/>
          <a:lstStyle/>
          <a:p>
            <a:pPr marL="0" indent="0">
              <a:buNone/>
            </a:pPr>
            <a:r>
              <a:rPr lang="en-US" sz="1000" b="1" dirty="0">
                <a:solidFill>
                  <a:srgbClr val="C62828"/>
                </a:solidFill>
                <a:latin typeface="Calibri" pitchFamily="34" charset="0"/>
                <a:ea typeface="Calibri" pitchFamily="34" charset="-122"/>
                <a:cs typeface="Calibri" pitchFamily="34" charset="-120"/>
              </a:rPr>
              <a:t>Gain : Detection DDoS 10x plus rapide</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7F17"/>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Exercices pratiques — Calculs QoS pas a pas</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56032"/>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Travaillez ces 4 exercices pour consolider les notions cles.</a:t>
            </a:r>
            <a:endParaRPr lang="en-US" sz="1100" dirty="0"/>
          </a:p>
        </p:txBody>
      </p:sp>
      <p:sp>
        <p:nvSpPr>
          <p:cNvPr id="6" name="Shape 4"/>
          <p:cNvSpPr/>
          <p:nvPr/>
        </p:nvSpPr>
        <p:spPr>
          <a:xfrm>
            <a:off x="256032" y="1143000"/>
            <a:ext cx="4206240" cy="1810512"/>
          </a:xfrm>
          <a:prstGeom prst="rect">
            <a:avLst/>
          </a:prstGeom>
          <a:solidFill>
            <a:srgbClr val="F5F5F5"/>
          </a:solidFill>
          <a:ln w="12700">
            <a:solidFill>
              <a:srgbClr val="1565C0"/>
            </a:solidFill>
            <a:prstDash val="solid"/>
          </a:ln>
          <a:effectLst>
            <a:outerShdw blurRad="63500" dist="25400" dir="8100000" algn="bl" rotWithShape="0">
              <a:srgbClr val="000000">
                <a:alpha val="10000"/>
              </a:srgbClr>
            </a:outerShdw>
          </a:effectLst>
        </p:spPr>
      </p:sp>
      <p:sp>
        <p:nvSpPr>
          <p:cNvPr id="7" name="Shape 5"/>
          <p:cNvSpPr/>
          <p:nvPr/>
        </p:nvSpPr>
        <p:spPr>
          <a:xfrm>
            <a:off x="256032" y="1143000"/>
            <a:ext cx="4206240" cy="384048"/>
          </a:xfrm>
          <a:prstGeom prst="rect">
            <a:avLst/>
          </a:prstGeom>
          <a:solidFill>
            <a:srgbClr val="1565C0"/>
          </a:solidFill>
          <a:ln/>
        </p:spPr>
      </p:sp>
      <p:sp>
        <p:nvSpPr>
          <p:cNvPr id="8" name="Text 6"/>
          <p:cNvSpPr/>
          <p:nvPr/>
        </p:nvSpPr>
        <p:spPr>
          <a:xfrm>
            <a:off x="329184" y="1143000"/>
            <a:ext cx="4078224" cy="38404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Exercice 1 — Modele M/M/1</a:t>
            </a:r>
            <a:endParaRPr lang="en-US" sz="1150" dirty="0"/>
          </a:p>
        </p:txBody>
      </p:sp>
      <p:sp>
        <p:nvSpPr>
          <p:cNvPr id="9" name="Text 7"/>
          <p:cNvSpPr/>
          <p:nvPr/>
        </p:nvSpPr>
        <p:spPr>
          <a:xfrm>
            <a:off x="347472" y="1563624"/>
            <a:ext cx="4041648" cy="530352"/>
          </a:xfrm>
          <a:prstGeom prst="rect">
            <a:avLst/>
          </a:prstGeom>
          <a:noFill/>
          <a:ln/>
        </p:spPr>
        <p:txBody>
          <a:bodyPr wrap="square" rtlCol="0" anchor="ctr"/>
          <a:lstStyle/>
          <a:p>
            <a:pPr marL="0" indent="0">
              <a:buNone/>
            </a:pPr>
            <a:r>
              <a:rPr lang="en-US" sz="900" dirty="0">
                <a:solidFill>
                  <a:srgbClr val="212121"/>
                </a:solidFill>
                <a:latin typeface="Calibri" pitchFamily="34" charset="0"/>
                <a:ea typeface="Calibri" pitchFamily="34" charset="-122"/>
                <a:cs typeface="Calibri" pitchFamily="34" charset="-120"/>
              </a:rPr>
              <a:t>Enonce : Un lien WAN reçoit en moyenne 150 paquets/s (lambda=150). Le routeur peut en traiter 200/s (mu=200). Calculez : la charge, le nombre moyen de paquets en attente, et le delai moyen.</a:t>
            </a:r>
            <a:endParaRPr lang="en-US" sz="900" dirty="0"/>
          </a:p>
        </p:txBody>
      </p:sp>
      <p:sp>
        <p:nvSpPr>
          <p:cNvPr id="10" name="Shape 8"/>
          <p:cNvSpPr/>
          <p:nvPr/>
        </p:nvSpPr>
        <p:spPr>
          <a:xfrm>
            <a:off x="329184" y="2130552"/>
            <a:ext cx="4059936" cy="530352"/>
          </a:xfrm>
          <a:prstGeom prst="rect">
            <a:avLst/>
          </a:prstGeom>
          <a:solidFill>
            <a:srgbClr val="FFFFFF"/>
          </a:solidFill>
          <a:ln w="6350">
            <a:solidFill>
              <a:srgbClr val="1565C0"/>
            </a:solidFill>
            <a:prstDash val="solid"/>
          </a:ln>
        </p:spPr>
      </p:sp>
      <p:sp>
        <p:nvSpPr>
          <p:cNvPr id="11" name="Text 9"/>
          <p:cNvSpPr/>
          <p:nvPr/>
        </p:nvSpPr>
        <p:spPr>
          <a:xfrm>
            <a:off x="384048" y="2148840"/>
            <a:ext cx="3931920" cy="493776"/>
          </a:xfrm>
          <a:prstGeom prst="rect">
            <a:avLst/>
          </a:prstGeom>
          <a:noFill/>
          <a:ln/>
        </p:spPr>
        <p:txBody>
          <a:bodyPr wrap="square" rtlCol="0" anchor="ctr"/>
          <a:lstStyle/>
          <a:p>
            <a:pPr marL="0" indent="0">
              <a:buNone/>
            </a:pPr>
            <a:r>
              <a:rPr lang="en-US" sz="850" b="1" dirty="0">
                <a:solidFill>
                  <a:srgbClr val="1565C0"/>
                </a:solidFill>
                <a:latin typeface="Calibri" pitchFamily="34" charset="0"/>
                <a:ea typeface="Calibri" pitchFamily="34" charset="-122"/>
                <a:cs typeface="Calibri" pitchFamily="34" charset="-120"/>
              </a:rPr>
              <a:t>Solution : rho = 150/200 = 0.75 (75% de charge, stable)</a:t>
            </a:r>
            <a:endParaRPr lang="en-US" sz="850" dirty="0"/>
          </a:p>
          <a:p>
            <a:pPr marL="0" indent="0">
              <a:buNone/>
            </a:pPr>
            <a:r>
              <a:rPr lang="en-US" sz="850" b="1" dirty="0">
                <a:solidFill>
                  <a:srgbClr val="1565C0"/>
                </a:solidFill>
                <a:latin typeface="Calibri" pitchFamily="34" charset="0"/>
                <a:ea typeface="Calibri" pitchFamily="34" charset="-122"/>
                <a:cs typeface="Calibri" pitchFamily="34" charset="-120"/>
              </a:rPr>
              <a:t>N = 0.75/(1-0.75) = 3 paquets dans le systeme</a:t>
            </a:r>
            <a:endParaRPr lang="en-US" sz="850" dirty="0"/>
          </a:p>
          <a:p>
            <a:pPr marL="0" indent="0">
              <a:buNone/>
            </a:pPr>
            <a:r>
              <a:rPr lang="en-US" sz="850" b="1" dirty="0">
                <a:solidFill>
                  <a:srgbClr val="1565C0"/>
                </a:solidFill>
                <a:latin typeface="Calibri" pitchFamily="34" charset="0"/>
                <a:ea typeface="Calibri" pitchFamily="34" charset="-122"/>
                <a:cs typeface="Calibri" pitchFamily="34" charset="-120"/>
              </a:rPr>
              <a:t>W = 1/(200-150) = 1/50 = 20 ms de delai moyen</a:t>
            </a:r>
            <a:endParaRPr lang="en-US" sz="850" dirty="0"/>
          </a:p>
        </p:txBody>
      </p:sp>
      <p:sp>
        <p:nvSpPr>
          <p:cNvPr id="12" name="Text 10"/>
          <p:cNvSpPr/>
          <p:nvPr/>
        </p:nvSpPr>
        <p:spPr>
          <a:xfrm>
            <a:off x="347472" y="2697480"/>
            <a:ext cx="4041648" cy="219456"/>
          </a:xfrm>
          <a:prstGeom prst="rect">
            <a:avLst/>
          </a:prstGeom>
          <a:noFill/>
          <a:ln/>
        </p:spPr>
        <p:txBody>
          <a:bodyPr wrap="square" rtlCol="0" anchor="ctr"/>
          <a:lstStyle/>
          <a:p>
            <a:pPr marL="0" indent="0">
              <a:buNone/>
            </a:pPr>
            <a:r>
              <a:rPr lang="en-US" sz="850" i="1" dirty="0">
                <a:solidFill>
                  <a:srgbClr val="757575"/>
                </a:solidFill>
                <a:latin typeface="Calibri" pitchFamily="34" charset="0"/>
                <a:ea typeface="Calibri" pitchFamily="34" charset="-122"/>
                <a:cs typeface="Calibri" pitchFamily="34" charset="-120"/>
              </a:rPr>
              <a:t>Si la charge monte a 190/s : W = 1/(200-190) = 100 ms ! La charge tue le delai.</a:t>
            </a:r>
            <a:endParaRPr lang="en-US" sz="850" dirty="0"/>
          </a:p>
        </p:txBody>
      </p:sp>
      <p:sp>
        <p:nvSpPr>
          <p:cNvPr id="13" name="Shape 11"/>
          <p:cNvSpPr/>
          <p:nvPr/>
        </p:nvSpPr>
        <p:spPr>
          <a:xfrm>
            <a:off x="4718304" y="1143000"/>
            <a:ext cx="4206240" cy="1810512"/>
          </a:xfrm>
          <a:prstGeom prst="rect">
            <a:avLst/>
          </a:prstGeom>
          <a:solidFill>
            <a:srgbClr val="F5F5F5"/>
          </a:solidFill>
          <a:ln w="12700">
            <a:solidFill>
              <a:srgbClr val="00796B"/>
            </a:solidFill>
            <a:prstDash val="solid"/>
          </a:ln>
          <a:effectLst>
            <a:outerShdw blurRad="63500" dist="25400" dir="8100000" algn="bl" rotWithShape="0">
              <a:srgbClr val="000000">
                <a:alpha val="10000"/>
              </a:srgbClr>
            </a:outerShdw>
          </a:effectLst>
        </p:spPr>
      </p:sp>
      <p:sp>
        <p:nvSpPr>
          <p:cNvPr id="14" name="Shape 12"/>
          <p:cNvSpPr/>
          <p:nvPr/>
        </p:nvSpPr>
        <p:spPr>
          <a:xfrm>
            <a:off x="4718304" y="1143000"/>
            <a:ext cx="4206240" cy="384048"/>
          </a:xfrm>
          <a:prstGeom prst="rect">
            <a:avLst/>
          </a:prstGeom>
          <a:solidFill>
            <a:srgbClr val="00796B"/>
          </a:solidFill>
          <a:ln/>
        </p:spPr>
      </p:sp>
      <p:sp>
        <p:nvSpPr>
          <p:cNvPr id="15" name="Text 13"/>
          <p:cNvSpPr/>
          <p:nvPr/>
        </p:nvSpPr>
        <p:spPr>
          <a:xfrm>
            <a:off x="4791456" y="1143000"/>
            <a:ext cx="4078224" cy="38404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Exercice 2 — Token Bucket</a:t>
            </a:r>
            <a:endParaRPr lang="en-US" sz="1150" dirty="0"/>
          </a:p>
        </p:txBody>
      </p:sp>
      <p:sp>
        <p:nvSpPr>
          <p:cNvPr id="16" name="Text 14"/>
          <p:cNvSpPr/>
          <p:nvPr/>
        </p:nvSpPr>
        <p:spPr>
          <a:xfrm>
            <a:off x="4809744" y="1563624"/>
            <a:ext cx="4041648" cy="530352"/>
          </a:xfrm>
          <a:prstGeom prst="rect">
            <a:avLst/>
          </a:prstGeom>
          <a:noFill/>
          <a:ln/>
        </p:spPr>
        <p:txBody>
          <a:bodyPr wrap="square" rtlCol="0" anchor="ctr"/>
          <a:lstStyle/>
          <a:p>
            <a:pPr marL="0" indent="0">
              <a:buNone/>
            </a:pPr>
            <a:r>
              <a:rPr lang="en-US" sz="900" dirty="0">
                <a:solidFill>
                  <a:srgbClr val="212121"/>
                </a:solidFill>
                <a:latin typeface="Calibri" pitchFamily="34" charset="0"/>
                <a:ea typeface="Calibri" pitchFamily="34" charset="-122"/>
                <a:cs typeface="Calibri" pitchFamily="34" charset="-120"/>
              </a:rPr>
              <a:t>Enonce : Contrat FAI : r=10 Mbps, b=2 Mo. L utilisateur n envoie rien pendant 3 secondes, puis veut envoyer en rafale. Quelle est la rafale maximum autorisee ?</a:t>
            </a:r>
            <a:endParaRPr lang="en-US" sz="900" dirty="0"/>
          </a:p>
        </p:txBody>
      </p:sp>
      <p:sp>
        <p:nvSpPr>
          <p:cNvPr id="17" name="Shape 15"/>
          <p:cNvSpPr/>
          <p:nvPr/>
        </p:nvSpPr>
        <p:spPr>
          <a:xfrm>
            <a:off x="4791456" y="2130552"/>
            <a:ext cx="4059936" cy="530352"/>
          </a:xfrm>
          <a:prstGeom prst="rect">
            <a:avLst/>
          </a:prstGeom>
          <a:solidFill>
            <a:srgbClr val="FFFFFF"/>
          </a:solidFill>
          <a:ln w="6350">
            <a:solidFill>
              <a:srgbClr val="00796B"/>
            </a:solidFill>
            <a:prstDash val="solid"/>
          </a:ln>
        </p:spPr>
      </p:sp>
      <p:sp>
        <p:nvSpPr>
          <p:cNvPr id="18" name="Text 16"/>
          <p:cNvSpPr/>
          <p:nvPr/>
        </p:nvSpPr>
        <p:spPr>
          <a:xfrm>
            <a:off x="4846320" y="2148840"/>
            <a:ext cx="3931920" cy="493776"/>
          </a:xfrm>
          <a:prstGeom prst="rect">
            <a:avLst/>
          </a:prstGeom>
          <a:noFill/>
          <a:ln/>
        </p:spPr>
        <p:txBody>
          <a:bodyPr wrap="square" rtlCol="0" anchor="ctr"/>
          <a:lstStyle/>
          <a:p>
            <a:pPr marL="0" indent="0">
              <a:buNone/>
            </a:pPr>
            <a:r>
              <a:rPr lang="en-US" sz="850" b="1" dirty="0">
                <a:solidFill>
                  <a:srgbClr val="00796B"/>
                </a:solidFill>
                <a:latin typeface="Calibri" pitchFamily="34" charset="0"/>
                <a:ea typeface="Calibri" pitchFamily="34" charset="-122"/>
                <a:cs typeface="Calibri" pitchFamily="34" charset="-120"/>
              </a:rPr>
              <a:t>Solution : Jetons accumules = min(b, r x t) = min(2 Mo, 10 Mbps x 3s)</a:t>
            </a:r>
            <a:endParaRPr lang="en-US" sz="850" dirty="0"/>
          </a:p>
          <a:p>
            <a:pPr marL="0" indent="0">
              <a:buNone/>
            </a:pPr>
            <a:r>
              <a:rPr lang="en-US" sz="850" b="1" dirty="0">
                <a:solidFill>
                  <a:srgbClr val="00796B"/>
                </a:solidFill>
                <a:latin typeface="Calibri" pitchFamily="34" charset="0"/>
                <a:ea typeface="Calibri" pitchFamily="34" charset="-122"/>
                <a:cs typeface="Calibri" pitchFamily="34" charset="-120"/>
              </a:rPr>
              <a:t>= min(2 Mo, 3.75 Mo) = 2 Mo (plafonne a b)</a:t>
            </a:r>
            <a:endParaRPr lang="en-US" sz="850" dirty="0"/>
          </a:p>
          <a:p>
            <a:pPr marL="0" indent="0">
              <a:buNone/>
            </a:pPr>
            <a:r>
              <a:rPr lang="en-US" sz="850" b="1" dirty="0">
                <a:solidFill>
                  <a:srgbClr val="00796B"/>
                </a:solidFill>
                <a:latin typeface="Calibri" pitchFamily="34" charset="0"/>
                <a:ea typeface="Calibri" pitchFamily="34" charset="-122"/>
                <a:cs typeface="Calibri" pitchFamily="34" charset="-120"/>
              </a:rPr>
              <a:t>Rafale max = 2 Mo = 16 Mb envoyables immediatement</a:t>
            </a:r>
            <a:endParaRPr lang="en-US" sz="850" dirty="0"/>
          </a:p>
        </p:txBody>
      </p:sp>
      <p:sp>
        <p:nvSpPr>
          <p:cNvPr id="19" name="Text 17"/>
          <p:cNvSpPr/>
          <p:nvPr/>
        </p:nvSpPr>
        <p:spPr>
          <a:xfrm>
            <a:off x="4809744" y="2697480"/>
            <a:ext cx="4041648" cy="219456"/>
          </a:xfrm>
          <a:prstGeom prst="rect">
            <a:avLst/>
          </a:prstGeom>
          <a:noFill/>
          <a:ln/>
        </p:spPr>
        <p:txBody>
          <a:bodyPr wrap="square" rtlCol="0" anchor="ctr"/>
          <a:lstStyle/>
          <a:p>
            <a:pPr marL="0" indent="0">
              <a:buNone/>
            </a:pPr>
            <a:r>
              <a:rPr lang="en-US" sz="850" i="1" dirty="0">
                <a:solidFill>
                  <a:srgbClr val="757575"/>
                </a:solidFill>
                <a:latin typeface="Calibri" pitchFamily="34" charset="0"/>
                <a:ea typeface="Calibri" pitchFamily="34" charset="-122"/>
                <a:cs typeface="Calibri" pitchFamily="34" charset="-120"/>
              </a:rPr>
              <a:t>Si idle = 1s : jetons = min(2 Mo, 1.25 Mo) = 1.25 Mo de rafale max.</a:t>
            </a:r>
            <a:endParaRPr lang="en-US" sz="850" dirty="0"/>
          </a:p>
        </p:txBody>
      </p:sp>
      <p:sp>
        <p:nvSpPr>
          <p:cNvPr id="20" name="Shape 18"/>
          <p:cNvSpPr/>
          <p:nvPr/>
        </p:nvSpPr>
        <p:spPr>
          <a:xfrm>
            <a:off x="256032" y="3063240"/>
            <a:ext cx="4206240" cy="1810512"/>
          </a:xfrm>
          <a:prstGeom prst="rect">
            <a:avLst/>
          </a:prstGeom>
          <a:solidFill>
            <a:srgbClr val="F5F5F5"/>
          </a:solidFill>
          <a:ln w="12700">
            <a:solidFill>
              <a:srgbClr val="E65100"/>
            </a:solidFill>
            <a:prstDash val="solid"/>
          </a:ln>
          <a:effectLst>
            <a:outerShdw blurRad="63500" dist="25400" dir="8100000" algn="bl" rotWithShape="0">
              <a:srgbClr val="000000">
                <a:alpha val="10000"/>
              </a:srgbClr>
            </a:outerShdw>
          </a:effectLst>
        </p:spPr>
      </p:sp>
      <p:sp>
        <p:nvSpPr>
          <p:cNvPr id="21" name="Shape 19"/>
          <p:cNvSpPr/>
          <p:nvPr/>
        </p:nvSpPr>
        <p:spPr>
          <a:xfrm>
            <a:off x="256032" y="3063240"/>
            <a:ext cx="4206240" cy="384048"/>
          </a:xfrm>
          <a:prstGeom prst="rect">
            <a:avLst/>
          </a:prstGeom>
          <a:solidFill>
            <a:srgbClr val="E65100"/>
          </a:solidFill>
          <a:ln/>
        </p:spPr>
      </p:sp>
      <p:sp>
        <p:nvSpPr>
          <p:cNvPr id="22" name="Text 20"/>
          <p:cNvSpPr/>
          <p:nvPr/>
        </p:nvSpPr>
        <p:spPr>
          <a:xfrm>
            <a:off x="329184" y="3063240"/>
            <a:ext cx="4078224" cy="38404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Exercice 3 — Bande passante VoIP</a:t>
            </a:r>
            <a:endParaRPr lang="en-US" sz="1150" dirty="0"/>
          </a:p>
        </p:txBody>
      </p:sp>
      <p:sp>
        <p:nvSpPr>
          <p:cNvPr id="23" name="Text 21"/>
          <p:cNvSpPr/>
          <p:nvPr/>
        </p:nvSpPr>
        <p:spPr>
          <a:xfrm>
            <a:off x="347472" y="3483864"/>
            <a:ext cx="4041648" cy="530352"/>
          </a:xfrm>
          <a:prstGeom prst="rect">
            <a:avLst/>
          </a:prstGeom>
          <a:noFill/>
          <a:ln/>
        </p:spPr>
        <p:txBody>
          <a:bodyPr wrap="square" rtlCol="0" anchor="ctr"/>
          <a:lstStyle/>
          <a:p>
            <a:pPr marL="0" indent="0">
              <a:buNone/>
            </a:pPr>
            <a:r>
              <a:rPr lang="en-US" sz="900" dirty="0">
                <a:solidFill>
                  <a:srgbClr val="212121"/>
                </a:solidFill>
                <a:latin typeface="Calibri" pitchFamily="34" charset="0"/>
                <a:ea typeface="Calibri" pitchFamily="34" charset="-122"/>
                <a:cs typeface="Calibri" pitchFamily="34" charset="-120"/>
              </a:rPr>
              <a:t>Enonce : Une entreprise veut deployer 20 appels VoIP G.711 simultanes sur son lien WAN. Calculez la bande passante necessaire en incluant les en-tetes RTP/UDP/IP.</a:t>
            </a:r>
            <a:endParaRPr lang="en-US" sz="900" dirty="0"/>
          </a:p>
        </p:txBody>
      </p:sp>
      <p:sp>
        <p:nvSpPr>
          <p:cNvPr id="24" name="Shape 22"/>
          <p:cNvSpPr/>
          <p:nvPr/>
        </p:nvSpPr>
        <p:spPr>
          <a:xfrm>
            <a:off x="329184" y="4050792"/>
            <a:ext cx="4059936" cy="530352"/>
          </a:xfrm>
          <a:prstGeom prst="rect">
            <a:avLst/>
          </a:prstGeom>
          <a:solidFill>
            <a:srgbClr val="FFFFFF"/>
          </a:solidFill>
          <a:ln w="6350">
            <a:solidFill>
              <a:srgbClr val="E65100"/>
            </a:solidFill>
            <a:prstDash val="solid"/>
          </a:ln>
        </p:spPr>
      </p:sp>
      <p:sp>
        <p:nvSpPr>
          <p:cNvPr id="25" name="Text 23"/>
          <p:cNvSpPr/>
          <p:nvPr/>
        </p:nvSpPr>
        <p:spPr>
          <a:xfrm>
            <a:off x="384048" y="4069080"/>
            <a:ext cx="3931920" cy="493776"/>
          </a:xfrm>
          <a:prstGeom prst="rect">
            <a:avLst/>
          </a:prstGeom>
          <a:noFill/>
          <a:ln/>
        </p:spPr>
        <p:txBody>
          <a:bodyPr wrap="square" rtlCol="0" anchor="ctr"/>
          <a:lstStyle/>
          <a:p>
            <a:pPr marL="0" indent="0">
              <a:buNone/>
            </a:pPr>
            <a:r>
              <a:rPr lang="en-US" sz="850" b="1" dirty="0">
                <a:solidFill>
                  <a:srgbClr val="E65100"/>
                </a:solidFill>
                <a:latin typeface="Calibri" pitchFamily="34" charset="0"/>
                <a:ea typeface="Calibri" pitchFamily="34" charset="-122"/>
                <a:cs typeface="Calibri" pitchFamily="34" charset="-120"/>
              </a:rPr>
              <a:t>Solution : G.711 : payload = 64 kb/s. Paquets de 20ms = 50 paquets/s.</a:t>
            </a:r>
            <a:endParaRPr lang="en-US" sz="850" dirty="0"/>
          </a:p>
          <a:p>
            <a:pPr marL="0" indent="0">
              <a:buNone/>
            </a:pPr>
            <a:r>
              <a:rPr lang="en-US" sz="850" b="1" dirty="0">
                <a:solidFill>
                  <a:srgbClr val="E65100"/>
                </a:solidFill>
                <a:latin typeface="Calibri" pitchFamily="34" charset="0"/>
                <a:ea typeface="Calibri" pitchFamily="34" charset="-122"/>
                <a:cs typeface="Calibri" pitchFamily="34" charset="-120"/>
              </a:rPr>
              <a:t>Taille paquet audio = 64000/50 = 160 octets de payload.</a:t>
            </a:r>
            <a:endParaRPr lang="en-US" sz="850" dirty="0"/>
          </a:p>
          <a:p>
            <a:pPr marL="0" indent="0">
              <a:buNone/>
            </a:pPr>
            <a:r>
              <a:rPr lang="en-US" sz="850" b="1" dirty="0">
                <a:solidFill>
                  <a:srgbClr val="E65100"/>
                </a:solidFill>
                <a:latin typeface="Calibri" pitchFamily="34" charset="0"/>
                <a:ea typeface="Calibri" pitchFamily="34" charset="-122"/>
                <a:cs typeface="Calibri" pitchFamily="34" charset="-120"/>
              </a:rPr>
              <a:t>En-tetes : IP(20) + UDP(8) + RTP(12) = 40 octets par paquet.</a:t>
            </a:r>
            <a:endParaRPr lang="en-US" sz="850" dirty="0"/>
          </a:p>
          <a:p>
            <a:pPr marL="0" indent="0">
              <a:buNone/>
            </a:pPr>
            <a:r>
              <a:rPr lang="en-US" sz="850" b="1" dirty="0">
                <a:solidFill>
                  <a:srgbClr val="E65100"/>
                </a:solidFill>
                <a:latin typeface="Calibri" pitchFamily="34" charset="0"/>
                <a:ea typeface="Calibri" pitchFamily="34" charset="-122"/>
                <a:cs typeface="Calibri" pitchFamily="34" charset="-120"/>
              </a:rPr>
              <a:t>Debit total par appel = (160+40) octets x 50/s = 80 kb/s.</a:t>
            </a:r>
            <a:endParaRPr lang="en-US" sz="850" dirty="0"/>
          </a:p>
          <a:p>
            <a:pPr marL="0" indent="0">
              <a:buNone/>
            </a:pPr>
            <a:r>
              <a:rPr lang="en-US" sz="850" b="1" dirty="0">
                <a:solidFill>
                  <a:srgbClr val="E65100"/>
                </a:solidFill>
                <a:latin typeface="Calibri" pitchFamily="34" charset="0"/>
                <a:ea typeface="Calibri" pitchFamily="34" charset="-122"/>
                <a:cs typeface="Calibri" pitchFamily="34" charset="-120"/>
              </a:rPr>
              <a:t>20 appels x 80 kb/s x 2 sens = 3.2 Mb/s minimum.</a:t>
            </a:r>
            <a:endParaRPr lang="en-US" sz="850" dirty="0"/>
          </a:p>
          <a:p>
            <a:pPr marL="0" indent="0">
              <a:buNone/>
            </a:pPr>
            <a:r>
              <a:rPr lang="en-US" sz="850" b="1" dirty="0">
                <a:solidFill>
                  <a:srgbClr val="E65100"/>
                </a:solidFill>
                <a:latin typeface="Calibri" pitchFamily="34" charset="0"/>
                <a:ea typeface="Calibri" pitchFamily="34" charset="-122"/>
                <a:cs typeface="Calibri" pitchFamily="34" charset="-120"/>
              </a:rPr>
              <a:t>Avec marge 20% : 3.84 Mb/s a reserver.</a:t>
            </a:r>
            <a:endParaRPr lang="en-US" sz="850" dirty="0"/>
          </a:p>
        </p:txBody>
      </p:sp>
      <p:sp>
        <p:nvSpPr>
          <p:cNvPr id="26" name="Text 24"/>
          <p:cNvSpPr/>
          <p:nvPr/>
        </p:nvSpPr>
        <p:spPr>
          <a:xfrm>
            <a:off x="347472" y="4617720"/>
            <a:ext cx="4041648" cy="219456"/>
          </a:xfrm>
          <a:prstGeom prst="rect">
            <a:avLst/>
          </a:prstGeom>
          <a:noFill/>
          <a:ln/>
        </p:spPr>
        <p:txBody>
          <a:bodyPr wrap="square" rtlCol="0" anchor="ctr"/>
          <a:lstStyle/>
          <a:p>
            <a:pPr marL="0" indent="0">
              <a:buNone/>
            </a:pPr>
            <a:r>
              <a:rPr lang="en-US" sz="850" i="1" dirty="0">
                <a:solidFill>
                  <a:srgbClr val="757575"/>
                </a:solidFill>
                <a:latin typeface="Calibri" pitchFamily="34" charset="0"/>
                <a:ea typeface="Calibri" pitchFamily="34" charset="-122"/>
                <a:cs typeface="Calibri" pitchFamily="34" charset="-120"/>
              </a:rPr>
              <a:t>Ne pas oublier que les appels sont bidirectionnels (x2) !</a:t>
            </a:r>
            <a:endParaRPr lang="en-US" sz="850" dirty="0"/>
          </a:p>
        </p:txBody>
      </p:sp>
      <p:sp>
        <p:nvSpPr>
          <p:cNvPr id="27" name="Shape 25"/>
          <p:cNvSpPr/>
          <p:nvPr/>
        </p:nvSpPr>
        <p:spPr>
          <a:xfrm>
            <a:off x="4718304" y="3063240"/>
            <a:ext cx="4206240" cy="1810512"/>
          </a:xfrm>
          <a:prstGeom prst="rect">
            <a:avLst/>
          </a:prstGeom>
          <a:solidFill>
            <a:srgbClr val="F5F5F5"/>
          </a:solidFill>
          <a:ln w="12700">
            <a:solidFill>
              <a:srgbClr val="C62828"/>
            </a:solidFill>
            <a:prstDash val="solid"/>
          </a:ln>
          <a:effectLst>
            <a:outerShdw blurRad="63500" dist="25400" dir="8100000" algn="bl" rotWithShape="0">
              <a:srgbClr val="000000">
                <a:alpha val="10000"/>
              </a:srgbClr>
            </a:outerShdw>
          </a:effectLst>
        </p:spPr>
      </p:sp>
      <p:sp>
        <p:nvSpPr>
          <p:cNvPr id="28" name="Shape 26"/>
          <p:cNvSpPr/>
          <p:nvPr/>
        </p:nvSpPr>
        <p:spPr>
          <a:xfrm>
            <a:off x="4718304" y="3063240"/>
            <a:ext cx="4206240" cy="384048"/>
          </a:xfrm>
          <a:prstGeom prst="rect">
            <a:avLst/>
          </a:prstGeom>
          <a:solidFill>
            <a:srgbClr val="C62828"/>
          </a:solidFill>
          <a:ln/>
        </p:spPr>
      </p:sp>
      <p:sp>
        <p:nvSpPr>
          <p:cNvPr id="29" name="Text 27"/>
          <p:cNvSpPr/>
          <p:nvPr/>
        </p:nvSpPr>
        <p:spPr>
          <a:xfrm>
            <a:off x="4791456" y="3063240"/>
            <a:ext cx="4078224" cy="38404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Exercice 4 — MOS estime</a:t>
            </a:r>
            <a:endParaRPr lang="en-US" sz="1150" dirty="0"/>
          </a:p>
        </p:txBody>
      </p:sp>
      <p:sp>
        <p:nvSpPr>
          <p:cNvPr id="30" name="Text 28"/>
          <p:cNvSpPr/>
          <p:nvPr/>
        </p:nvSpPr>
        <p:spPr>
          <a:xfrm>
            <a:off x="4809744" y="3483864"/>
            <a:ext cx="4041648" cy="530352"/>
          </a:xfrm>
          <a:prstGeom prst="rect">
            <a:avLst/>
          </a:prstGeom>
          <a:noFill/>
          <a:ln/>
        </p:spPr>
        <p:txBody>
          <a:bodyPr wrap="square" rtlCol="0" anchor="ctr"/>
          <a:lstStyle/>
          <a:p>
            <a:pPr marL="0" indent="0">
              <a:buNone/>
            </a:pPr>
            <a:r>
              <a:rPr lang="en-US" sz="900" dirty="0">
                <a:solidFill>
                  <a:srgbClr val="212121"/>
                </a:solidFill>
                <a:latin typeface="Calibri" pitchFamily="34" charset="0"/>
                <a:ea typeface="Calibri" pitchFamily="34" charset="-122"/>
                <a:cs typeface="Calibri" pitchFamily="34" charset="-120"/>
              </a:rPr>
              <a:t>Enonce : Un appel VoIP presente : delai=120ms, gigue=25ms, perte=2%. Estimez le MOS avec la formule simplifiee et evaluez si cet appel est acceptable.</a:t>
            </a:r>
            <a:endParaRPr lang="en-US" sz="900" dirty="0"/>
          </a:p>
        </p:txBody>
      </p:sp>
      <p:sp>
        <p:nvSpPr>
          <p:cNvPr id="31" name="Shape 29"/>
          <p:cNvSpPr/>
          <p:nvPr/>
        </p:nvSpPr>
        <p:spPr>
          <a:xfrm>
            <a:off x="4791456" y="4050792"/>
            <a:ext cx="4059936" cy="530352"/>
          </a:xfrm>
          <a:prstGeom prst="rect">
            <a:avLst/>
          </a:prstGeom>
          <a:solidFill>
            <a:srgbClr val="FFFFFF"/>
          </a:solidFill>
          <a:ln w="6350">
            <a:solidFill>
              <a:srgbClr val="C62828"/>
            </a:solidFill>
            <a:prstDash val="solid"/>
          </a:ln>
        </p:spPr>
      </p:sp>
      <p:sp>
        <p:nvSpPr>
          <p:cNvPr id="32" name="Text 30"/>
          <p:cNvSpPr/>
          <p:nvPr/>
        </p:nvSpPr>
        <p:spPr>
          <a:xfrm>
            <a:off x="4846320" y="4069080"/>
            <a:ext cx="3931920" cy="493776"/>
          </a:xfrm>
          <a:prstGeom prst="rect">
            <a:avLst/>
          </a:prstGeom>
          <a:noFill/>
          <a:ln/>
        </p:spPr>
        <p:txBody>
          <a:bodyPr wrap="square" rtlCol="0" anchor="ctr"/>
          <a:lstStyle/>
          <a:p>
            <a:pPr marL="0" indent="0">
              <a:buNone/>
            </a:pPr>
            <a:r>
              <a:rPr lang="en-US" sz="850" b="1" dirty="0">
                <a:solidFill>
                  <a:srgbClr val="C62828"/>
                </a:solidFill>
                <a:latin typeface="Calibri" pitchFamily="34" charset="0"/>
                <a:ea typeface="Calibri" pitchFamily="34" charset="-122"/>
                <a:cs typeface="Calibri" pitchFamily="34" charset="-120"/>
              </a:rPr>
              <a:t>Solution : MOS ≈ 4.5 - 0.01 x 120 - 0.2 x 2 - facteur_gigue</a:t>
            </a:r>
            <a:endParaRPr lang="en-US" sz="850" dirty="0"/>
          </a:p>
          <a:p>
            <a:pPr marL="0" indent="0">
              <a:buNone/>
            </a:pPr>
            <a:r>
              <a:rPr lang="en-US" sz="850" b="1" dirty="0">
                <a:solidFill>
                  <a:srgbClr val="C62828"/>
                </a:solidFill>
                <a:latin typeface="Calibri" pitchFamily="34" charset="0"/>
                <a:ea typeface="Calibri" pitchFamily="34" charset="-122"/>
                <a:cs typeface="Calibri" pitchFamily="34" charset="-120"/>
              </a:rPr>
              <a:t>= 4.5 - 1.2 - 0.4 - 0.2 ≈ 2.7</a:t>
            </a:r>
            <a:endParaRPr lang="en-US" sz="850" dirty="0"/>
          </a:p>
          <a:p>
            <a:pPr marL="0" indent="0">
              <a:buNone/>
            </a:pPr>
            <a:r>
              <a:rPr lang="en-US" sz="850" b="1" dirty="0">
                <a:solidFill>
                  <a:srgbClr val="C62828"/>
                </a:solidFill>
                <a:latin typeface="Calibri" pitchFamily="34" charset="0"/>
                <a:ea typeface="Calibri" pitchFamily="34" charset="-122"/>
                <a:cs typeface="Calibri" pitchFamily="34" charset="-120"/>
              </a:rPr>
              <a:t>MOS 2.7 = mauvais. L appel est difficile mais possible.</a:t>
            </a:r>
            <a:endParaRPr lang="en-US" sz="850" dirty="0"/>
          </a:p>
        </p:txBody>
      </p:sp>
      <p:sp>
        <p:nvSpPr>
          <p:cNvPr id="33" name="Text 31"/>
          <p:cNvSpPr/>
          <p:nvPr/>
        </p:nvSpPr>
        <p:spPr>
          <a:xfrm>
            <a:off x="4809744" y="4617720"/>
            <a:ext cx="4041648" cy="219456"/>
          </a:xfrm>
          <a:prstGeom prst="rect">
            <a:avLst/>
          </a:prstGeom>
          <a:noFill/>
          <a:ln/>
        </p:spPr>
        <p:txBody>
          <a:bodyPr wrap="square" rtlCol="0" anchor="ctr"/>
          <a:lstStyle/>
          <a:p>
            <a:pPr marL="0" indent="0">
              <a:buNone/>
            </a:pPr>
            <a:r>
              <a:rPr lang="en-US" sz="850" i="1" dirty="0">
                <a:solidFill>
                  <a:srgbClr val="757575"/>
                </a:solidFill>
                <a:latin typeface="Calibri" pitchFamily="34" charset="0"/>
                <a:ea typeface="Calibri" pitchFamily="34" charset="-122"/>
                <a:cs typeface="Calibri" pitchFamily="34" charset="-120"/>
              </a:rPr>
              <a:t>Pour obtenir MOS &gt; 3.5 : il faudrait delai &lt; 80ms ET perte &lt; 1%.</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796B"/>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Configuration Cisco IOS — DiffServ et QoS en pratique</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74320"/>
          </a:xfrm>
          <a:prstGeom prst="rect">
            <a:avLst/>
          </a:prstGeom>
          <a:noFill/>
          <a:ln/>
        </p:spPr>
        <p:txBody>
          <a:bodyPr wrap="square" rtlCol="0" anchor="ctr"/>
          <a:lstStyle/>
          <a:p>
            <a:pPr marL="0" indent="0">
              <a:buNone/>
            </a:pPr>
            <a:r>
              <a:rPr lang="en-US" sz="1100" i="1" dirty="0">
                <a:solidFill>
                  <a:srgbClr val="BDBDBD"/>
                </a:solidFill>
                <a:latin typeface="Calibri" pitchFamily="34" charset="0"/>
                <a:ea typeface="Calibri" pitchFamily="34" charset="-122"/>
                <a:cs typeface="Calibri" pitchFamily="34" charset="-120"/>
              </a:rPr>
              <a:t>Voici comment configurer une politique QoS DiffServ complete sur un routeur Cisco IOS.</a:t>
            </a:r>
            <a:endParaRPr lang="en-US" sz="1100" dirty="0"/>
          </a:p>
        </p:txBody>
      </p:sp>
      <p:sp>
        <p:nvSpPr>
          <p:cNvPr id="6" name="Shape 4"/>
          <p:cNvSpPr/>
          <p:nvPr/>
        </p:nvSpPr>
        <p:spPr>
          <a:xfrm>
            <a:off x="256032" y="1170432"/>
            <a:ext cx="8631936" cy="1170432"/>
          </a:xfrm>
          <a:prstGeom prst="rect">
            <a:avLst/>
          </a:prstGeom>
          <a:solidFill>
            <a:srgbClr val="0D2B45"/>
          </a:solidFill>
          <a:ln w="12700">
            <a:solidFill>
              <a:srgbClr val="1565C0"/>
            </a:solidFill>
            <a:prstDash val="solid"/>
          </a:ln>
        </p:spPr>
      </p:sp>
      <p:sp>
        <p:nvSpPr>
          <p:cNvPr id="7" name="Shape 5"/>
          <p:cNvSpPr/>
          <p:nvPr/>
        </p:nvSpPr>
        <p:spPr>
          <a:xfrm>
            <a:off x="256032" y="1170432"/>
            <a:ext cx="8631936" cy="347472"/>
          </a:xfrm>
          <a:prstGeom prst="rect">
            <a:avLst/>
          </a:prstGeom>
          <a:solidFill>
            <a:srgbClr val="1565C0"/>
          </a:solidFill>
          <a:ln/>
        </p:spPr>
      </p:sp>
      <p:sp>
        <p:nvSpPr>
          <p:cNvPr id="8" name="Text 6"/>
          <p:cNvSpPr/>
          <p:nvPr/>
        </p:nvSpPr>
        <p:spPr>
          <a:xfrm>
            <a:off x="365760" y="1170432"/>
            <a:ext cx="841248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Etape 1 — Creer les class-maps (classification)</a:t>
            </a:r>
            <a:endParaRPr lang="en-US" sz="1200" dirty="0"/>
          </a:p>
        </p:txBody>
      </p:sp>
      <p:sp>
        <p:nvSpPr>
          <p:cNvPr id="9" name="Text 7"/>
          <p:cNvSpPr/>
          <p:nvPr/>
        </p:nvSpPr>
        <p:spPr>
          <a:xfrm>
            <a:off x="365760" y="1554480"/>
            <a:ext cx="8321040" cy="749808"/>
          </a:xfrm>
          <a:prstGeom prst="rect">
            <a:avLst/>
          </a:prstGeom>
          <a:noFill/>
          <a:ln/>
        </p:spPr>
        <p:txBody>
          <a:bodyPr wrap="square" rtlCol="0" anchor="ctr"/>
          <a:lstStyle/>
          <a:p>
            <a:pPr marL="0" indent="0">
              <a:buNone/>
            </a:pPr>
            <a:r>
              <a:rPr lang="en-US" sz="950" dirty="0">
                <a:solidFill>
                  <a:srgbClr val="B2EBF2"/>
                </a:solidFill>
                <a:latin typeface="Courier New" pitchFamily="34" charset="0"/>
                <a:ea typeface="Courier New" pitchFamily="34" charset="-122"/>
                <a:cs typeface="Courier New" pitchFamily="34" charset="-120"/>
              </a:rPr>
              <a:t>class-map match-any VOIX</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match dscp ef</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class-map match-any VIDEO</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match dscp af41</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class-map match-any CRITIQUE</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match dscp af21 af22</a:t>
            </a:r>
            <a:endParaRPr lang="en-US" sz="950" dirty="0"/>
          </a:p>
        </p:txBody>
      </p:sp>
      <p:sp>
        <p:nvSpPr>
          <p:cNvPr id="10" name="Shape 8"/>
          <p:cNvSpPr/>
          <p:nvPr/>
        </p:nvSpPr>
        <p:spPr>
          <a:xfrm>
            <a:off x="256032" y="2432304"/>
            <a:ext cx="8631936" cy="1170432"/>
          </a:xfrm>
          <a:prstGeom prst="rect">
            <a:avLst/>
          </a:prstGeom>
          <a:solidFill>
            <a:srgbClr val="0D2B45"/>
          </a:solidFill>
          <a:ln w="12700">
            <a:solidFill>
              <a:srgbClr val="00796B"/>
            </a:solidFill>
            <a:prstDash val="solid"/>
          </a:ln>
        </p:spPr>
      </p:sp>
      <p:sp>
        <p:nvSpPr>
          <p:cNvPr id="11" name="Shape 9"/>
          <p:cNvSpPr/>
          <p:nvPr/>
        </p:nvSpPr>
        <p:spPr>
          <a:xfrm>
            <a:off x="256032" y="2432304"/>
            <a:ext cx="8631936" cy="347472"/>
          </a:xfrm>
          <a:prstGeom prst="rect">
            <a:avLst/>
          </a:prstGeom>
          <a:solidFill>
            <a:srgbClr val="00796B"/>
          </a:solidFill>
          <a:ln/>
        </p:spPr>
      </p:sp>
      <p:sp>
        <p:nvSpPr>
          <p:cNvPr id="12" name="Text 10"/>
          <p:cNvSpPr/>
          <p:nvPr/>
        </p:nvSpPr>
        <p:spPr>
          <a:xfrm>
            <a:off x="365760" y="2432304"/>
            <a:ext cx="841248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Etape 2 — Creer la policy-map (traitement par classe)</a:t>
            </a:r>
            <a:endParaRPr lang="en-US" sz="1200" dirty="0"/>
          </a:p>
        </p:txBody>
      </p:sp>
      <p:sp>
        <p:nvSpPr>
          <p:cNvPr id="13" name="Text 11"/>
          <p:cNvSpPr/>
          <p:nvPr/>
        </p:nvSpPr>
        <p:spPr>
          <a:xfrm>
            <a:off x="365760" y="2816352"/>
            <a:ext cx="8321040" cy="749808"/>
          </a:xfrm>
          <a:prstGeom prst="rect">
            <a:avLst/>
          </a:prstGeom>
          <a:noFill/>
          <a:ln/>
        </p:spPr>
        <p:txBody>
          <a:bodyPr wrap="square" rtlCol="0" anchor="ctr"/>
          <a:lstStyle/>
          <a:p>
            <a:pPr marL="0" indent="0">
              <a:buNone/>
            </a:pPr>
            <a:r>
              <a:rPr lang="en-US" sz="950" dirty="0">
                <a:solidFill>
                  <a:srgbClr val="B2EBF2"/>
                </a:solidFill>
                <a:latin typeface="Courier New" pitchFamily="34" charset="0"/>
                <a:ea typeface="Courier New" pitchFamily="34" charset="-122"/>
                <a:cs typeface="Courier New" pitchFamily="34" charset="-120"/>
              </a:rPr>
              <a:t>policy-map QOS-WAN</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class VOIX</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priority 2000        ! LLQ : 2 Mbps garanti, file strictement prioritaire</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class VIDEO</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bandwidth 5000       ! WFQ : 5 Mbps garanti minimum</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fair-queue</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class CRITIQUE</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bandwidth 2000       ! WFQ : 2 Mbps garanti</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class class-default</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fair-queue           ! Reste en WFQ equitable</a:t>
            </a:r>
            <a:endParaRPr lang="en-US" sz="950" dirty="0"/>
          </a:p>
        </p:txBody>
      </p:sp>
      <p:sp>
        <p:nvSpPr>
          <p:cNvPr id="14" name="Shape 12"/>
          <p:cNvSpPr/>
          <p:nvPr/>
        </p:nvSpPr>
        <p:spPr>
          <a:xfrm>
            <a:off x="256032" y="3694176"/>
            <a:ext cx="8631936" cy="1170432"/>
          </a:xfrm>
          <a:prstGeom prst="rect">
            <a:avLst/>
          </a:prstGeom>
          <a:solidFill>
            <a:srgbClr val="0D2B45"/>
          </a:solidFill>
          <a:ln w="12700">
            <a:solidFill>
              <a:srgbClr val="2E7D32"/>
            </a:solidFill>
            <a:prstDash val="solid"/>
          </a:ln>
        </p:spPr>
      </p:sp>
      <p:sp>
        <p:nvSpPr>
          <p:cNvPr id="15" name="Shape 13"/>
          <p:cNvSpPr/>
          <p:nvPr/>
        </p:nvSpPr>
        <p:spPr>
          <a:xfrm>
            <a:off x="256032" y="3694176"/>
            <a:ext cx="8631936" cy="347472"/>
          </a:xfrm>
          <a:prstGeom prst="rect">
            <a:avLst/>
          </a:prstGeom>
          <a:solidFill>
            <a:srgbClr val="2E7D32"/>
          </a:solidFill>
          <a:ln/>
        </p:spPr>
      </p:sp>
      <p:sp>
        <p:nvSpPr>
          <p:cNvPr id="16" name="Text 14"/>
          <p:cNvSpPr/>
          <p:nvPr/>
        </p:nvSpPr>
        <p:spPr>
          <a:xfrm>
            <a:off x="365760" y="3694176"/>
            <a:ext cx="841248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Etape 3 — Appliquer sur l interface WAN (sortie)</a:t>
            </a:r>
            <a:endParaRPr lang="en-US" sz="1200" dirty="0"/>
          </a:p>
        </p:txBody>
      </p:sp>
      <p:sp>
        <p:nvSpPr>
          <p:cNvPr id="17" name="Text 15"/>
          <p:cNvSpPr/>
          <p:nvPr/>
        </p:nvSpPr>
        <p:spPr>
          <a:xfrm>
            <a:off x="365760" y="4078224"/>
            <a:ext cx="8321040" cy="749808"/>
          </a:xfrm>
          <a:prstGeom prst="rect">
            <a:avLst/>
          </a:prstGeom>
          <a:noFill/>
          <a:ln/>
        </p:spPr>
        <p:txBody>
          <a:bodyPr wrap="square" rtlCol="0" anchor="ctr"/>
          <a:lstStyle/>
          <a:p>
            <a:pPr marL="0" indent="0">
              <a:buNone/>
            </a:pPr>
            <a:r>
              <a:rPr lang="en-US" sz="950" dirty="0">
                <a:solidFill>
                  <a:srgbClr val="B2EBF2"/>
                </a:solidFill>
                <a:latin typeface="Courier New" pitchFamily="34" charset="0"/>
                <a:ea typeface="Courier New" pitchFamily="34" charset="-122"/>
                <a:cs typeface="Courier New" pitchFamily="34" charset="-120"/>
              </a:rPr>
              <a:t>interface GigabitEthernet0/1</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description WAN-MPLS-OPERATEUR</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service-policy output QOS-WAN</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 Verification :</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show policy-map interface GigabitEthernet0/1</a:t>
            </a:r>
            <a:endParaRPr lang="en-US" sz="950" dirty="0"/>
          </a:p>
          <a:p>
            <a:pPr marL="0" indent="0">
              <a:buNone/>
            </a:pPr>
            <a:r>
              <a:rPr lang="en-US" sz="950" dirty="0">
                <a:solidFill>
                  <a:srgbClr val="B2EBF2"/>
                </a:solidFill>
                <a:latin typeface="Courier New" pitchFamily="34" charset="0"/>
                <a:ea typeface="Courier New" pitchFamily="34" charset="-122"/>
                <a:cs typeface="Courier New" pitchFamily="34" charset="-120"/>
              </a:rPr>
              <a:t>show queue GigabitEthernet0/1</a:t>
            </a:r>
            <a:endParaRPr lang="en-US" sz="950" dirty="0"/>
          </a:p>
        </p:txBody>
      </p:sp>
      <p:sp>
        <p:nvSpPr>
          <p:cNvPr id="18" name="Shape 16"/>
          <p:cNvSpPr/>
          <p:nvPr/>
        </p:nvSpPr>
        <p:spPr>
          <a:xfrm>
            <a:off x="256032" y="4974336"/>
            <a:ext cx="8631936" cy="182880"/>
          </a:xfrm>
          <a:prstGeom prst="rect">
            <a:avLst/>
          </a:prstGeom>
          <a:solidFill>
            <a:srgbClr val="00796B"/>
          </a:solidFill>
          <a:ln/>
        </p:spPr>
      </p:sp>
      <p:sp>
        <p:nvSpPr>
          <p:cNvPr id="19" name="Text 17"/>
          <p:cNvSpPr/>
          <p:nvPr/>
        </p:nvSpPr>
        <p:spPr>
          <a:xfrm>
            <a:off x="365760" y="4974336"/>
            <a:ext cx="8412480" cy="182880"/>
          </a:xfrm>
          <a:prstGeom prst="rect">
            <a:avLst/>
          </a:prstGeom>
          <a:noFill/>
          <a:ln/>
        </p:spPr>
        <p:txBody>
          <a:bodyPr wrap="square" rtlCol="0" anchor="ctr"/>
          <a:lstStyle/>
          <a:p>
            <a:pPr marL="0" indent="0">
              <a:buNone/>
            </a:pPr>
            <a:r>
              <a:rPr lang="en-US" sz="950" b="1" dirty="0">
                <a:solidFill>
                  <a:srgbClr val="0D1B2A"/>
                </a:solidFill>
                <a:latin typeface="Calibri" pitchFamily="34" charset="0"/>
                <a:ea typeface="Calibri" pitchFamily="34" charset="-122"/>
                <a:cs typeface="Calibri" pitchFamily="34" charset="-120"/>
              </a:rPr>
              <a:t>Regle : 'priority' = LLQ (EF strict) | 'bandwidth' = WFQ avec garantie | 'fair-queue' = WFQ pur</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Comparatif complet — Toutes les technologies QoS en un seul tableau</a:t>
            </a:r>
            <a:endParaRPr lang="en-US" sz="2000" dirty="0"/>
          </a:p>
        </p:txBody>
      </p:sp>
      <p:sp>
        <p:nvSpPr>
          <p:cNvPr id="4" name="Shape 2"/>
          <p:cNvSpPr/>
          <p:nvPr/>
        </p:nvSpPr>
        <p:spPr>
          <a:xfrm>
            <a:off x="0" y="4919472"/>
            <a:ext cx="9144000" cy="228600"/>
          </a:xfrm>
          <a:prstGeom prst="rect">
            <a:avLst/>
          </a:prstGeom>
          <a:solidFill>
            <a:srgbClr val="00796B"/>
          </a:solidFill>
          <a:ln/>
        </p:spPr>
      </p:sp>
      <p:graphicFrame>
        <p:nvGraphicFramePr>
          <p:cNvPr id="13" name="Table 0"/>
          <p:cNvGraphicFramePr>
            <a:graphicFrameLocks noGrp="1"/>
          </p:cNvGraphicFramePr>
          <p:nvPr/>
        </p:nvGraphicFramePr>
        <p:xfrm>
          <a:off x="256032" y="868680"/>
          <a:ext cx="8933688" cy="3977640"/>
        </p:xfrm>
        <a:graphic>
          <a:graphicData uri="http://schemas.openxmlformats.org/drawingml/2006/table">
            <a:tbl>
              <a:tblPr/>
              <a:tblGrid>
                <a:gridCol w="16002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15568">
                  <a:extLst>
                    <a:ext uri="{9D8B030D-6E8A-4147-A177-3AD203B41FA5}">
                      <a16:colId xmlns:a16="http://schemas.microsoft.com/office/drawing/2014/main" val="20002"/>
                    </a:ext>
                  </a:extLst>
                </a:gridCol>
                <a:gridCol w="1261872">
                  <a:extLst>
                    <a:ext uri="{9D8B030D-6E8A-4147-A177-3AD203B41FA5}">
                      <a16:colId xmlns:a16="http://schemas.microsoft.com/office/drawing/2014/main" val="20003"/>
                    </a:ext>
                  </a:extLst>
                </a:gridCol>
                <a:gridCol w="1024128">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920240">
                  <a:extLst>
                    <a:ext uri="{9D8B030D-6E8A-4147-A177-3AD203B41FA5}">
                      <a16:colId xmlns:a16="http://schemas.microsoft.com/office/drawing/2014/main" val="20006"/>
                    </a:ext>
                  </a:extLst>
                </a:gridCol>
              </a:tblGrid>
              <a:tr h="397764">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Technologie</a:t>
                      </a:r>
                      <a:endParaRPr lang="en-US" sz="95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Couche OSI</a:t>
                      </a:r>
                      <a:endParaRPr lang="en-US" sz="95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Type QoS</a:t>
                      </a:r>
                      <a:endParaRPr lang="en-US" sz="95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Granularite</a:t>
                      </a:r>
                      <a:endParaRPr lang="en-US" sz="95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Scalabilite</a:t>
                      </a:r>
                      <a:endParaRPr lang="en-US" sz="95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Etat requis</a:t>
                      </a:r>
                      <a:endParaRPr lang="en-US" sz="95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Utilisation reelle</a:t>
                      </a:r>
                      <a:endParaRPr lang="en-US" sz="95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97764">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802.1p / WMM</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L2 Liaison</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Relative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Classe (8 niveaux)</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Eleve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Non</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LAN, Wi-Fi entreprise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7764">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RSVP (IntServ)</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L3/L4</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Absolue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Par flux</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Faible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Oui (flux)</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Reseaux prives, voix IP</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97764">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DiffServ (DSCP)</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L3 Reseau</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Relative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Par classe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Eleve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Non</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Internet, WAN, FAI</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7764">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MPLS / MPLS-TE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L2.5</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Absolue sur LSP</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Par LSP</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Eleve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Oui (LSP)</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Coeur operateur</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397764">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QoS Wi-Fi (EDCA)</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L2 Liaison</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Relative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4 categories AC</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Eleve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Non</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Wi-Fi pro (WPA3)</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7764">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5G QFI / 5QI</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Radio + Core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Absolue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Par slice/flux</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Moderee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Oui</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Reseaux mobiles 5G</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397764">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TSN (802.1Q-2018)</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L2 Liaison</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Absolue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Par flux</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Moderee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Oui</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Industrie 4.0, IIoT</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7764">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CoDel / FQ-CoDel</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L3 Reseau</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Relative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Par flux equitable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Eleve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Non</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Linux, OpenWRT, ISP</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5F5F5"/>
                    </a:solidFill>
                  </a:tcPr>
                </a:tc>
                <a:extLst>
                  <a:ext uri="{0D108BD9-81ED-4DB2-BD59-A6C34878D82A}">
                    <a16:rowId xmlns:a16="http://schemas.microsoft.com/office/drawing/2014/main" val="10008"/>
                  </a:ext>
                </a:extLst>
              </a:tr>
              <a:tr h="397764">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SDN / OpenFlow</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Toutes</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Programmable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Dynamique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Eleve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Centralise</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marL="0" indent="0" algn="l">
                        <a:buNone/>
                      </a:pPr>
                      <a:r>
                        <a:rPr lang="en-US" sz="900" dirty="0">
                          <a:solidFill>
                            <a:srgbClr val="212121"/>
                          </a:solidFill>
                          <a:latin typeface="Calibri" pitchFamily="34" charset="0"/>
                          <a:ea typeface="Calibri" pitchFamily="34" charset="-122"/>
                          <a:cs typeface="Calibri" pitchFamily="34" charset="-120"/>
                        </a:rPr>
                        <a:t>Cloud, datacenter</a:t>
                      </a:r>
                      <a:endParaRPr lang="en-US" sz="900" dirty="0">
                        <a:latin typeface="Calibri" charset="0"/>
                        <a:ea typeface="Calibri" charset="0"/>
                        <a:cs typeface="Calibri" charset="0"/>
                      </a:endParaRPr>
                    </a:p>
                  </a:txBody>
                  <a:tcPr anchor="ct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hape 3"/>
          <p:cNvSpPr/>
          <p:nvPr/>
        </p:nvSpPr>
        <p:spPr>
          <a:xfrm>
            <a:off x="256032" y="4892040"/>
            <a:ext cx="8631936" cy="256032"/>
          </a:xfrm>
          <a:prstGeom prst="rect">
            <a:avLst/>
          </a:prstGeom>
          <a:solidFill>
            <a:srgbClr val="0D1B2A"/>
          </a:solidFill>
          <a:ln/>
        </p:spPr>
      </p:sp>
      <p:sp>
        <p:nvSpPr>
          <p:cNvPr id="7" name="Text 4"/>
          <p:cNvSpPr/>
          <p:nvPr/>
        </p:nvSpPr>
        <p:spPr>
          <a:xfrm>
            <a:off x="365760" y="4892040"/>
            <a:ext cx="8412480" cy="25603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Conseil : DiffServ (classification) + MPLS (transport) + CoDel (AQM) + TWAMP (supervision) = stack QoS complet et moderne.</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565C0"/>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Cas pratique — Deploiement QoS dans une entreprise de 500 personnes</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Etude de cas complete : comment mettre en place la QoS pour une PME avec VoIP, videoconference et acces internet.</a:t>
            </a:r>
            <a:endParaRPr lang="en-US" sz="1100" dirty="0"/>
          </a:p>
        </p:txBody>
      </p:sp>
      <p:sp>
        <p:nvSpPr>
          <p:cNvPr id="6" name="Shape 4"/>
          <p:cNvSpPr/>
          <p:nvPr/>
        </p:nvSpPr>
        <p:spPr>
          <a:xfrm>
            <a:off x="256032" y="1170432"/>
            <a:ext cx="8631936" cy="502920"/>
          </a:xfrm>
          <a:prstGeom prst="rect">
            <a:avLst/>
          </a:prstGeom>
          <a:solidFill>
            <a:srgbClr val="E3F2FD"/>
          </a:solidFill>
          <a:ln w="12700">
            <a:solidFill>
              <a:srgbClr val="1565C0"/>
            </a:solidFill>
            <a:prstDash val="solid"/>
          </a:ln>
        </p:spPr>
      </p:sp>
      <p:sp>
        <p:nvSpPr>
          <p:cNvPr id="7" name="Text 5"/>
          <p:cNvSpPr/>
          <p:nvPr/>
        </p:nvSpPr>
        <p:spPr>
          <a:xfrm>
            <a:off x="365760" y="1188720"/>
            <a:ext cx="8366760" cy="457200"/>
          </a:xfrm>
          <a:prstGeom prst="rect">
            <a:avLst/>
          </a:prstGeom>
          <a:noFill/>
          <a:ln/>
        </p:spPr>
        <p:txBody>
          <a:bodyPr wrap="square" rtlCol="0" anchor="ctr"/>
          <a:lstStyle/>
          <a:p>
            <a:pPr marL="0" indent="0">
              <a:buNone/>
            </a:pPr>
            <a:r>
              <a:rPr lang="en-US" sz="1000" dirty="0">
                <a:solidFill>
                  <a:srgbClr val="212121"/>
                </a:solidFill>
                <a:latin typeface="Calibri" pitchFamily="34" charset="0"/>
                <a:ea typeface="Calibri" pitchFamily="34" charset="-122"/>
                <a:cs typeface="Calibri" pitchFamily="34" charset="-120"/>
              </a:rPr>
              <a:t>Contexte : PME 500 employes, 3 sites (siege + 2 agences), lien MPLS 100 Mbps vers siege, 20 Mbps agences. 50 appels VoIP simultanes max. 10 sessions videoconf. Acces internet.</a:t>
            </a:r>
            <a:endParaRPr lang="en-US" sz="1000" dirty="0"/>
          </a:p>
        </p:txBody>
      </p:sp>
      <p:sp>
        <p:nvSpPr>
          <p:cNvPr id="8" name="Shape 6"/>
          <p:cNvSpPr/>
          <p:nvPr/>
        </p:nvSpPr>
        <p:spPr>
          <a:xfrm>
            <a:off x="256032" y="1783080"/>
            <a:ext cx="8631936" cy="896112"/>
          </a:xfrm>
          <a:prstGeom prst="rect">
            <a:avLst/>
          </a:prstGeom>
          <a:solidFill>
            <a:srgbClr val="F5F5F5"/>
          </a:solidFill>
          <a:ln w="12700">
            <a:solidFill>
              <a:srgbClr val="1565C0"/>
            </a:solidFill>
            <a:prstDash val="solid"/>
          </a:ln>
          <a:effectLst>
            <a:outerShdw blurRad="63500" dist="25400" dir="8100000" algn="bl" rotWithShape="0">
              <a:srgbClr val="000000">
                <a:alpha val="10000"/>
              </a:srgbClr>
            </a:outerShdw>
          </a:effectLst>
        </p:spPr>
      </p:sp>
      <p:sp>
        <p:nvSpPr>
          <p:cNvPr id="9" name="Shape 7"/>
          <p:cNvSpPr/>
          <p:nvPr/>
        </p:nvSpPr>
        <p:spPr>
          <a:xfrm>
            <a:off x="256032" y="1783080"/>
            <a:ext cx="73152" cy="896112"/>
          </a:xfrm>
          <a:prstGeom prst="rect">
            <a:avLst/>
          </a:prstGeom>
          <a:solidFill>
            <a:srgbClr val="1565C0"/>
          </a:solidFill>
          <a:ln/>
        </p:spPr>
      </p:sp>
      <p:sp>
        <p:nvSpPr>
          <p:cNvPr id="10" name="Shape 8"/>
          <p:cNvSpPr/>
          <p:nvPr/>
        </p:nvSpPr>
        <p:spPr>
          <a:xfrm>
            <a:off x="256032" y="1783080"/>
            <a:ext cx="914400" cy="896112"/>
          </a:xfrm>
          <a:prstGeom prst="rect">
            <a:avLst/>
          </a:prstGeom>
          <a:solidFill>
            <a:srgbClr val="1565C0">
              <a:alpha val="18000"/>
            </a:srgbClr>
          </a:solidFill>
          <a:ln/>
        </p:spPr>
      </p:sp>
      <p:sp>
        <p:nvSpPr>
          <p:cNvPr id="11" name="Text 9"/>
          <p:cNvSpPr/>
          <p:nvPr/>
        </p:nvSpPr>
        <p:spPr>
          <a:xfrm>
            <a:off x="320040" y="1783080"/>
            <a:ext cx="822960" cy="896112"/>
          </a:xfrm>
          <a:prstGeom prst="rect">
            <a:avLst/>
          </a:prstGeom>
          <a:noFill/>
          <a:ln/>
        </p:spPr>
        <p:txBody>
          <a:bodyPr wrap="square" rtlCol="0" anchor="ctr"/>
          <a:lstStyle/>
          <a:p>
            <a:pPr marL="0" indent="0" algn="ctr">
              <a:buNone/>
            </a:pPr>
            <a:r>
              <a:rPr lang="en-US" sz="1100" b="1" dirty="0">
                <a:solidFill>
                  <a:srgbClr val="1565C0"/>
                </a:solidFill>
                <a:latin typeface="Calibri" pitchFamily="34" charset="0"/>
                <a:ea typeface="Calibri" pitchFamily="34" charset="-122"/>
                <a:cs typeface="Calibri" pitchFamily="34" charset="-120"/>
              </a:rPr>
              <a:t>Etape 1</a:t>
            </a:r>
            <a:endParaRPr lang="en-US" sz="1100" dirty="0"/>
          </a:p>
        </p:txBody>
      </p:sp>
      <p:sp>
        <p:nvSpPr>
          <p:cNvPr id="12" name="Text 10"/>
          <p:cNvSpPr/>
          <p:nvPr/>
        </p:nvSpPr>
        <p:spPr>
          <a:xfrm>
            <a:off x="1261872" y="1837944"/>
            <a:ext cx="7543800" cy="256032"/>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Audit et classification du trafic</a:t>
            </a:r>
            <a:endParaRPr lang="en-US" sz="1200" dirty="0"/>
          </a:p>
        </p:txBody>
      </p:sp>
      <p:sp>
        <p:nvSpPr>
          <p:cNvPr id="13" name="Text 11"/>
          <p:cNvSpPr/>
          <p:nvPr/>
        </p:nvSpPr>
        <p:spPr>
          <a:xfrm>
            <a:off x="1261872" y="2112264"/>
            <a:ext cx="7543800" cy="512064"/>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Identifier toutes les applications : VoIP (G.729, 8kb/s/appel), Teams/Zoom (videoconf, 2Mb/s/session), ERP Sage (trafic critique), FTP (sauvegardes), Internet.</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Calculer les besoins : 50 appels × 24 kb/s × 2 = 2.4 Mb/s VoIP, 10 visioconf × 2 Mb/s = 20 Mb/s video.</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Total trafic prioritaire : ~25 Mb/s sur 100 Mbps du siege.</a:t>
            </a:r>
            <a:endParaRPr lang="en-US" sz="950" dirty="0"/>
          </a:p>
        </p:txBody>
      </p:sp>
      <p:sp>
        <p:nvSpPr>
          <p:cNvPr id="14" name="Shape 12"/>
          <p:cNvSpPr/>
          <p:nvPr/>
        </p:nvSpPr>
        <p:spPr>
          <a:xfrm>
            <a:off x="256032" y="2788920"/>
            <a:ext cx="8631936" cy="896112"/>
          </a:xfrm>
          <a:prstGeom prst="rect">
            <a:avLst/>
          </a:prstGeom>
          <a:solidFill>
            <a:srgbClr val="F5F5F5"/>
          </a:solidFill>
          <a:ln w="12700">
            <a:solidFill>
              <a:srgbClr val="00796B"/>
            </a:solidFill>
            <a:prstDash val="solid"/>
          </a:ln>
          <a:effectLst>
            <a:outerShdw blurRad="63500" dist="25400" dir="8100000" algn="bl" rotWithShape="0">
              <a:srgbClr val="000000">
                <a:alpha val="10000"/>
              </a:srgbClr>
            </a:outerShdw>
          </a:effectLst>
        </p:spPr>
      </p:sp>
      <p:sp>
        <p:nvSpPr>
          <p:cNvPr id="15" name="Shape 13"/>
          <p:cNvSpPr/>
          <p:nvPr/>
        </p:nvSpPr>
        <p:spPr>
          <a:xfrm>
            <a:off x="256032" y="2788920"/>
            <a:ext cx="73152" cy="896112"/>
          </a:xfrm>
          <a:prstGeom prst="rect">
            <a:avLst/>
          </a:prstGeom>
          <a:solidFill>
            <a:srgbClr val="00796B"/>
          </a:solidFill>
          <a:ln/>
        </p:spPr>
      </p:sp>
      <p:sp>
        <p:nvSpPr>
          <p:cNvPr id="16" name="Shape 14"/>
          <p:cNvSpPr/>
          <p:nvPr/>
        </p:nvSpPr>
        <p:spPr>
          <a:xfrm>
            <a:off x="256032" y="2788920"/>
            <a:ext cx="914400" cy="896112"/>
          </a:xfrm>
          <a:prstGeom prst="rect">
            <a:avLst/>
          </a:prstGeom>
          <a:solidFill>
            <a:srgbClr val="00796B">
              <a:alpha val="18000"/>
            </a:srgbClr>
          </a:solidFill>
          <a:ln/>
        </p:spPr>
      </p:sp>
      <p:sp>
        <p:nvSpPr>
          <p:cNvPr id="17" name="Text 15"/>
          <p:cNvSpPr/>
          <p:nvPr/>
        </p:nvSpPr>
        <p:spPr>
          <a:xfrm>
            <a:off x="320040" y="2788920"/>
            <a:ext cx="822960" cy="896112"/>
          </a:xfrm>
          <a:prstGeom prst="rect">
            <a:avLst/>
          </a:prstGeom>
          <a:noFill/>
          <a:ln/>
        </p:spPr>
        <p:txBody>
          <a:bodyPr wrap="square" rtlCol="0" anchor="ctr"/>
          <a:lstStyle/>
          <a:p>
            <a:pPr marL="0" indent="0" algn="ctr">
              <a:buNone/>
            </a:pPr>
            <a:r>
              <a:rPr lang="en-US" sz="1100" b="1" dirty="0">
                <a:solidFill>
                  <a:srgbClr val="00796B"/>
                </a:solidFill>
                <a:latin typeface="Calibri" pitchFamily="34" charset="0"/>
                <a:ea typeface="Calibri" pitchFamily="34" charset="-122"/>
                <a:cs typeface="Calibri" pitchFamily="34" charset="-120"/>
              </a:rPr>
              <a:t>Etape 2</a:t>
            </a:r>
            <a:endParaRPr lang="en-US" sz="1100" dirty="0"/>
          </a:p>
        </p:txBody>
      </p:sp>
      <p:sp>
        <p:nvSpPr>
          <p:cNvPr id="18" name="Text 16"/>
          <p:cNvSpPr/>
          <p:nvPr/>
        </p:nvSpPr>
        <p:spPr>
          <a:xfrm>
            <a:off x="1261872" y="2843784"/>
            <a:ext cx="7543800" cy="256032"/>
          </a:xfrm>
          <a:prstGeom prst="rect">
            <a:avLst/>
          </a:prstGeom>
          <a:noFill/>
          <a:ln/>
        </p:spPr>
        <p:txBody>
          <a:bodyPr wrap="square" rtlCol="0" anchor="ctr"/>
          <a:lstStyle/>
          <a:p>
            <a:pPr marL="0" indent="0">
              <a:buNone/>
            </a:pPr>
            <a:r>
              <a:rPr lang="en-US" sz="1200" b="1" dirty="0">
                <a:solidFill>
                  <a:srgbClr val="00796B"/>
                </a:solidFill>
                <a:latin typeface="Calibri" pitchFamily="34" charset="0"/>
                <a:ea typeface="Calibri" pitchFamily="34" charset="-122"/>
                <a:cs typeface="Calibri" pitchFamily="34" charset="-120"/>
              </a:rPr>
              <a:t>Definir les classes de service</a:t>
            </a:r>
            <a:endParaRPr lang="en-US" sz="1200" dirty="0"/>
          </a:p>
        </p:txBody>
      </p:sp>
      <p:sp>
        <p:nvSpPr>
          <p:cNvPr id="19" name="Text 17"/>
          <p:cNvSpPr/>
          <p:nvPr/>
        </p:nvSpPr>
        <p:spPr>
          <a:xfrm>
            <a:off x="1261872" y="3118104"/>
            <a:ext cx="7543800" cy="512064"/>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Classe 1 (EF) : VoIP − DSCP 46 − 5 Mb/s garantis − priorite absolue</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Classe 2 (AF41) : Videoconference − DSCP 34 − 25 Mb/s garantis</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Classe 3 (AF21) : ERP/applications critiques − DSCP 18 − 20 Mb/s</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Classe 4 (BE) : Internet, email, FTP − DSCP 0 − reste disponible</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Negocie ces classes avec l operateur MPLS dans le SLA.</a:t>
            </a:r>
            <a:endParaRPr lang="en-US" sz="950" dirty="0"/>
          </a:p>
        </p:txBody>
      </p:sp>
      <p:sp>
        <p:nvSpPr>
          <p:cNvPr id="20" name="Shape 18"/>
          <p:cNvSpPr/>
          <p:nvPr/>
        </p:nvSpPr>
        <p:spPr>
          <a:xfrm>
            <a:off x="256032" y="3794760"/>
            <a:ext cx="8631936" cy="896112"/>
          </a:xfrm>
          <a:prstGeom prst="rect">
            <a:avLst/>
          </a:prstGeom>
          <a:solidFill>
            <a:srgbClr val="F5F5F5"/>
          </a:solidFill>
          <a:ln w="12700">
            <a:solidFill>
              <a:srgbClr val="E65100"/>
            </a:solidFill>
            <a:prstDash val="solid"/>
          </a:ln>
          <a:effectLst>
            <a:outerShdw blurRad="63500" dist="25400" dir="8100000" algn="bl" rotWithShape="0">
              <a:srgbClr val="000000">
                <a:alpha val="10000"/>
              </a:srgbClr>
            </a:outerShdw>
          </a:effectLst>
        </p:spPr>
      </p:sp>
      <p:sp>
        <p:nvSpPr>
          <p:cNvPr id="21" name="Shape 19"/>
          <p:cNvSpPr/>
          <p:nvPr/>
        </p:nvSpPr>
        <p:spPr>
          <a:xfrm>
            <a:off x="256032" y="3794760"/>
            <a:ext cx="73152" cy="896112"/>
          </a:xfrm>
          <a:prstGeom prst="rect">
            <a:avLst/>
          </a:prstGeom>
          <a:solidFill>
            <a:srgbClr val="E65100"/>
          </a:solidFill>
          <a:ln/>
        </p:spPr>
      </p:sp>
      <p:sp>
        <p:nvSpPr>
          <p:cNvPr id="22" name="Shape 20"/>
          <p:cNvSpPr/>
          <p:nvPr/>
        </p:nvSpPr>
        <p:spPr>
          <a:xfrm>
            <a:off x="256032" y="3794760"/>
            <a:ext cx="914400" cy="896112"/>
          </a:xfrm>
          <a:prstGeom prst="rect">
            <a:avLst/>
          </a:prstGeom>
          <a:solidFill>
            <a:srgbClr val="E65100">
              <a:alpha val="18000"/>
            </a:srgbClr>
          </a:solidFill>
          <a:ln/>
        </p:spPr>
      </p:sp>
      <p:sp>
        <p:nvSpPr>
          <p:cNvPr id="23" name="Text 21"/>
          <p:cNvSpPr/>
          <p:nvPr/>
        </p:nvSpPr>
        <p:spPr>
          <a:xfrm>
            <a:off x="320040" y="3794760"/>
            <a:ext cx="822960" cy="896112"/>
          </a:xfrm>
          <a:prstGeom prst="rect">
            <a:avLst/>
          </a:prstGeom>
          <a:noFill/>
          <a:ln/>
        </p:spPr>
        <p:txBody>
          <a:bodyPr wrap="square" rtlCol="0" anchor="ctr"/>
          <a:lstStyle/>
          <a:p>
            <a:pPr marL="0" indent="0" algn="ctr">
              <a:buNone/>
            </a:pPr>
            <a:r>
              <a:rPr lang="en-US" sz="1100" b="1" dirty="0">
                <a:solidFill>
                  <a:srgbClr val="E65100"/>
                </a:solidFill>
                <a:latin typeface="Calibri" pitchFamily="34" charset="0"/>
                <a:ea typeface="Calibri" pitchFamily="34" charset="-122"/>
                <a:cs typeface="Calibri" pitchFamily="34" charset="-120"/>
              </a:rPr>
              <a:t>Etape 3</a:t>
            </a:r>
            <a:endParaRPr lang="en-US" sz="1100" dirty="0"/>
          </a:p>
        </p:txBody>
      </p:sp>
      <p:sp>
        <p:nvSpPr>
          <p:cNvPr id="24" name="Text 22"/>
          <p:cNvSpPr/>
          <p:nvPr/>
        </p:nvSpPr>
        <p:spPr>
          <a:xfrm>
            <a:off x="1261872" y="3849624"/>
            <a:ext cx="7543800" cy="256032"/>
          </a:xfrm>
          <a:prstGeom prst="rect">
            <a:avLst/>
          </a:prstGeom>
          <a:noFill/>
          <a:ln/>
        </p:spPr>
        <p:txBody>
          <a:bodyPr wrap="square" rtlCol="0" anchor="ctr"/>
          <a:lstStyle/>
          <a:p>
            <a:pPr marL="0" indent="0">
              <a:buNone/>
            </a:pPr>
            <a:r>
              <a:rPr lang="en-US" sz="1200" b="1" dirty="0">
                <a:solidFill>
                  <a:srgbClr val="E65100"/>
                </a:solidFill>
                <a:latin typeface="Calibri" pitchFamily="34" charset="0"/>
                <a:ea typeface="Calibri" pitchFamily="34" charset="-122"/>
                <a:cs typeface="Calibri" pitchFamily="34" charset="-120"/>
              </a:rPr>
              <a:t>Configurer les equipements et superviser</a:t>
            </a:r>
            <a:endParaRPr lang="en-US" sz="1200" dirty="0"/>
          </a:p>
        </p:txBody>
      </p:sp>
      <p:sp>
        <p:nvSpPr>
          <p:cNvPr id="25" name="Text 23"/>
          <p:cNvSpPr/>
          <p:nvPr/>
        </p:nvSpPr>
        <p:spPr>
          <a:xfrm>
            <a:off x="1261872" y="4123944"/>
            <a:ext cx="7543800" cy="512064"/>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Routeurs : configurer LLQ sur interface WAN (voir config Cisco precedente).</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Switch LAN : activer 802.1p pour prioriser les trames VoIP et video sur le LAN.</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IP phones : configurer DSCP=46 dans les parametres du codec.</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Supervision : deployer IP SLA pour mesurer MOS et delai en continu.</a:t>
            </a:r>
            <a:endParaRPr lang="en-US" sz="950" dirty="0"/>
          </a:p>
          <a:p>
            <a:pPr marL="0" indent="0">
              <a:buNone/>
            </a:pPr>
            <a:r>
              <a:rPr lang="en-US" sz="950" dirty="0">
                <a:solidFill>
                  <a:srgbClr val="212121"/>
                </a:solidFill>
                <a:latin typeface="Calibri" pitchFamily="34" charset="0"/>
                <a:ea typeface="Calibri" pitchFamily="34" charset="-122"/>
                <a:cs typeface="Calibri" pitchFamily="34" charset="-120"/>
              </a:rPr>
              <a:t>Alertes : notifier si MOS &lt; 3.5 ou delai &gt; 120 ms.</a:t>
            </a:r>
            <a:endParaRPr lang="en-US" sz="950" dirty="0"/>
          </a:p>
        </p:txBody>
      </p:sp>
      <p:sp>
        <p:nvSpPr>
          <p:cNvPr id="26" name="Shape 24"/>
          <p:cNvSpPr/>
          <p:nvPr/>
        </p:nvSpPr>
        <p:spPr>
          <a:xfrm>
            <a:off x="256032" y="4892040"/>
            <a:ext cx="8631936" cy="256032"/>
          </a:xfrm>
          <a:prstGeom prst="rect">
            <a:avLst/>
          </a:prstGeom>
          <a:solidFill>
            <a:srgbClr val="2E7D32"/>
          </a:solidFill>
          <a:ln/>
        </p:spPr>
      </p:sp>
      <p:sp>
        <p:nvSpPr>
          <p:cNvPr id="27" name="Text 25"/>
          <p:cNvSpPr/>
          <p:nvPr/>
        </p:nvSpPr>
        <p:spPr>
          <a:xfrm>
            <a:off x="365760" y="4892040"/>
            <a:ext cx="8412480" cy="25603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Resultat attendu : MOS VoIP &gt; 4.0, videoconference fluide, ERP reactif — sur le meme lien que l internet.</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4527A0"/>
          </a:solidFill>
          <a:ln/>
        </p:spPr>
      </p:sp>
      <p:sp>
        <p:nvSpPr>
          <p:cNvPr id="3" name="Text 1"/>
          <p:cNvSpPr/>
          <p:nvPr/>
        </p:nvSpPr>
        <p:spPr>
          <a:xfrm>
            <a:off x="320040" y="0"/>
            <a:ext cx="8503920" cy="749808"/>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Tendances et futur de la QoS — Ou va-t-on ?</a:t>
            </a:r>
            <a:endParaRPr lang="en-US" sz="2000" dirty="0"/>
          </a:p>
        </p:txBody>
      </p:sp>
      <p:sp>
        <p:nvSpPr>
          <p:cNvPr id="4" name="Shape 2"/>
          <p:cNvSpPr/>
          <p:nvPr/>
        </p:nvSpPr>
        <p:spPr>
          <a:xfrm>
            <a:off x="0" y="4919472"/>
            <a:ext cx="9144000" cy="228600"/>
          </a:xfrm>
          <a:prstGeom prst="rect">
            <a:avLst/>
          </a:prstGeom>
          <a:solidFill>
            <a:srgbClr val="00796B"/>
          </a:solidFill>
          <a:ln/>
        </p:spPr>
      </p:sp>
      <p:sp>
        <p:nvSpPr>
          <p:cNvPr id="5" name="Text 3"/>
          <p:cNvSpPr/>
          <p:nvPr/>
        </p:nvSpPr>
        <p:spPr>
          <a:xfrm>
            <a:off x="274320" y="822960"/>
            <a:ext cx="8595360" cy="292608"/>
          </a:xfrm>
          <a:prstGeom prst="rect">
            <a:avLst/>
          </a:prstGeom>
          <a:noFill/>
          <a:ln/>
        </p:spPr>
        <p:txBody>
          <a:bodyPr wrap="square" rtlCol="0" anchor="ctr"/>
          <a:lstStyle/>
          <a:p>
            <a:pPr marL="0" indent="0">
              <a:buNone/>
            </a:pPr>
            <a:r>
              <a:rPr lang="en-US" sz="1100" i="1" dirty="0">
                <a:solidFill>
                  <a:srgbClr val="757575"/>
                </a:solidFill>
                <a:latin typeface="Calibri" pitchFamily="34" charset="0"/>
                <a:ea typeface="Calibri" pitchFamily="34" charset="-122"/>
                <a:cs typeface="Calibri" pitchFamily="34" charset="-120"/>
              </a:rPr>
              <a:t>Le paysage de la QoS evolue rapidement. Voici les tendances qui definiront les reseaux des prochaines annees.</a:t>
            </a:r>
            <a:endParaRPr lang="en-US" sz="1100" dirty="0"/>
          </a:p>
        </p:txBody>
      </p:sp>
      <p:sp>
        <p:nvSpPr>
          <p:cNvPr id="6" name="Shape 4"/>
          <p:cNvSpPr/>
          <p:nvPr/>
        </p:nvSpPr>
        <p:spPr>
          <a:xfrm>
            <a:off x="256032" y="1170432"/>
            <a:ext cx="4206240" cy="1170432"/>
          </a:xfrm>
          <a:prstGeom prst="rect">
            <a:avLst/>
          </a:prstGeom>
          <a:solidFill>
            <a:srgbClr val="FFFFFF"/>
          </a:solidFill>
          <a:ln w="15240">
            <a:solidFill>
              <a:srgbClr val="1565C0"/>
            </a:solidFill>
            <a:prstDash val="solid"/>
          </a:ln>
          <a:effectLst>
            <a:outerShdw blurRad="63500" dist="25400" dir="8100000" algn="bl" rotWithShape="0">
              <a:srgbClr val="000000">
                <a:alpha val="10000"/>
              </a:srgbClr>
            </a:outerShdw>
          </a:effectLst>
        </p:spPr>
      </p:sp>
      <p:sp>
        <p:nvSpPr>
          <p:cNvPr id="7" name="Shape 5"/>
          <p:cNvSpPr/>
          <p:nvPr/>
        </p:nvSpPr>
        <p:spPr>
          <a:xfrm>
            <a:off x="256032" y="1170432"/>
            <a:ext cx="4206240" cy="384048"/>
          </a:xfrm>
          <a:prstGeom prst="rect">
            <a:avLst/>
          </a:prstGeom>
          <a:solidFill>
            <a:srgbClr val="1565C0"/>
          </a:solidFill>
          <a:ln/>
        </p:spPr>
      </p:sp>
      <p:sp>
        <p:nvSpPr>
          <p:cNvPr id="8" name="Shape 6"/>
          <p:cNvSpPr/>
          <p:nvPr/>
        </p:nvSpPr>
        <p:spPr>
          <a:xfrm>
            <a:off x="3227832" y="1225296"/>
            <a:ext cx="1170432" cy="274320"/>
          </a:xfrm>
          <a:prstGeom prst="rect">
            <a:avLst/>
          </a:prstGeom>
          <a:solidFill>
            <a:srgbClr val="FFFFFF">
              <a:alpha val="35000"/>
            </a:srgbClr>
          </a:solidFill>
          <a:ln/>
        </p:spPr>
      </p:sp>
      <p:sp>
        <p:nvSpPr>
          <p:cNvPr id="9" name="Text 7"/>
          <p:cNvSpPr/>
          <p:nvPr/>
        </p:nvSpPr>
        <p:spPr>
          <a:xfrm>
            <a:off x="3227832" y="1225296"/>
            <a:ext cx="1170432" cy="274320"/>
          </a:xfrm>
          <a:prstGeom prst="rect">
            <a:avLst/>
          </a:prstGeom>
          <a:noFill/>
          <a:ln/>
        </p:spPr>
        <p:txBody>
          <a:bodyPr wrap="square" rtlCol="0" anchor="ctr"/>
          <a:lstStyle/>
          <a:p>
            <a:pPr marL="0" indent="0" algn="ctr">
              <a:buNone/>
            </a:pPr>
            <a:r>
              <a:rPr lang="en-US" sz="900" b="1" dirty="0">
                <a:solidFill>
                  <a:srgbClr val="1565C0"/>
                </a:solidFill>
                <a:latin typeface="Calibri" pitchFamily="34" charset="0"/>
                <a:ea typeface="Calibri" pitchFamily="34" charset="-122"/>
                <a:cs typeface="Calibri" pitchFamily="34" charset="-120"/>
              </a:rPr>
              <a:t>2025-2027</a:t>
            </a:r>
            <a:endParaRPr lang="en-US" sz="900" dirty="0"/>
          </a:p>
        </p:txBody>
      </p:sp>
      <p:sp>
        <p:nvSpPr>
          <p:cNvPr id="10" name="Text 8"/>
          <p:cNvSpPr/>
          <p:nvPr/>
        </p:nvSpPr>
        <p:spPr>
          <a:xfrm>
            <a:off x="347472" y="1225296"/>
            <a:ext cx="2834640" cy="2743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QUIC et HTTP/3 generalisent</a:t>
            </a:r>
            <a:endParaRPr lang="en-US" sz="1150" dirty="0"/>
          </a:p>
        </p:txBody>
      </p:sp>
      <p:sp>
        <p:nvSpPr>
          <p:cNvPr id="11" name="Text 9"/>
          <p:cNvSpPr/>
          <p:nvPr/>
        </p:nvSpPr>
        <p:spPr>
          <a:xfrm>
            <a:off x="347472" y="1591056"/>
            <a:ext cx="4041648" cy="713232"/>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QUIC remplace TCP pour le web. Gestion de la congestion cote application. Impact QoS : le DSCP reste lisible, mais les routeurs ne peuvent plus inspecter le contenu (tout est chiffre). Classification par ML obligatoire.</a:t>
            </a:r>
            <a:endParaRPr lang="en-US" sz="950" dirty="0"/>
          </a:p>
        </p:txBody>
      </p:sp>
      <p:sp>
        <p:nvSpPr>
          <p:cNvPr id="12" name="Shape 10"/>
          <p:cNvSpPr/>
          <p:nvPr/>
        </p:nvSpPr>
        <p:spPr>
          <a:xfrm>
            <a:off x="4718304" y="1170432"/>
            <a:ext cx="4206240" cy="1170432"/>
          </a:xfrm>
          <a:prstGeom prst="rect">
            <a:avLst/>
          </a:prstGeom>
          <a:solidFill>
            <a:srgbClr val="FFFFFF"/>
          </a:solidFill>
          <a:ln w="15240">
            <a:solidFill>
              <a:srgbClr val="00796B"/>
            </a:solidFill>
            <a:prstDash val="solid"/>
          </a:ln>
          <a:effectLst>
            <a:outerShdw blurRad="63500" dist="25400" dir="8100000" algn="bl" rotWithShape="0">
              <a:srgbClr val="000000">
                <a:alpha val="10000"/>
              </a:srgbClr>
            </a:outerShdw>
          </a:effectLst>
        </p:spPr>
      </p:sp>
      <p:sp>
        <p:nvSpPr>
          <p:cNvPr id="13" name="Shape 11"/>
          <p:cNvSpPr/>
          <p:nvPr/>
        </p:nvSpPr>
        <p:spPr>
          <a:xfrm>
            <a:off x="4718304" y="1170432"/>
            <a:ext cx="4206240" cy="384048"/>
          </a:xfrm>
          <a:prstGeom prst="rect">
            <a:avLst/>
          </a:prstGeom>
          <a:solidFill>
            <a:srgbClr val="00796B"/>
          </a:solidFill>
          <a:ln/>
        </p:spPr>
      </p:sp>
      <p:sp>
        <p:nvSpPr>
          <p:cNvPr id="14" name="Shape 12"/>
          <p:cNvSpPr/>
          <p:nvPr/>
        </p:nvSpPr>
        <p:spPr>
          <a:xfrm>
            <a:off x="7690104" y="1225296"/>
            <a:ext cx="1170432" cy="274320"/>
          </a:xfrm>
          <a:prstGeom prst="rect">
            <a:avLst/>
          </a:prstGeom>
          <a:solidFill>
            <a:srgbClr val="FFFFFF">
              <a:alpha val="35000"/>
            </a:srgbClr>
          </a:solidFill>
          <a:ln/>
        </p:spPr>
      </p:sp>
      <p:sp>
        <p:nvSpPr>
          <p:cNvPr id="15" name="Text 13"/>
          <p:cNvSpPr/>
          <p:nvPr/>
        </p:nvSpPr>
        <p:spPr>
          <a:xfrm>
            <a:off x="7690104" y="1225296"/>
            <a:ext cx="1170432" cy="274320"/>
          </a:xfrm>
          <a:prstGeom prst="rect">
            <a:avLst/>
          </a:prstGeom>
          <a:noFill/>
          <a:ln/>
        </p:spPr>
        <p:txBody>
          <a:bodyPr wrap="square" rtlCol="0" anchor="ctr"/>
          <a:lstStyle/>
          <a:p>
            <a:pPr marL="0" indent="0" algn="ctr">
              <a:buNone/>
            </a:pPr>
            <a:r>
              <a:rPr lang="en-US" sz="900" b="1" dirty="0">
                <a:solidFill>
                  <a:srgbClr val="00796B"/>
                </a:solidFill>
                <a:latin typeface="Calibri" pitchFamily="34" charset="0"/>
                <a:ea typeface="Calibri" pitchFamily="34" charset="-122"/>
                <a:cs typeface="Calibri" pitchFamily="34" charset="-120"/>
              </a:rPr>
              <a:t>2025-2028</a:t>
            </a:r>
            <a:endParaRPr lang="en-US" sz="900" dirty="0"/>
          </a:p>
        </p:txBody>
      </p:sp>
      <p:sp>
        <p:nvSpPr>
          <p:cNvPr id="16" name="Text 14"/>
          <p:cNvSpPr/>
          <p:nvPr/>
        </p:nvSpPr>
        <p:spPr>
          <a:xfrm>
            <a:off x="4809744" y="1225296"/>
            <a:ext cx="2834640" cy="2743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Wi-Fi 7 (802.11be) avec QoS avancee</a:t>
            </a:r>
            <a:endParaRPr lang="en-US" sz="1150" dirty="0"/>
          </a:p>
        </p:txBody>
      </p:sp>
      <p:sp>
        <p:nvSpPr>
          <p:cNvPr id="17" name="Text 15"/>
          <p:cNvSpPr/>
          <p:nvPr/>
        </p:nvSpPr>
        <p:spPr>
          <a:xfrm>
            <a:off x="4809744" y="1591056"/>
            <a:ext cx="4041648" cy="713232"/>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Multi-Link Operation (MLO) : utiliser plusieurs bandes simultanement. Latence &lt; 5 ms garantie pour les flux critiques. OFDMA ameliore : partage plus fin du canal radio entre plusieurs stations. Priorite temps-reel native.</a:t>
            </a:r>
            <a:endParaRPr lang="en-US" sz="950" dirty="0"/>
          </a:p>
        </p:txBody>
      </p:sp>
      <p:sp>
        <p:nvSpPr>
          <p:cNvPr id="18" name="Shape 16"/>
          <p:cNvSpPr/>
          <p:nvPr/>
        </p:nvSpPr>
        <p:spPr>
          <a:xfrm>
            <a:off x="256032" y="2432304"/>
            <a:ext cx="4206240" cy="1170432"/>
          </a:xfrm>
          <a:prstGeom prst="rect">
            <a:avLst/>
          </a:prstGeom>
          <a:solidFill>
            <a:srgbClr val="FFFFFF"/>
          </a:solidFill>
          <a:ln w="15240">
            <a:solidFill>
              <a:srgbClr val="E65100"/>
            </a:solidFill>
            <a:prstDash val="solid"/>
          </a:ln>
          <a:effectLst>
            <a:outerShdw blurRad="63500" dist="25400" dir="8100000" algn="bl" rotWithShape="0">
              <a:srgbClr val="000000">
                <a:alpha val="10000"/>
              </a:srgbClr>
            </a:outerShdw>
          </a:effectLst>
        </p:spPr>
      </p:sp>
      <p:sp>
        <p:nvSpPr>
          <p:cNvPr id="19" name="Shape 17"/>
          <p:cNvSpPr/>
          <p:nvPr/>
        </p:nvSpPr>
        <p:spPr>
          <a:xfrm>
            <a:off x="256032" y="2432304"/>
            <a:ext cx="4206240" cy="384048"/>
          </a:xfrm>
          <a:prstGeom prst="rect">
            <a:avLst/>
          </a:prstGeom>
          <a:solidFill>
            <a:srgbClr val="E65100"/>
          </a:solidFill>
          <a:ln/>
        </p:spPr>
      </p:sp>
      <p:sp>
        <p:nvSpPr>
          <p:cNvPr id="20" name="Shape 18"/>
          <p:cNvSpPr/>
          <p:nvPr/>
        </p:nvSpPr>
        <p:spPr>
          <a:xfrm>
            <a:off x="3227832" y="2487168"/>
            <a:ext cx="1170432" cy="274320"/>
          </a:xfrm>
          <a:prstGeom prst="rect">
            <a:avLst/>
          </a:prstGeom>
          <a:solidFill>
            <a:srgbClr val="FFFFFF">
              <a:alpha val="35000"/>
            </a:srgbClr>
          </a:solidFill>
          <a:ln/>
        </p:spPr>
      </p:sp>
      <p:sp>
        <p:nvSpPr>
          <p:cNvPr id="21" name="Text 19"/>
          <p:cNvSpPr/>
          <p:nvPr/>
        </p:nvSpPr>
        <p:spPr>
          <a:xfrm>
            <a:off x="3227832" y="2487168"/>
            <a:ext cx="1170432" cy="274320"/>
          </a:xfrm>
          <a:prstGeom prst="rect">
            <a:avLst/>
          </a:prstGeom>
          <a:noFill/>
          <a:ln/>
        </p:spPr>
        <p:txBody>
          <a:bodyPr wrap="square" rtlCol="0" anchor="ctr"/>
          <a:lstStyle/>
          <a:p>
            <a:pPr marL="0" indent="0" algn="ctr">
              <a:buNone/>
            </a:pPr>
            <a:r>
              <a:rPr lang="en-US" sz="900" b="1" dirty="0">
                <a:solidFill>
                  <a:srgbClr val="E65100"/>
                </a:solidFill>
                <a:latin typeface="Calibri" pitchFamily="34" charset="0"/>
                <a:ea typeface="Calibri" pitchFamily="34" charset="-122"/>
                <a:cs typeface="Calibri" pitchFamily="34" charset="-120"/>
              </a:rPr>
              <a:t>2026-2030</a:t>
            </a:r>
            <a:endParaRPr lang="en-US" sz="900" dirty="0"/>
          </a:p>
        </p:txBody>
      </p:sp>
      <p:sp>
        <p:nvSpPr>
          <p:cNvPr id="22" name="Text 20"/>
          <p:cNvSpPr/>
          <p:nvPr/>
        </p:nvSpPr>
        <p:spPr>
          <a:xfrm>
            <a:off x="347472" y="2487168"/>
            <a:ext cx="2834640" cy="2743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6G et latence tactile</a:t>
            </a:r>
            <a:endParaRPr lang="en-US" sz="1150" dirty="0"/>
          </a:p>
        </p:txBody>
      </p:sp>
      <p:sp>
        <p:nvSpPr>
          <p:cNvPr id="23" name="Text 21"/>
          <p:cNvSpPr/>
          <p:nvPr/>
        </p:nvSpPr>
        <p:spPr>
          <a:xfrm>
            <a:off x="347472" y="2852928"/>
            <a:ext cx="4041648" cy="713232"/>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Objectif : latence &lt; 0.1 ms (10x mieux que 5G URLLC). Taux d erreur &lt; 10^-9. Debit &gt; 1 Tbps en pic. Applications : 'internet tactile' (toucher a distance), chirurgie holographique, realite mixte temps-reel.</a:t>
            </a:r>
            <a:endParaRPr lang="en-US" sz="950" dirty="0"/>
          </a:p>
        </p:txBody>
      </p:sp>
      <p:sp>
        <p:nvSpPr>
          <p:cNvPr id="24" name="Shape 22"/>
          <p:cNvSpPr/>
          <p:nvPr/>
        </p:nvSpPr>
        <p:spPr>
          <a:xfrm>
            <a:off x="4718304" y="2432304"/>
            <a:ext cx="4206240" cy="1170432"/>
          </a:xfrm>
          <a:prstGeom prst="rect">
            <a:avLst/>
          </a:prstGeom>
          <a:solidFill>
            <a:srgbClr val="FFFFFF"/>
          </a:solidFill>
          <a:ln w="15240">
            <a:solidFill>
              <a:srgbClr val="2E7D32"/>
            </a:solidFill>
            <a:prstDash val="solid"/>
          </a:ln>
          <a:effectLst>
            <a:outerShdw blurRad="63500" dist="25400" dir="8100000" algn="bl" rotWithShape="0">
              <a:srgbClr val="000000">
                <a:alpha val="10000"/>
              </a:srgbClr>
            </a:outerShdw>
          </a:effectLst>
        </p:spPr>
      </p:sp>
      <p:sp>
        <p:nvSpPr>
          <p:cNvPr id="25" name="Shape 23"/>
          <p:cNvSpPr/>
          <p:nvPr/>
        </p:nvSpPr>
        <p:spPr>
          <a:xfrm>
            <a:off x="4718304" y="2432304"/>
            <a:ext cx="4206240" cy="384048"/>
          </a:xfrm>
          <a:prstGeom prst="rect">
            <a:avLst/>
          </a:prstGeom>
          <a:solidFill>
            <a:srgbClr val="2E7D32"/>
          </a:solidFill>
          <a:ln/>
        </p:spPr>
      </p:sp>
      <p:sp>
        <p:nvSpPr>
          <p:cNvPr id="26" name="Shape 24"/>
          <p:cNvSpPr/>
          <p:nvPr/>
        </p:nvSpPr>
        <p:spPr>
          <a:xfrm>
            <a:off x="7690104" y="2487168"/>
            <a:ext cx="1170432" cy="274320"/>
          </a:xfrm>
          <a:prstGeom prst="rect">
            <a:avLst/>
          </a:prstGeom>
          <a:solidFill>
            <a:srgbClr val="FFFFFF">
              <a:alpha val="35000"/>
            </a:srgbClr>
          </a:solidFill>
          <a:ln/>
        </p:spPr>
      </p:sp>
      <p:sp>
        <p:nvSpPr>
          <p:cNvPr id="27" name="Text 25"/>
          <p:cNvSpPr/>
          <p:nvPr/>
        </p:nvSpPr>
        <p:spPr>
          <a:xfrm>
            <a:off x="7690104" y="2487168"/>
            <a:ext cx="1170432" cy="274320"/>
          </a:xfrm>
          <a:prstGeom prst="rect">
            <a:avLst/>
          </a:prstGeom>
          <a:noFill/>
          <a:ln/>
        </p:spPr>
        <p:txBody>
          <a:bodyPr wrap="square" rtlCol="0" anchor="ctr"/>
          <a:lstStyle/>
          <a:p>
            <a:pPr marL="0" indent="0" algn="ctr">
              <a:buNone/>
            </a:pPr>
            <a:r>
              <a:rPr lang="en-US" sz="900" b="1" dirty="0">
                <a:solidFill>
                  <a:srgbClr val="2E7D32"/>
                </a:solidFill>
                <a:latin typeface="Calibri" pitchFamily="34" charset="0"/>
                <a:ea typeface="Calibri" pitchFamily="34" charset="-122"/>
                <a:cs typeface="Calibri" pitchFamily="34" charset="-120"/>
              </a:rPr>
              <a:t>2025-2030</a:t>
            </a:r>
            <a:endParaRPr lang="en-US" sz="900" dirty="0"/>
          </a:p>
        </p:txBody>
      </p:sp>
      <p:sp>
        <p:nvSpPr>
          <p:cNvPr id="28" name="Text 26"/>
          <p:cNvSpPr/>
          <p:nvPr/>
        </p:nvSpPr>
        <p:spPr>
          <a:xfrm>
            <a:off x="4809744" y="2487168"/>
            <a:ext cx="2834640" cy="2743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Intent-Based Networking (IBN) generalise</a:t>
            </a:r>
            <a:endParaRPr lang="en-US" sz="1150" dirty="0"/>
          </a:p>
        </p:txBody>
      </p:sp>
      <p:sp>
        <p:nvSpPr>
          <p:cNvPr id="29" name="Text 27"/>
          <p:cNvSpPr/>
          <p:nvPr/>
        </p:nvSpPr>
        <p:spPr>
          <a:xfrm>
            <a:off x="4809744" y="2852928"/>
            <a:ext cx="4041648" cy="713232"/>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L administrateur exprime des objectifs : 'Garantir MOS&gt;4 pour VoIP'. Le reseau se configure automatiquement. Verifications en continu. Reconfiguration autonome si SLA degrade. Cisco DNA Center, Juniper Mist deja disponibles.</a:t>
            </a:r>
            <a:endParaRPr lang="en-US" sz="950" dirty="0"/>
          </a:p>
        </p:txBody>
      </p:sp>
      <p:sp>
        <p:nvSpPr>
          <p:cNvPr id="30" name="Shape 28"/>
          <p:cNvSpPr/>
          <p:nvPr/>
        </p:nvSpPr>
        <p:spPr>
          <a:xfrm>
            <a:off x="256032" y="3694176"/>
            <a:ext cx="4206240" cy="1170432"/>
          </a:xfrm>
          <a:prstGeom prst="rect">
            <a:avLst/>
          </a:prstGeom>
          <a:solidFill>
            <a:srgbClr val="FFFFFF"/>
          </a:solidFill>
          <a:ln w="15240">
            <a:solidFill>
              <a:srgbClr val="4527A0"/>
            </a:solidFill>
            <a:prstDash val="solid"/>
          </a:ln>
          <a:effectLst>
            <a:outerShdw blurRad="63500" dist="25400" dir="8100000" algn="bl" rotWithShape="0">
              <a:srgbClr val="000000">
                <a:alpha val="10000"/>
              </a:srgbClr>
            </a:outerShdw>
          </a:effectLst>
        </p:spPr>
      </p:sp>
      <p:sp>
        <p:nvSpPr>
          <p:cNvPr id="31" name="Shape 29"/>
          <p:cNvSpPr/>
          <p:nvPr/>
        </p:nvSpPr>
        <p:spPr>
          <a:xfrm>
            <a:off x="256032" y="3694176"/>
            <a:ext cx="4206240" cy="384048"/>
          </a:xfrm>
          <a:prstGeom prst="rect">
            <a:avLst/>
          </a:prstGeom>
          <a:solidFill>
            <a:srgbClr val="4527A0"/>
          </a:solidFill>
          <a:ln/>
        </p:spPr>
      </p:sp>
      <p:sp>
        <p:nvSpPr>
          <p:cNvPr id="32" name="Shape 30"/>
          <p:cNvSpPr/>
          <p:nvPr/>
        </p:nvSpPr>
        <p:spPr>
          <a:xfrm>
            <a:off x="3227832" y="3749040"/>
            <a:ext cx="1170432" cy="274320"/>
          </a:xfrm>
          <a:prstGeom prst="rect">
            <a:avLst/>
          </a:prstGeom>
          <a:solidFill>
            <a:srgbClr val="FFFFFF">
              <a:alpha val="35000"/>
            </a:srgbClr>
          </a:solidFill>
          <a:ln/>
        </p:spPr>
      </p:sp>
      <p:sp>
        <p:nvSpPr>
          <p:cNvPr id="33" name="Text 31"/>
          <p:cNvSpPr/>
          <p:nvPr/>
        </p:nvSpPr>
        <p:spPr>
          <a:xfrm>
            <a:off x="3227832" y="3749040"/>
            <a:ext cx="1170432" cy="274320"/>
          </a:xfrm>
          <a:prstGeom prst="rect">
            <a:avLst/>
          </a:prstGeom>
          <a:noFill/>
          <a:ln/>
        </p:spPr>
        <p:txBody>
          <a:bodyPr wrap="square" rtlCol="0" anchor="ctr"/>
          <a:lstStyle/>
          <a:p>
            <a:pPr marL="0" indent="0" algn="ctr">
              <a:buNone/>
            </a:pPr>
            <a:r>
              <a:rPr lang="en-US" sz="900" b="1" dirty="0">
                <a:solidFill>
                  <a:srgbClr val="4527A0"/>
                </a:solidFill>
                <a:latin typeface="Calibri" pitchFamily="34" charset="0"/>
                <a:ea typeface="Calibri" pitchFamily="34" charset="-122"/>
                <a:cs typeface="Calibri" pitchFamily="34" charset="-120"/>
              </a:rPr>
              <a:t>2028+</a:t>
            </a:r>
            <a:endParaRPr lang="en-US" sz="900" dirty="0"/>
          </a:p>
        </p:txBody>
      </p:sp>
      <p:sp>
        <p:nvSpPr>
          <p:cNvPr id="34" name="Text 32"/>
          <p:cNvSpPr/>
          <p:nvPr/>
        </p:nvSpPr>
        <p:spPr>
          <a:xfrm>
            <a:off x="347472" y="3749040"/>
            <a:ext cx="2834640" cy="2743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Quantum Networking et QoS quantique</a:t>
            </a:r>
            <a:endParaRPr lang="en-US" sz="1150" dirty="0"/>
          </a:p>
        </p:txBody>
      </p:sp>
      <p:sp>
        <p:nvSpPr>
          <p:cNvPr id="35" name="Text 33"/>
          <p:cNvSpPr/>
          <p:nvPr/>
        </p:nvSpPr>
        <p:spPr>
          <a:xfrm>
            <a:off x="347472" y="4114800"/>
            <a:ext cx="4041648" cy="713232"/>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Reseaux quantiques pour la cryptographie et le calcul distribue. Besoins QoS radicalement differents : fidelite des qubits, correction d erreurs quantiques. Protocoles QoS speciaux pour les liens quantiques.</a:t>
            </a:r>
            <a:endParaRPr lang="en-US" sz="950" dirty="0"/>
          </a:p>
        </p:txBody>
      </p:sp>
      <p:sp>
        <p:nvSpPr>
          <p:cNvPr id="36" name="Shape 34"/>
          <p:cNvSpPr/>
          <p:nvPr/>
        </p:nvSpPr>
        <p:spPr>
          <a:xfrm>
            <a:off x="4718304" y="3694176"/>
            <a:ext cx="4206240" cy="1170432"/>
          </a:xfrm>
          <a:prstGeom prst="rect">
            <a:avLst/>
          </a:prstGeom>
          <a:solidFill>
            <a:srgbClr val="FFFFFF"/>
          </a:solidFill>
          <a:ln w="15240">
            <a:solidFill>
              <a:srgbClr val="C62828"/>
            </a:solidFill>
            <a:prstDash val="solid"/>
          </a:ln>
          <a:effectLst>
            <a:outerShdw blurRad="63500" dist="25400" dir="8100000" algn="bl" rotWithShape="0">
              <a:srgbClr val="000000">
                <a:alpha val="10000"/>
              </a:srgbClr>
            </a:outerShdw>
          </a:effectLst>
        </p:spPr>
      </p:sp>
      <p:sp>
        <p:nvSpPr>
          <p:cNvPr id="37" name="Shape 35"/>
          <p:cNvSpPr/>
          <p:nvPr/>
        </p:nvSpPr>
        <p:spPr>
          <a:xfrm>
            <a:off x="4718304" y="3694176"/>
            <a:ext cx="4206240" cy="384048"/>
          </a:xfrm>
          <a:prstGeom prst="rect">
            <a:avLst/>
          </a:prstGeom>
          <a:solidFill>
            <a:srgbClr val="C62828"/>
          </a:solidFill>
          <a:ln/>
        </p:spPr>
      </p:sp>
      <p:sp>
        <p:nvSpPr>
          <p:cNvPr id="38" name="Shape 36"/>
          <p:cNvSpPr/>
          <p:nvPr/>
        </p:nvSpPr>
        <p:spPr>
          <a:xfrm>
            <a:off x="7690104" y="3749040"/>
            <a:ext cx="1170432" cy="274320"/>
          </a:xfrm>
          <a:prstGeom prst="rect">
            <a:avLst/>
          </a:prstGeom>
          <a:solidFill>
            <a:srgbClr val="FFFFFF">
              <a:alpha val="35000"/>
            </a:srgbClr>
          </a:solidFill>
          <a:ln/>
        </p:spPr>
      </p:sp>
      <p:sp>
        <p:nvSpPr>
          <p:cNvPr id="39" name="Text 37"/>
          <p:cNvSpPr/>
          <p:nvPr/>
        </p:nvSpPr>
        <p:spPr>
          <a:xfrm>
            <a:off x="7690104" y="3749040"/>
            <a:ext cx="1170432" cy="274320"/>
          </a:xfrm>
          <a:prstGeom prst="rect">
            <a:avLst/>
          </a:prstGeom>
          <a:noFill/>
          <a:ln/>
        </p:spPr>
        <p:txBody>
          <a:bodyPr wrap="square" rtlCol="0" anchor="ctr"/>
          <a:lstStyle/>
          <a:p>
            <a:pPr marL="0" indent="0" algn="ctr">
              <a:buNone/>
            </a:pPr>
            <a:r>
              <a:rPr lang="en-US" sz="900" b="1" dirty="0">
                <a:solidFill>
                  <a:srgbClr val="C62828"/>
                </a:solidFill>
                <a:latin typeface="Calibri" pitchFamily="34" charset="0"/>
                <a:ea typeface="Calibri" pitchFamily="34" charset="-122"/>
                <a:cs typeface="Calibri" pitchFamily="34" charset="-120"/>
              </a:rPr>
              <a:t>2025-2027</a:t>
            </a:r>
            <a:endParaRPr lang="en-US" sz="900" dirty="0"/>
          </a:p>
        </p:txBody>
      </p:sp>
      <p:sp>
        <p:nvSpPr>
          <p:cNvPr id="40" name="Text 38"/>
          <p:cNvSpPr/>
          <p:nvPr/>
        </p:nvSpPr>
        <p:spPr>
          <a:xfrm>
            <a:off x="4809744" y="3749040"/>
            <a:ext cx="2834640" cy="2743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AIOps : reseau qui se repare seul</a:t>
            </a:r>
            <a:endParaRPr lang="en-US" sz="1150" dirty="0"/>
          </a:p>
        </p:txBody>
      </p:sp>
      <p:sp>
        <p:nvSpPr>
          <p:cNvPr id="41" name="Text 39"/>
          <p:cNvSpPr/>
          <p:nvPr/>
        </p:nvSpPr>
        <p:spPr>
          <a:xfrm>
            <a:off x="4809744" y="4114800"/>
            <a:ext cx="4041648" cy="713232"/>
          </a:xfrm>
          <a:prstGeom prst="rect">
            <a:avLst/>
          </a:prstGeom>
          <a:noFill/>
          <a:ln/>
        </p:spPr>
        <p:txBody>
          <a:bodyPr wrap="square" rtlCol="0" anchor="ctr"/>
          <a:lstStyle/>
          <a:p>
            <a:pPr marL="0" indent="0">
              <a:buNone/>
            </a:pPr>
            <a:r>
              <a:rPr lang="en-US" sz="950" dirty="0">
                <a:solidFill>
                  <a:srgbClr val="212121"/>
                </a:solidFill>
                <a:latin typeface="Calibri" pitchFamily="34" charset="0"/>
                <a:ea typeface="Calibri" pitchFamily="34" charset="-122"/>
                <a:cs typeface="Calibri" pitchFamily="34" charset="-120"/>
              </a:rPr>
              <a:t>Systemes IA qui detectent, diagnostiquent ET corrigent les problemes QoS sans intervention humaine. Mean Time To Repair (MTTR) reduit de 4h a quelques minutes. Deja deploye par les grands operateurs (AT&amp;T AIOps, Orange IA Reseau).</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0796B"/>
          </a:solidFill>
          <a:ln/>
        </p:spPr>
      </p:sp>
      <p:sp>
        <p:nvSpPr>
          <p:cNvPr id="3" name="Text 1"/>
          <p:cNvSpPr/>
          <p:nvPr/>
        </p:nvSpPr>
        <p:spPr>
          <a:xfrm>
            <a:off x="457200" y="182880"/>
            <a:ext cx="8412480" cy="475488"/>
          </a:xfrm>
          <a:prstGeom prst="rect">
            <a:avLst/>
          </a:prstGeom>
          <a:noFill/>
          <a:ln/>
        </p:spPr>
        <p:txBody>
          <a:bodyPr wrap="square" rtlCol="0" anchor="ctr"/>
          <a:lstStyle/>
          <a:p>
            <a:pPr marL="0" indent="0">
              <a:buNone/>
            </a:pPr>
            <a:r>
              <a:rPr lang="en-US" sz="2200" b="1" dirty="0">
                <a:solidFill>
                  <a:srgbClr val="00BCD4"/>
                </a:solidFill>
                <a:latin typeface="Calibri" pitchFamily="34" charset="0"/>
                <a:ea typeface="Calibri" pitchFamily="34" charset="-122"/>
                <a:cs typeface="Calibri" pitchFamily="34" charset="-120"/>
              </a:rPr>
              <a:t>Preparation a l examen</a:t>
            </a:r>
            <a:endParaRPr lang="en-US" sz="2200" dirty="0"/>
          </a:p>
        </p:txBody>
      </p:sp>
      <p:sp>
        <p:nvSpPr>
          <p:cNvPr id="4" name="Shape 2"/>
          <p:cNvSpPr/>
          <p:nvPr/>
        </p:nvSpPr>
        <p:spPr>
          <a:xfrm>
            <a:off x="438912" y="804672"/>
            <a:ext cx="4160520" cy="1261872"/>
          </a:xfrm>
          <a:prstGeom prst="rect">
            <a:avLst/>
          </a:prstGeom>
          <a:solidFill>
            <a:srgbClr val="0D2B45"/>
          </a:solidFill>
          <a:ln w="6350">
            <a:solidFill>
              <a:srgbClr val="1E4976"/>
            </a:solidFill>
            <a:prstDash val="solid"/>
          </a:ln>
        </p:spPr>
      </p:sp>
      <p:sp>
        <p:nvSpPr>
          <p:cNvPr id="5" name="Shape 3"/>
          <p:cNvSpPr/>
          <p:nvPr/>
        </p:nvSpPr>
        <p:spPr>
          <a:xfrm>
            <a:off x="438912" y="804672"/>
            <a:ext cx="4160520" cy="73152"/>
          </a:xfrm>
          <a:prstGeom prst="rect">
            <a:avLst/>
          </a:prstGeom>
          <a:solidFill>
            <a:srgbClr val="00796B"/>
          </a:solidFill>
          <a:ln/>
        </p:spPr>
      </p:sp>
      <p:sp>
        <p:nvSpPr>
          <p:cNvPr id="6" name="Text 4"/>
          <p:cNvSpPr/>
          <p:nvPr/>
        </p:nvSpPr>
        <p:spPr>
          <a:xfrm>
            <a:off x="530352" y="914400"/>
            <a:ext cx="4005072" cy="475488"/>
          </a:xfrm>
          <a:prstGeom prst="rect">
            <a:avLst/>
          </a:prstGeom>
          <a:noFill/>
          <a:ln/>
        </p:spPr>
        <p:txBody>
          <a:bodyPr wrap="square" rtlCol="0" anchor="ctr"/>
          <a:lstStyle/>
          <a:p>
            <a:pPr marL="0" indent="0">
              <a:buNone/>
            </a:pPr>
            <a:r>
              <a:rPr lang="en-US" sz="1000" dirty="0">
                <a:solidFill>
                  <a:srgbClr val="90CAF9"/>
                </a:solidFill>
                <a:latin typeface="Calibri" pitchFamily="34" charset="0"/>
                <a:ea typeface="Calibri" pitchFamily="34" charset="-122"/>
                <a:cs typeface="Calibri" pitchFamily="34" charset="-120"/>
              </a:rPr>
              <a:t>Q : Quelle valeur DSCP pour Expedited Forwarding (VoIP) ?</a:t>
            </a:r>
            <a:endParaRPr lang="en-US" sz="1000" dirty="0"/>
          </a:p>
        </p:txBody>
      </p:sp>
      <p:sp>
        <p:nvSpPr>
          <p:cNvPr id="7" name="Shape 5"/>
          <p:cNvSpPr/>
          <p:nvPr/>
        </p:nvSpPr>
        <p:spPr>
          <a:xfrm>
            <a:off x="512064" y="1426464"/>
            <a:ext cx="4023360" cy="566928"/>
          </a:xfrm>
          <a:prstGeom prst="rect">
            <a:avLst/>
          </a:prstGeom>
          <a:solidFill>
            <a:srgbClr val="0A1E30"/>
          </a:solidFill>
          <a:ln w="6350">
            <a:solidFill>
              <a:srgbClr val="00796B"/>
            </a:solidFill>
            <a:prstDash val="solid"/>
          </a:ln>
        </p:spPr>
      </p:sp>
      <p:sp>
        <p:nvSpPr>
          <p:cNvPr id="8" name="Text 6"/>
          <p:cNvSpPr/>
          <p:nvPr/>
        </p:nvSpPr>
        <p:spPr>
          <a:xfrm>
            <a:off x="566928" y="1444752"/>
            <a:ext cx="3931920" cy="530352"/>
          </a:xfrm>
          <a:prstGeom prst="rect">
            <a:avLst/>
          </a:prstGeom>
          <a:noFill/>
          <a:ln/>
        </p:spPr>
        <p:txBody>
          <a:bodyPr wrap="square" rtlCol="0" anchor="ctr"/>
          <a:lstStyle/>
          <a:p>
            <a:pPr marL="0" indent="0">
              <a:buNone/>
            </a:pPr>
            <a:r>
              <a:rPr lang="en-US" sz="1000" b="1" dirty="0">
                <a:solidFill>
                  <a:srgbClr val="B2EBF2"/>
                </a:solidFill>
                <a:latin typeface="Calibri" pitchFamily="34" charset="0"/>
                <a:ea typeface="Calibri" pitchFamily="34" charset="-122"/>
                <a:cs typeface="Calibri" pitchFamily="34" charset="-120"/>
              </a:rPr>
              <a:t>R : DSCP = 46 (EF)</a:t>
            </a:r>
            <a:endParaRPr lang="en-US" sz="1000" dirty="0"/>
          </a:p>
        </p:txBody>
      </p:sp>
      <p:sp>
        <p:nvSpPr>
          <p:cNvPr id="9" name="Shape 7"/>
          <p:cNvSpPr/>
          <p:nvPr/>
        </p:nvSpPr>
        <p:spPr>
          <a:xfrm>
            <a:off x="4809744" y="804672"/>
            <a:ext cx="4160520" cy="1261872"/>
          </a:xfrm>
          <a:prstGeom prst="rect">
            <a:avLst/>
          </a:prstGeom>
          <a:solidFill>
            <a:srgbClr val="0D2B45"/>
          </a:solidFill>
          <a:ln w="6350">
            <a:solidFill>
              <a:srgbClr val="1E4976"/>
            </a:solidFill>
            <a:prstDash val="solid"/>
          </a:ln>
        </p:spPr>
      </p:sp>
      <p:sp>
        <p:nvSpPr>
          <p:cNvPr id="10" name="Shape 8"/>
          <p:cNvSpPr/>
          <p:nvPr/>
        </p:nvSpPr>
        <p:spPr>
          <a:xfrm>
            <a:off x="4809744" y="804672"/>
            <a:ext cx="4160520" cy="73152"/>
          </a:xfrm>
          <a:prstGeom prst="rect">
            <a:avLst/>
          </a:prstGeom>
          <a:solidFill>
            <a:srgbClr val="1565C0"/>
          </a:solidFill>
          <a:ln/>
        </p:spPr>
      </p:sp>
      <p:sp>
        <p:nvSpPr>
          <p:cNvPr id="11" name="Text 9"/>
          <p:cNvSpPr/>
          <p:nvPr/>
        </p:nvSpPr>
        <p:spPr>
          <a:xfrm>
            <a:off x="4901184" y="914400"/>
            <a:ext cx="4005072" cy="475488"/>
          </a:xfrm>
          <a:prstGeom prst="rect">
            <a:avLst/>
          </a:prstGeom>
          <a:noFill/>
          <a:ln/>
        </p:spPr>
        <p:txBody>
          <a:bodyPr wrap="square" rtlCol="0" anchor="ctr"/>
          <a:lstStyle/>
          <a:p>
            <a:pPr marL="0" indent="0">
              <a:buNone/>
            </a:pPr>
            <a:r>
              <a:rPr lang="en-US" sz="1000" dirty="0">
                <a:solidFill>
                  <a:srgbClr val="90CAF9"/>
                </a:solidFill>
                <a:latin typeface="Calibri" pitchFamily="34" charset="0"/>
                <a:ea typeface="Calibri" pitchFamily="34" charset="-122"/>
                <a:cs typeface="Calibri" pitchFamily="34" charset="-120"/>
              </a:rPr>
              <a:t>Q : Formule du delai moyen en M/M/1 ?</a:t>
            </a:r>
            <a:endParaRPr lang="en-US" sz="1000" dirty="0"/>
          </a:p>
        </p:txBody>
      </p:sp>
      <p:sp>
        <p:nvSpPr>
          <p:cNvPr id="12" name="Shape 10"/>
          <p:cNvSpPr/>
          <p:nvPr/>
        </p:nvSpPr>
        <p:spPr>
          <a:xfrm>
            <a:off x="4882896" y="1426464"/>
            <a:ext cx="4023360" cy="566928"/>
          </a:xfrm>
          <a:prstGeom prst="rect">
            <a:avLst/>
          </a:prstGeom>
          <a:solidFill>
            <a:srgbClr val="0A1E30"/>
          </a:solidFill>
          <a:ln w="6350">
            <a:solidFill>
              <a:srgbClr val="1565C0"/>
            </a:solidFill>
            <a:prstDash val="solid"/>
          </a:ln>
        </p:spPr>
      </p:sp>
      <p:sp>
        <p:nvSpPr>
          <p:cNvPr id="13" name="Text 11"/>
          <p:cNvSpPr/>
          <p:nvPr/>
        </p:nvSpPr>
        <p:spPr>
          <a:xfrm>
            <a:off x="4937760" y="1444752"/>
            <a:ext cx="3931920" cy="530352"/>
          </a:xfrm>
          <a:prstGeom prst="rect">
            <a:avLst/>
          </a:prstGeom>
          <a:noFill/>
          <a:ln/>
        </p:spPr>
        <p:txBody>
          <a:bodyPr wrap="square" rtlCol="0" anchor="ctr"/>
          <a:lstStyle/>
          <a:p>
            <a:pPr marL="0" indent="0">
              <a:buNone/>
            </a:pPr>
            <a:r>
              <a:rPr lang="en-US" sz="1000" b="1" dirty="0">
                <a:solidFill>
                  <a:srgbClr val="B2EBF2"/>
                </a:solidFill>
                <a:latin typeface="Calibri" pitchFamily="34" charset="0"/>
                <a:ea typeface="Calibri" pitchFamily="34" charset="-122"/>
                <a:cs typeface="Calibri" pitchFamily="34" charset="-120"/>
              </a:rPr>
              <a:t>R : W = 1 / (mu - lambda)</a:t>
            </a:r>
            <a:endParaRPr lang="en-US" sz="1000" dirty="0"/>
          </a:p>
        </p:txBody>
      </p:sp>
      <p:sp>
        <p:nvSpPr>
          <p:cNvPr id="14" name="Shape 12"/>
          <p:cNvSpPr/>
          <p:nvPr/>
        </p:nvSpPr>
        <p:spPr>
          <a:xfrm>
            <a:off x="438912" y="2176272"/>
            <a:ext cx="4160520" cy="1261872"/>
          </a:xfrm>
          <a:prstGeom prst="rect">
            <a:avLst/>
          </a:prstGeom>
          <a:solidFill>
            <a:srgbClr val="0D2B45"/>
          </a:solidFill>
          <a:ln w="6350">
            <a:solidFill>
              <a:srgbClr val="1E4976"/>
            </a:solidFill>
            <a:prstDash val="solid"/>
          </a:ln>
        </p:spPr>
      </p:sp>
      <p:sp>
        <p:nvSpPr>
          <p:cNvPr id="15" name="Shape 13"/>
          <p:cNvSpPr/>
          <p:nvPr/>
        </p:nvSpPr>
        <p:spPr>
          <a:xfrm>
            <a:off x="438912" y="2176272"/>
            <a:ext cx="4160520" cy="73152"/>
          </a:xfrm>
          <a:prstGeom prst="rect">
            <a:avLst/>
          </a:prstGeom>
          <a:solidFill>
            <a:srgbClr val="E65100"/>
          </a:solidFill>
          <a:ln/>
        </p:spPr>
      </p:sp>
      <p:sp>
        <p:nvSpPr>
          <p:cNvPr id="16" name="Text 14"/>
          <p:cNvSpPr/>
          <p:nvPr/>
        </p:nvSpPr>
        <p:spPr>
          <a:xfrm>
            <a:off x="530352" y="2286000"/>
            <a:ext cx="4005072" cy="475488"/>
          </a:xfrm>
          <a:prstGeom prst="rect">
            <a:avLst/>
          </a:prstGeom>
          <a:noFill/>
          <a:ln/>
        </p:spPr>
        <p:txBody>
          <a:bodyPr wrap="square" rtlCol="0" anchor="ctr"/>
          <a:lstStyle/>
          <a:p>
            <a:pPr marL="0" indent="0">
              <a:buNone/>
            </a:pPr>
            <a:r>
              <a:rPr lang="en-US" sz="1000" dirty="0">
                <a:solidFill>
                  <a:srgbClr val="90CAF9"/>
                </a:solidFill>
                <a:latin typeface="Calibri" pitchFamily="34" charset="0"/>
                <a:ea typeface="Calibri" pitchFamily="34" charset="-122"/>
                <a:cs typeface="Calibri" pitchFamily="34" charset="-120"/>
              </a:rPr>
              <a:t>Q : Quelle est la difference entre Leaky Bucket et Token Bucket ?</a:t>
            </a:r>
            <a:endParaRPr lang="en-US" sz="1000" dirty="0"/>
          </a:p>
        </p:txBody>
      </p:sp>
      <p:sp>
        <p:nvSpPr>
          <p:cNvPr id="17" name="Shape 15"/>
          <p:cNvSpPr/>
          <p:nvPr/>
        </p:nvSpPr>
        <p:spPr>
          <a:xfrm>
            <a:off x="512064" y="2798064"/>
            <a:ext cx="4023360" cy="566928"/>
          </a:xfrm>
          <a:prstGeom prst="rect">
            <a:avLst/>
          </a:prstGeom>
          <a:solidFill>
            <a:srgbClr val="0A1E30"/>
          </a:solidFill>
          <a:ln w="6350">
            <a:solidFill>
              <a:srgbClr val="E65100"/>
            </a:solidFill>
            <a:prstDash val="solid"/>
          </a:ln>
        </p:spPr>
      </p:sp>
      <p:sp>
        <p:nvSpPr>
          <p:cNvPr id="18" name="Text 16"/>
          <p:cNvSpPr/>
          <p:nvPr/>
        </p:nvSpPr>
        <p:spPr>
          <a:xfrm>
            <a:off x="566928" y="2816352"/>
            <a:ext cx="3931920" cy="530352"/>
          </a:xfrm>
          <a:prstGeom prst="rect">
            <a:avLst/>
          </a:prstGeom>
          <a:noFill/>
          <a:ln/>
        </p:spPr>
        <p:txBody>
          <a:bodyPr wrap="square" rtlCol="0" anchor="ctr"/>
          <a:lstStyle/>
          <a:p>
            <a:pPr marL="0" indent="0">
              <a:buNone/>
            </a:pPr>
            <a:r>
              <a:rPr lang="en-US" sz="1000" b="1" dirty="0">
                <a:solidFill>
                  <a:srgbClr val="B2EBF2"/>
                </a:solidFill>
                <a:latin typeface="Calibri" pitchFamily="34" charset="0"/>
                <a:ea typeface="Calibri" pitchFamily="34" charset="-122"/>
                <a:cs typeface="Calibri" pitchFamily="34" charset="-120"/>
              </a:rPr>
              <a:t>R : Leaky Bucket : sortie constante, pas de rafale. Token Bucket : tolere les rafales jusqu a b octets.</a:t>
            </a:r>
            <a:endParaRPr lang="en-US" sz="1000" dirty="0"/>
          </a:p>
        </p:txBody>
      </p:sp>
      <p:sp>
        <p:nvSpPr>
          <p:cNvPr id="19" name="Shape 17"/>
          <p:cNvSpPr/>
          <p:nvPr/>
        </p:nvSpPr>
        <p:spPr>
          <a:xfrm>
            <a:off x="4809744" y="2176272"/>
            <a:ext cx="4160520" cy="1261872"/>
          </a:xfrm>
          <a:prstGeom prst="rect">
            <a:avLst/>
          </a:prstGeom>
          <a:solidFill>
            <a:srgbClr val="0D2B45"/>
          </a:solidFill>
          <a:ln w="6350">
            <a:solidFill>
              <a:srgbClr val="1E4976"/>
            </a:solidFill>
            <a:prstDash val="solid"/>
          </a:ln>
        </p:spPr>
      </p:sp>
      <p:sp>
        <p:nvSpPr>
          <p:cNvPr id="20" name="Shape 18"/>
          <p:cNvSpPr/>
          <p:nvPr/>
        </p:nvSpPr>
        <p:spPr>
          <a:xfrm>
            <a:off x="4809744" y="2176272"/>
            <a:ext cx="4160520" cy="73152"/>
          </a:xfrm>
          <a:prstGeom prst="rect">
            <a:avLst/>
          </a:prstGeom>
          <a:solidFill>
            <a:srgbClr val="C62828"/>
          </a:solidFill>
          <a:ln/>
        </p:spPr>
      </p:sp>
      <p:sp>
        <p:nvSpPr>
          <p:cNvPr id="21" name="Text 19"/>
          <p:cNvSpPr/>
          <p:nvPr/>
        </p:nvSpPr>
        <p:spPr>
          <a:xfrm>
            <a:off x="4901184" y="2286000"/>
            <a:ext cx="4005072" cy="475488"/>
          </a:xfrm>
          <a:prstGeom prst="rect">
            <a:avLst/>
          </a:prstGeom>
          <a:noFill/>
          <a:ln/>
        </p:spPr>
        <p:txBody>
          <a:bodyPr wrap="square" rtlCol="0" anchor="ctr"/>
          <a:lstStyle/>
          <a:p>
            <a:pPr marL="0" indent="0">
              <a:buNone/>
            </a:pPr>
            <a:r>
              <a:rPr lang="en-US" sz="1000" dirty="0">
                <a:solidFill>
                  <a:srgbClr val="90CAF9"/>
                </a:solidFill>
                <a:latin typeface="Calibri" pitchFamily="34" charset="0"/>
                <a:ea typeface="Calibri" pitchFamily="34" charset="-122"/>
                <a:cs typeface="Calibri" pitchFamily="34" charset="-120"/>
              </a:rPr>
              <a:t>Q : Pourquoi IntServ n est pas scalable ?</a:t>
            </a:r>
            <a:endParaRPr lang="en-US" sz="1000" dirty="0"/>
          </a:p>
        </p:txBody>
      </p:sp>
      <p:sp>
        <p:nvSpPr>
          <p:cNvPr id="22" name="Shape 20"/>
          <p:cNvSpPr/>
          <p:nvPr/>
        </p:nvSpPr>
        <p:spPr>
          <a:xfrm>
            <a:off x="4882896" y="2798064"/>
            <a:ext cx="4023360" cy="566928"/>
          </a:xfrm>
          <a:prstGeom prst="rect">
            <a:avLst/>
          </a:prstGeom>
          <a:solidFill>
            <a:srgbClr val="0A1E30"/>
          </a:solidFill>
          <a:ln w="6350">
            <a:solidFill>
              <a:srgbClr val="C62828"/>
            </a:solidFill>
            <a:prstDash val="solid"/>
          </a:ln>
        </p:spPr>
      </p:sp>
      <p:sp>
        <p:nvSpPr>
          <p:cNvPr id="23" name="Text 21"/>
          <p:cNvSpPr/>
          <p:nvPr/>
        </p:nvSpPr>
        <p:spPr>
          <a:xfrm>
            <a:off x="4937760" y="2816352"/>
            <a:ext cx="3931920" cy="530352"/>
          </a:xfrm>
          <a:prstGeom prst="rect">
            <a:avLst/>
          </a:prstGeom>
          <a:noFill/>
          <a:ln/>
        </p:spPr>
        <p:txBody>
          <a:bodyPr wrap="square" rtlCol="0" anchor="ctr"/>
          <a:lstStyle/>
          <a:p>
            <a:pPr marL="0" indent="0">
              <a:buNone/>
            </a:pPr>
            <a:r>
              <a:rPr lang="en-US" sz="1000" b="1" dirty="0">
                <a:solidFill>
                  <a:srgbClr val="B2EBF2"/>
                </a:solidFill>
                <a:latin typeface="Calibri" pitchFamily="34" charset="0"/>
                <a:ea typeface="Calibri" pitchFamily="34" charset="-122"/>
                <a:cs typeface="Calibri" pitchFamily="34" charset="-120"/>
              </a:rPr>
              <a:t>R : Chaque routeur doit maintenir l etat de CHAQUE flux → trop de memoire sur grands reseaux.</a:t>
            </a:r>
            <a:endParaRPr lang="en-US" sz="1000" dirty="0"/>
          </a:p>
        </p:txBody>
      </p:sp>
      <p:sp>
        <p:nvSpPr>
          <p:cNvPr id="24" name="Shape 22"/>
          <p:cNvSpPr/>
          <p:nvPr/>
        </p:nvSpPr>
        <p:spPr>
          <a:xfrm>
            <a:off x="438912" y="3547872"/>
            <a:ext cx="4160520" cy="1261872"/>
          </a:xfrm>
          <a:prstGeom prst="rect">
            <a:avLst/>
          </a:prstGeom>
          <a:solidFill>
            <a:srgbClr val="0D2B45"/>
          </a:solidFill>
          <a:ln w="6350">
            <a:solidFill>
              <a:srgbClr val="1E4976"/>
            </a:solidFill>
            <a:prstDash val="solid"/>
          </a:ln>
        </p:spPr>
      </p:sp>
      <p:sp>
        <p:nvSpPr>
          <p:cNvPr id="25" name="Shape 23"/>
          <p:cNvSpPr/>
          <p:nvPr/>
        </p:nvSpPr>
        <p:spPr>
          <a:xfrm>
            <a:off x="438912" y="3547872"/>
            <a:ext cx="4160520" cy="73152"/>
          </a:xfrm>
          <a:prstGeom prst="rect">
            <a:avLst/>
          </a:prstGeom>
          <a:solidFill>
            <a:srgbClr val="2E7D32"/>
          </a:solidFill>
          <a:ln/>
        </p:spPr>
      </p:sp>
      <p:sp>
        <p:nvSpPr>
          <p:cNvPr id="26" name="Text 24"/>
          <p:cNvSpPr/>
          <p:nvPr/>
        </p:nvSpPr>
        <p:spPr>
          <a:xfrm>
            <a:off x="530352" y="3657600"/>
            <a:ext cx="4005072" cy="475488"/>
          </a:xfrm>
          <a:prstGeom prst="rect">
            <a:avLst/>
          </a:prstGeom>
          <a:noFill/>
          <a:ln/>
        </p:spPr>
        <p:txBody>
          <a:bodyPr wrap="square" rtlCol="0" anchor="ctr"/>
          <a:lstStyle/>
          <a:p>
            <a:pPr marL="0" indent="0">
              <a:buNone/>
            </a:pPr>
            <a:r>
              <a:rPr lang="en-US" sz="1000" dirty="0">
                <a:solidFill>
                  <a:srgbClr val="90CAF9"/>
                </a:solidFill>
                <a:latin typeface="Calibri" pitchFamily="34" charset="0"/>
                <a:ea typeface="Calibri" pitchFamily="34" charset="-122"/>
                <a:cs typeface="Calibri" pitchFamily="34" charset="-120"/>
              </a:rPr>
              <a:t>Q : Quel algorithme combine equite et priorite dans les routeurs Cisco ?</a:t>
            </a:r>
            <a:endParaRPr lang="en-US" sz="1000" dirty="0"/>
          </a:p>
        </p:txBody>
      </p:sp>
      <p:sp>
        <p:nvSpPr>
          <p:cNvPr id="27" name="Shape 25"/>
          <p:cNvSpPr/>
          <p:nvPr/>
        </p:nvSpPr>
        <p:spPr>
          <a:xfrm>
            <a:off x="512064" y="4169664"/>
            <a:ext cx="4023360" cy="566928"/>
          </a:xfrm>
          <a:prstGeom prst="rect">
            <a:avLst/>
          </a:prstGeom>
          <a:solidFill>
            <a:srgbClr val="0A1E30"/>
          </a:solidFill>
          <a:ln w="6350">
            <a:solidFill>
              <a:srgbClr val="2E7D32"/>
            </a:solidFill>
            <a:prstDash val="solid"/>
          </a:ln>
        </p:spPr>
      </p:sp>
      <p:sp>
        <p:nvSpPr>
          <p:cNvPr id="28" name="Text 26"/>
          <p:cNvSpPr/>
          <p:nvPr/>
        </p:nvSpPr>
        <p:spPr>
          <a:xfrm>
            <a:off x="566928" y="4187952"/>
            <a:ext cx="3931920" cy="530352"/>
          </a:xfrm>
          <a:prstGeom prst="rect">
            <a:avLst/>
          </a:prstGeom>
          <a:noFill/>
          <a:ln/>
        </p:spPr>
        <p:txBody>
          <a:bodyPr wrap="square" rtlCol="0" anchor="ctr"/>
          <a:lstStyle/>
          <a:p>
            <a:pPr marL="0" indent="0">
              <a:buNone/>
            </a:pPr>
            <a:r>
              <a:rPr lang="en-US" sz="1000" b="1" dirty="0">
                <a:solidFill>
                  <a:srgbClr val="B2EBF2"/>
                </a:solidFill>
                <a:latin typeface="Calibri" pitchFamily="34" charset="0"/>
                <a:ea typeface="Calibri" pitchFamily="34" charset="-122"/>
                <a:cs typeface="Calibri" pitchFamily="34" charset="-120"/>
              </a:rPr>
              <a:t>R : LLQ = Low Latency Queuing (file EF stricte + files WFQ).</a:t>
            </a:r>
            <a:endParaRPr lang="en-US" sz="1000" dirty="0"/>
          </a:p>
        </p:txBody>
      </p:sp>
      <p:sp>
        <p:nvSpPr>
          <p:cNvPr id="29" name="Shape 27"/>
          <p:cNvSpPr/>
          <p:nvPr/>
        </p:nvSpPr>
        <p:spPr>
          <a:xfrm>
            <a:off x="4809744" y="3547872"/>
            <a:ext cx="4160520" cy="1261872"/>
          </a:xfrm>
          <a:prstGeom prst="rect">
            <a:avLst/>
          </a:prstGeom>
          <a:solidFill>
            <a:srgbClr val="0D2B45"/>
          </a:solidFill>
          <a:ln w="6350">
            <a:solidFill>
              <a:srgbClr val="1E4976"/>
            </a:solidFill>
            <a:prstDash val="solid"/>
          </a:ln>
        </p:spPr>
      </p:sp>
      <p:sp>
        <p:nvSpPr>
          <p:cNvPr id="30" name="Shape 28"/>
          <p:cNvSpPr/>
          <p:nvPr/>
        </p:nvSpPr>
        <p:spPr>
          <a:xfrm>
            <a:off x="4809744" y="3547872"/>
            <a:ext cx="4160520" cy="73152"/>
          </a:xfrm>
          <a:prstGeom prst="rect">
            <a:avLst/>
          </a:prstGeom>
          <a:solidFill>
            <a:srgbClr val="4527A0"/>
          </a:solidFill>
          <a:ln/>
        </p:spPr>
      </p:sp>
      <p:sp>
        <p:nvSpPr>
          <p:cNvPr id="31" name="Text 29"/>
          <p:cNvSpPr/>
          <p:nvPr/>
        </p:nvSpPr>
        <p:spPr>
          <a:xfrm>
            <a:off x="4901184" y="3657600"/>
            <a:ext cx="4005072" cy="475488"/>
          </a:xfrm>
          <a:prstGeom prst="rect">
            <a:avLst/>
          </a:prstGeom>
          <a:noFill/>
          <a:ln/>
        </p:spPr>
        <p:txBody>
          <a:bodyPr wrap="square" rtlCol="0" anchor="ctr"/>
          <a:lstStyle/>
          <a:p>
            <a:pPr marL="0" indent="0">
              <a:buNone/>
            </a:pPr>
            <a:r>
              <a:rPr lang="en-US" sz="1000" dirty="0">
                <a:solidFill>
                  <a:srgbClr val="90CAF9"/>
                </a:solidFill>
                <a:latin typeface="Calibri" pitchFamily="34" charset="0"/>
                <a:ea typeface="Calibri" pitchFamily="34" charset="-122"/>
                <a:cs typeface="Calibri" pitchFamily="34" charset="-120"/>
              </a:rPr>
              <a:t>Q : Qu est-ce que le 'soft state' de RSVP ?</a:t>
            </a:r>
            <a:endParaRPr lang="en-US" sz="1000" dirty="0"/>
          </a:p>
        </p:txBody>
      </p:sp>
      <p:sp>
        <p:nvSpPr>
          <p:cNvPr id="32" name="Shape 30"/>
          <p:cNvSpPr/>
          <p:nvPr/>
        </p:nvSpPr>
        <p:spPr>
          <a:xfrm>
            <a:off x="4882896" y="4169664"/>
            <a:ext cx="4023360" cy="566928"/>
          </a:xfrm>
          <a:prstGeom prst="rect">
            <a:avLst/>
          </a:prstGeom>
          <a:solidFill>
            <a:srgbClr val="0A1E30"/>
          </a:solidFill>
          <a:ln w="6350">
            <a:solidFill>
              <a:srgbClr val="4527A0"/>
            </a:solidFill>
            <a:prstDash val="solid"/>
          </a:ln>
        </p:spPr>
      </p:sp>
      <p:sp>
        <p:nvSpPr>
          <p:cNvPr id="33" name="Text 31"/>
          <p:cNvSpPr/>
          <p:nvPr/>
        </p:nvSpPr>
        <p:spPr>
          <a:xfrm>
            <a:off x="4937760" y="4187952"/>
            <a:ext cx="3931920" cy="530352"/>
          </a:xfrm>
          <a:prstGeom prst="rect">
            <a:avLst/>
          </a:prstGeom>
          <a:noFill/>
          <a:ln/>
        </p:spPr>
        <p:txBody>
          <a:bodyPr wrap="square" rtlCol="0" anchor="ctr"/>
          <a:lstStyle/>
          <a:p>
            <a:pPr marL="0" indent="0">
              <a:buNone/>
            </a:pPr>
            <a:r>
              <a:rPr lang="en-US" sz="1000" b="1" dirty="0">
                <a:solidFill>
                  <a:srgbClr val="B2EBF2"/>
                </a:solidFill>
                <a:latin typeface="Calibri" pitchFamily="34" charset="0"/>
                <a:ea typeface="Calibri" pitchFamily="34" charset="-122"/>
                <a:cs typeface="Calibri" pitchFamily="34" charset="-120"/>
              </a:rPr>
              <a:t>R : Les reservations ont une duree de vie limitee. Elles sont detruites si non renouvelees. Plus robuste qu un hard state.</a:t>
            </a:r>
            <a:endParaRPr lang="en-US" sz="1000" dirty="0"/>
          </a:p>
        </p:txBody>
      </p:sp>
      <p:sp>
        <p:nvSpPr>
          <p:cNvPr id="34" name="Shape 32"/>
          <p:cNvSpPr/>
          <p:nvPr/>
        </p:nvSpPr>
        <p:spPr>
          <a:xfrm>
            <a:off x="0" y="4736592"/>
            <a:ext cx="9144000" cy="411480"/>
          </a:xfrm>
          <a:prstGeom prst="rect">
            <a:avLst/>
          </a:prstGeom>
          <a:solidFill>
            <a:srgbClr val="00796B"/>
          </a:solidFill>
          <a:ln/>
        </p:spPr>
      </p:sp>
      <p:sp>
        <p:nvSpPr>
          <p:cNvPr id="35" name="Text 33"/>
          <p:cNvSpPr/>
          <p:nvPr/>
        </p:nvSpPr>
        <p:spPr>
          <a:xfrm>
            <a:off x="0" y="4736592"/>
            <a:ext cx="9144000" cy="411480"/>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50 diapositives — Reseaux et QoS — Cours complet Niveau Licence  |  Bonne chance a tous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3901</TotalTime>
  <Words>13911</Words>
  <Application>Microsoft Macintosh PowerPoint</Application>
  <PresentationFormat>Affichage à l'écran (16:9)</PresentationFormat>
  <Paragraphs>1190</Paragraphs>
  <Slides>50</Slides>
  <Notes>50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50</vt:i4>
      </vt:variant>
    </vt:vector>
  </HeadingPairs>
  <TitlesOfParts>
    <vt:vector size="54" baseType="lpstr">
      <vt:lpstr>Arial</vt:lpstr>
      <vt:lpstr>Calibri</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Réseaux et QoS — 35 diapositives</dc:title>
  <dc:subject>PptxGenJS Presentation</dc:subject>
  <dc:creator>PptxGenJS</dc:creator>
  <cp:lastModifiedBy>voundai valamdou mahamat</cp:lastModifiedBy>
  <cp:revision>2</cp:revision>
  <dcterms:created xsi:type="dcterms:W3CDTF">2026-03-22T15:35:30Z</dcterms:created>
  <dcterms:modified xsi:type="dcterms:W3CDTF">2026-03-25T08:43:47Z</dcterms:modified>
</cp:coreProperties>
</file>