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918125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68437509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2038113432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293645548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22184125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3046635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68981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224976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2020165666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697673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9090370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079734865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83B095-E1BC-4720-B2B7-3C4B4C5E1B7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277753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1234951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66932020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86CCE7-A1A6-B765-2DB9-1C94C2ABE7A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115789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3474100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451105280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1ACEAD-BDD1-83BD-A229-D98F0EA3299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903857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759597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983544568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899049-98B4-B63D-8BB5-E9CA8134AFB0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34913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2180711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87234808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F5F08B-C222-D53C-3A68-B1891D61352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69387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6777495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211014323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BFCF9E-4AFB-1FDC-F4D3-EFF6AC725F11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804411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1805226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903094698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A284A-4569-0895-0189-6839D4C24E50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764348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56912309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896543567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A9218C-6649-D79A-879D-B1A96C923659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33592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8177898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304953755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C457BF-8B4B-D43E-79BF-EA9B2FC40D23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764769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8854460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99545746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7C21DE-765A-E943-7320-97AB3FD47A59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884353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1455135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086649258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CCA337-5528-6112-0989-A6ED3DD81C4B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029426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0931875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782187058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C6D41E-796C-5E03-E385-63AE78372D46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59997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0369864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551950660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5B8836-A805-4C0B-53A6-43E3C840F9AB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393201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357347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60368173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E8CAF0-2761-2CFB-41F4-B519AE1D7A7B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489936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8139024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517100136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7C5D99-A59E-9520-D356-588ADEEAA921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656813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1214034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2085757096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405AC9-CCE1-753D-7D42-5F7DF1828CEB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80597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5274031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109102946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A51B93-D370-2A24-DC58-61BA005619B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566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2606401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784184448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8C6FE7-9781-8FB1-D31C-2A5BB4384985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776961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0653338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120854284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8429261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5291939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9727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22631018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63377979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7847762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8613034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456883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5828947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78739007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02864615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8987905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89943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944503768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76455858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979219058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0408239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55800329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311768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7699903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681086163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90929009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860018819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57682379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1756877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04597996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73424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786348400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67090862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92506457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523263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788632060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69035411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321927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4843621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47750405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2171358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64659866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92817749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36395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417997851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399420349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970725139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79631331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46366506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83938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74837760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82314497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24972179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5208403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394760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20405884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4004878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97436439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0705769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55691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12545071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39856747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03562141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7359589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607359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53202830" name=""/>
          <p:cNvSpPr/>
          <p:nvPr/>
        </p:nvSpPr>
        <p:spPr bwMode="auto">
          <a:xfrm rot="0" flipH="0" flipV="0">
            <a:off x="-32585" y="6494043"/>
            <a:ext cx="12106775" cy="32585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62411132" name=""/>
          <p:cNvSpPr/>
          <p:nvPr/>
        </p:nvSpPr>
        <p:spPr bwMode="auto">
          <a:xfrm rot="0" flipH="0" flipV="0">
            <a:off x="1181017" y="786052"/>
            <a:ext cx="9299047" cy="123526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380275" name=""/>
          <p:cNvSpPr txBox="1"/>
          <p:nvPr/>
        </p:nvSpPr>
        <p:spPr bwMode="auto">
          <a:xfrm rot="0" flipH="0" flipV="0">
            <a:off x="1345312" y="1027697"/>
            <a:ext cx="935097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1" i="0" u="sng" strike="noStrike" cap="none" spc="0">
                <a:solidFill>
                  <a:schemeClr val="bg1"/>
                </a:solidFill>
                <a:latin typeface="Carlito"/>
                <a:ea typeface="Carlito"/>
                <a:cs typeface="Carlito"/>
              </a:rPr>
              <a:t>Thème :</a:t>
            </a:r>
            <a:r>
              <a:rPr lang="fr-FR" sz="3600" b="1" i="0" u="none" strike="noStrike" cap="none" spc="0">
                <a:solidFill>
                  <a:schemeClr val="bg1"/>
                </a:solidFill>
                <a:latin typeface="Carlito"/>
                <a:ea typeface="Carlito"/>
                <a:cs typeface="Carlito"/>
              </a:rPr>
              <a:t> Sertissage et test d’un câble RJ45</a:t>
            </a:r>
            <a:endParaRPr sz="3600" b="1">
              <a:solidFill>
                <a:schemeClr val="bg1"/>
              </a:solidFill>
              <a:latin typeface="Carlito"/>
              <a:cs typeface="Carlito"/>
            </a:endParaRPr>
          </a:p>
          <a:p>
            <a:pPr>
              <a:defRPr/>
            </a:pPr>
            <a:endParaRPr sz="3600" b="1">
              <a:solidFill>
                <a:schemeClr val="bg1"/>
              </a:solidFill>
              <a:latin typeface="Carlito"/>
              <a:cs typeface="Carlito"/>
            </a:endParaRPr>
          </a:p>
        </p:txBody>
      </p:sp>
      <p:sp>
        <p:nvSpPr>
          <p:cNvPr id="875156345" name=""/>
          <p:cNvSpPr txBox="1"/>
          <p:nvPr/>
        </p:nvSpPr>
        <p:spPr bwMode="auto">
          <a:xfrm rot="0" flipH="0" flipV="0">
            <a:off x="505968" y="2280986"/>
            <a:ext cx="10277693" cy="3932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Introduction</a:t>
            </a:r>
            <a:endParaRPr sz="8000"/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Matériel nécessaire</a:t>
            </a:r>
            <a:endParaRPr sz="8000"/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Normes de câblage</a:t>
            </a:r>
            <a:endParaRPr sz="8000"/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Étapes pratiques de certification (sertissage)</a:t>
            </a:r>
            <a:endParaRPr sz="8000"/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Démonstration avec le testeur RJ45</a:t>
            </a:r>
            <a:endParaRPr sz="8000"/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Applications pratiques</a:t>
            </a:r>
            <a:endParaRPr sz="8000"/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Conclusion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split orient="vert" dir="in"/>
      </p:transition>
    </mc:Choice>
    <mc:Fallback>
      <p:transition spd="fast" advClick="1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162411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162411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1624111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1162411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6241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875156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/>
                                        <p:tgtEl>
                                          <p:spTgt spid="875156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8751563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" dur="1000"/>
                                        <p:tgtEl>
                                          <p:spTgt spid="875156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751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245301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14106093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32114375" name=""/>
          <p:cNvSpPr txBox="1"/>
          <p:nvPr/>
        </p:nvSpPr>
        <p:spPr bwMode="auto">
          <a:xfrm rot="0" flipH="0" flipV="0">
            <a:off x="3411513" y="1127960"/>
            <a:ext cx="6618088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Introduction</a:t>
            </a:r>
            <a:endParaRPr sz="3600"/>
          </a:p>
        </p:txBody>
      </p:sp>
      <p:sp>
        <p:nvSpPr>
          <p:cNvPr id="135096714" name=""/>
          <p:cNvSpPr txBox="1"/>
          <p:nvPr/>
        </p:nvSpPr>
        <p:spPr bwMode="auto">
          <a:xfrm rot="0" flipH="0" flipV="0">
            <a:off x="353486" y="2130591"/>
            <a:ext cx="11081958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Présenter le contexte : importance du câblage réseau dans l’administration et la sécurité des systèmes.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Objectif : montrer comment certir un câble RJ45 et vérifier son bon fonctionnement avec un testeur.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1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2114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632114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9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248888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15311393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7429858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8420" y="601578"/>
            <a:ext cx="11279604" cy="606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742985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4298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7429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153555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31313043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5180828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6388" y="1002631"/>
            <a:ext cx="11136571" cy="5113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8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5180828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18082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518082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132376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034750236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8548700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9605" y="890587"/>
            <a:ext cx="10878552" cy="5526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87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854870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54870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854870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443541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28347967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7141892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04670" y="350920"/>
            <a:ext cx="10928684" cy="6431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18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714189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4189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714189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448041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66345373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17237863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611" y="426118"/>
            <a:ext cx="12041664" cy="64168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233065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90638523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2215519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58828" y="671762"/>
            <a:ext cx="8572500" cy="571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598802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61478562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5358961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985394" y="1290888"/>
            <a:ext cx="6756424" cy="45042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024744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48920370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886067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84250" y="350920"/>
            <a:ext cx="10274157" cy="6366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38086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9692607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4331408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 flipH="0" flipV="0">
            <a:off x="3275896" y="-1528161"/>
            <a:ext cx="5434785" cy="10176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14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4331408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3314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43314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615436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65150144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4675518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8420" y="802105"/>
            <a:ext cx="10753223" cy="57651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55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4675518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67551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67551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123077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13738272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620382013" name=""/>
          <p:cNvSpPr txBox="1"/>
          <p:nvPr/>
        </p:nvSpPr>
        <p:spPr bwMode="auto">
          <a:xfrm rot="0" flipH="0" flipV="0">
            <a:off x="2860065" y="1274123"/>
            <a:ext cx="9352779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Matériel nécessaire</a:t>
            </a:r>
            <a:endParaRPr sz="3600"/>
          </a:p>
        </p:txBody>
      </p:sp>
      <p:sp>
        <p:nvSpPr>
          <p:cNvPr id="1019746281" name=""/>
          <p:cNvSpPr txBox="1"/>
          <p:nvPr/>
        </p:nvSpPr>
        <p:spPr bwMode="auto">
          <a:xfrm rot="0" flipH="0" flipV="0">
            <a:off x="829736" y="2280986"/>
            <a:ext cx="10377956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Paires de câbles Ethernet (Cat5e, Cat6).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Connecteurs RJ45.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Pince à sertir RJ45.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Testeur de câbles RJ45.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Ciseaux ou cutter pour dénuder le câble.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38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203820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0382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0382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74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019746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19746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019746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536516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29178256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92517611" name=""/>
          <p:cNvSpPr txBox="1"/>
          <p:nvPr/>
        </p:nvSpPr>
        <p:spPr bwMode="auto">
          <a:xfrm rot="0" flipH="0" flipV="0">
            <a:off x="2860065" y="1274123"/>
            <a:ext cx="9361059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Normes de câblage</a:t>
            </a:r>
            <a:endParaRPr sz="3600"/>
          </a:p>
        </p:txBody>
      </p:sp>
      <p:sp>
        <p:nvSpPr>
          <p:cNvPr id="1423548096" name=""/>
          <p:cNvSpPr txBox="1"/>
          <p:nvPr/>
        </p:nvSpPr>
        <p:spPr bwMode="auto">
          <a:xfrm rot="0" flipH="0" flipV="0">
            <a:off x="228157" y="2406315"/>
            <a:ext cx="11922670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Expliquer les deux standards : </a:t>
            </a: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T568A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et </a:t>
            </a: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T568B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Montrer la différence des couleurs des fils.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Insister sur la cohérence : utiliser le même standard aux deux extrémités pour un câble droit, ou A d’un côté et B de l’autre pour un câble croisé.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51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925176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92517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92517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4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4235480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23548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423548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026359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7292803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580186257" name=""/>
          <p:cNvSpPr txBox="1"/>
          <p:nvPr/>
        </p:nvSpPr>
        <p:spPr bwMode="auto">
          <a:xfrm rot="0" flipH="0" flipV="0">
            <a:off x="1105460" y="1274123"/>
            <a:ext cx="9361779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Étapes pratiques de certification (sertissage)</a:t>
            </a:r>
            <a:endParaRPr/>
          </a:p>
        </p:txBody>
      </p:sp>
      <p:sp>
        <p:nvSpPr>
          <p:cNvPr id="453115833" name=""/>
          <p:cNvSpPr txBox="1"/>
          <p:nvPr/>
        </p:nvSpPr>
        <p:spPr bwMode="auto">
          <a:xfrm rot="0" flipH="0" flipV="0">
            <a:off x="42611" y="2331118"/>
            <a:ext cx="11933110" cy="5151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Préparer le câble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Couper le câble à la longueur souhaitée et dénuder environ 2 cm de gaine extérieure.</a:t>
            </a:r>
            <a:endParaRPr sz="8000"/>
          </a:p>
          <a:p>
            <a:pPr marL="482137" indent="-482137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Démêler et ordonner les fils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Séparer les 8 fils torsadés et les disposer selon le standard choisi (T568A ou T568B).</a:t>
            </a:r>
            <a:endParaRPr sz="8000"/>
          </a:p>
          <a:p>
            <a:pPr marL="482137" indent="-482137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Couper et insérer les fils</a:t>
            </a: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Couper les fils bien droits puis les insérer dans le connecteur RJ45 en respectant l’ordre des couleurs.</a:t>
            </a:r>
            <a:endParaRPr sz="8000"/>
          </a:p>
          <a:p>
            <a:pPr>
              <a:defRPr/>
            </a:pP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18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80186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80186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80186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11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4531158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53115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53115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492128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73779642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90319359" name=""/>
          <p:cNvSpPr txBox="1"/>
          <p:nvPr/>
        </p:nvSpPr>
        <p:spPr bwMode="auto">
          <a:xfrm rot="0" flipH="0" flipV="0">
            <a:off x="1105460" y="1274123"/>
            <a:ext cx="9362499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Démonstration avec le testeur RJ45</a:t>
            </a:r>
            <a:endParaRPr/>
          </a:p>
        </p:txBody>
      </p:sp>
      <p:sp>
        <p:nvSpPr>
          <p:cNvPr id="1296613858" name=""/>
          <p:cNvSpPr txBox="1"/>
          <p:nvPr/>
        </p:nvSpPr>
        <p:spPr bwMode="auto">
          <a:xfrm rot="0" flipH="0" flipV="0">
            <a:off x="528947" y="2230855"/>
            <a:ext cx="10680906" cy="3932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Expliquer le principe : le testeur envoie un signal électrique sur chaque paire et vérifie la continuité.</a:t>
            </a:r>
            <a:endParaRPr sz="8000"/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Résultats attendus :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✅ Toutes les LED s’allument dans l’ordre → câblage correct.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LED manquante ou inversée → erreur de câblage (mauvais ordre ou faux contact).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31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90319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90319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90319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61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2966138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96613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296613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837974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34006990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920152706" name=""/>
          <p:cNvSpPr txBox="1"/>
          <p:nvPr/>
        </p:nvSpPr>
        <p:spPr bwMode="auto">
          <a:xfrm rot="0" flipH="0" flipV="0">
            <a:off x="1105460" y="1274123"/>
            <a:ext cx="9363219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Applications pratiques</a:t>
            </a:r>
            <a:endParaRPr/>
          </a:p>
        </p:txBody>
      </p:sp>
      <p:sp>
        <p:nvSpPr>
          <p:cNvPr id="1205989832" name=""/>
          <p:cNvSpPr txBox="1"/>
          <p:nvPr/>
        </p:nvSpPr>
        <p:spPr bwMode="auto">
          <a:xfrm rot="0" flipH="0" flipV="0">
            <a:off x="203091" y="2331118"/>
            <a:ext cx="11481211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Utilisation dans les salles de classe, laboratoires et entreprises.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Importance pour la sécurité : un câble mal serti peut provoquer des pertes de connexion ou des failles réseau.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15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20152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2015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2015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98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2059898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05989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205989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457742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58626216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657183656" name=""/>
          <p:cNvSpPr txBox="1"/>
          <p:nvPr/>
        </p:nvSpPr>
        <p:spPr bwMode="auto">
          <a:xfrm rot="0" flipH="0" flipV="0">
            <a:off x="3310889" y="1091063"/>
            <a:ext cx="3910983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/>
          </a:p>
        </p:txBody>
      </p:sp>
      <p:sp>
        <p:nvSpPr>
          <p:cNvPr id="624806727" name=""/>
          <p:cNvSpPr txBox="1"/>
          <p:nvPr/>
        </p:nvSpPr>
        <p:spPr bwMode="auto">
          <a:xfrm rot="0" flipH="0" flipV="0">
            <a:off x="328420" y="2280986"/>
            <a:ext cx="9751672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Résumer : un bon câblage = fiabilité + sécurité.</a:t>
            </a:r>
            <a:endParaRPr sz="8000"/>
          </a:p>
          <a:p>
            <a:pPr marL="482137" indent="-482137">
              <a:buFont typeface="Wingdings"/>
              <a:buChar char="Ø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Insister sur la rigueur et la vérification systématique avec le testeur.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18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571836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7183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7183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624806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4806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624806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094256" name=""/>
          <p:cNvSpPr/>
          <p:nvPr/>
        </p:nvSpPr>
        <p:spPr bwMode="auto">
          <a:xfrm rot="0" flipH="0" flipV="0">
            <a:off x="42611" y="25065"/>
            <a:ext cx="12106776" cy="32585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49762030" name=""/>
          <p:cNvSpPr txBox="1"/>
          <p:nvPr/>
        </p:nvSpPr>
        <p:spPr bwMode="auto">
          <a:xfrm rot="0" flipH="0" flipV="0">
            <a:off x="2484078" y="1228223"/>
            <a:ext cx="40355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00694763" name=""/>
          <p:cNvSpPr/>
          <p:nvPr/>
        </p:nvSpPr>
        <p:spPr bwMode="auto">
          <a:xfrm rot="0" flipH="0" flipV="0">
            <a:off x="42611" y="6519109"/>
            <a:ext cx="12106775" cy="32585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fr-FR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060605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611" y="350920"/>
            <a:ext cx="12106775" cy="61681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wheel spokes="1"/>
      </p:transition>
    </mc:Choice>
    <mc:Fallback>
      <p:transition spd="fast" advClick="1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06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06060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06060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060605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90606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2026-04-24T17:32:30Z</dcterms:modified>
</cp:coreProperties>
</file>